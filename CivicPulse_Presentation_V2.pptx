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4" r:id="rId6"/>
    <p:sldId id="265" r:id="rId7"/>
    <p:sldId id="258" r:id="rId8"/>
    <p:sldId id="259" r:id="rId9"/>
    <p:sldId id="266" r:id="rId10"/>
    <p:sldId id="267" r:id="rId11"/>
    <p:sldId id="260" r:id="rId12"/>
    <p:sldId id="261" r:id="rId13"/>
    <p:sldId id="262" r:id="rId14"/>
    <p:sldId id="268" r:id="rId15"/>
    <p:sldId id="270" r:id="rId16"/>
    <p:sldId id="263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E3A5F"/>
          </a:solidFill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1E3A5F"/>
          </a:solidFill>
        </p:spPr>
      </p:sp>
      <p:sp>
        <p:nvSpPr>
          <p:cNvPr id="4" name="Shape 2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CIVIC GOVERNANCE • DIGITAL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CivicPulse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8686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7D3E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Smart Governance Management Platform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7589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3A3B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 unified system connecting citizens, departments, and administrators through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3A3B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intelligent complaint management and responsive service delivery.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5806440"/>
            <a:ext cx="91440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9436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IN" altLang="en-US" sz="1200" i="1" dirty="0">
                <a:solidFill>
                  <a:srgbClr val="C7D3E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 </a:t>
            </a:r>
            <a:endParaRPr lang="en-IN" altLang="en-US" sz="1200" i="1" dirty="0">
              <a:solidFill>
                <a:srgbClr val="C7D3E0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Platform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CivicPulse brings together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12648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A6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CivicPulse is an end-to-end smart governance platform that streamlines how citizens raise civic issues and how administrations respond to them. It combines a citizen-facing portal, AI-assisted complaint intelligence, automated escalation, and department-level accountability into one connected system — built for scale on a modern Java enterprise stack.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6" name="Text 4"/>
          <p:cNvSpPr/>
          <p:nvPr/>
        </p:nvSpPr>
        <p:spPr>
          <a:xfrm>
            <a:off x="54864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Core Modules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9" name="Text 7"/>
          <p:cNvSpPr/>
          <p:nvPr/>
        </p:nvSpPr>
        <p:spPr>
          <a:xfrm>
            <a:off x="210312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4884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Smart / AI Capabilities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2" name="Text 10"/>
          <p:cNvSpPr/>
          <p:nvPr/>
        </p:nvSpPr>
        <p:spPr>
          <a:xfrm>
            <a:off x="365760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24/7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0332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Citizen Access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1208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5" name="Text 13"/>
          <p:cNvSpPr/>
          <p:nvPr/>
        </p:nvSpPr>
        <p:spPr>
          <a:xfrm>
            <a:off x="521208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100%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5780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Java Enterprise Stack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40880" y="1554480"/>
            <a:ext cx="4572000" cy="4572000"/>
          </a:xfrm>
          <a:prstGeom prst="roundRect">
            <a:avLst>
              <a:gd name="adj" fmla="val 2000"/>
            </a:avLst>
          </a:prstGeom>
          <a:solidFill>
            <a:srgbClr val="16233F"/>
          </a:solidFill>
        </p:spPr>
      </p:sp>
      <p:sp>
        <p:nvSpPr>
          <p:cNvPr id="18" name="Text 16"/>
          <p:cNvSpPr/>
          <p:nvPr/>
        </p:nvSpPr>
        <p:spPr>
          <a:xfrm>
            <a:off x="7360920" y="178308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On this deck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60920" y="234086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0" name="Text 18"/>
          <p:cNvSpPr/>
          <p:nvPr/>
        </p:nvSpPr>
        <p:spPr>
          <a:xfrm>
            <a:off x="7635240" y="221284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Core platform modules (8)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60920" y="284378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2" name="Text 20"/>
          <p:cNvSpPr/>
          <p:nvPr/>
        </p:nvSpPr>
        <p:spPr>
          <a:xfrm>
            <a:off x="7635240" y="271576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Unique &amp; future-ready features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60920" y="334670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4" name="Text 22"/>
          <p:cNvSpPr/>
          <p:nvPr/>
        </p:nvSpPr>
        <p:spPr>
          <a:xfrm>
            <a:off x="7635240" y="321868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Java technology stack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60920" y="3931920"/>
            <a:ext cx="3931920" cy="0"/>
          </a:xfrm>
          <a:prstGeom prst="line">
            <a:avLst/>
          </a:prstGeom>
          <a:noFill/>
          <a:ln w="12700">
            <a:solidFill>
              <a:srgbClr val="3145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4160520"/>
            <a:ext cx="39319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BD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Designed for municipalities, urban local bodies, and public-service departments seeking a transparent, responsive citizen-engagement system.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Why CivicPulse is needed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12648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A6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Local governance bodies handle a large volume of citizen issues every day — broken roads, water leakage, garbage, streetlight failures — but most of this is still tracked manually through phone calls and paper registers, leaving citizens with no visibility and departments with no central system.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6" name="Text 4"/>
          <p:cNvSpPr/>
          <p:nvPr/>
        </p:nvSpPr>
        <p:spPr>
          <a:xfrm>
            <a:off x="54864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 Central Reporting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9" name="Text 7"/>
          <p:cNvSpPr/>
          <p:nvPr/>
        </p:nvSpPr>
        <p:spPr>
          <a:xfrm>
            <a:off x="210312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4884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Zero Visibility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2" name="Text 10"/>
          <p:cNvSpPr/>
          <p:nvPr/>
        </p:nvSpPr>
        <p:spPr>
          <a:xfrm>
            <a:off x="365760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0332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Slow Assignment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1208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5" name="Text 13"/>
          <p:cNvSpPr/>
          <p:nvPr/>
        </p:nvSpPr>
        <p:spPr>
          <a:xfrm>
            <a:off x="521208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5780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 Data Insight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40880" y="1554480"/>
            <a:ext cx="4572000" cy="4572000"/>
          </a:xfrm>
          <a:prstGeom prst="roundRect">
            <a:avLst>
              <a:gd name="adj" fmla="val 2000"/>
            </a:avLst>
          </a:prstGeom>
          <a:solidFill>
            <a:srgbClr val="16233F"/>
          </a:solidFill>
        </p:spPr>
      </p:sp>
      <p:sp>
        <p:nvSpPr>
          <p:cNvPr id="18" name="Text 16"/>
          <p:cNvSpPr/>
          <p:nvPr/>
        </p:nvSpPr>
        <p:spPr>
          <a:xfrm>
            <a:off x="7360920" y="178308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core gaps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60920" y="234086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0" name="Text 18"/>
          <p:cNvSpPr/>
          <p:nvPr/>
        </p:nvSpPr>
        <p:spPr>
          <a:xfrm>
            <a:off x="7635240" y="221284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 single platform for complaints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60920" y="284378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2" name="Text 20"/>
          <p:cNvSpPr/>
          <p:nvPr/>
        </p:nvSpPr>
        <p:spPr>
          <a:xfrm>
            <a:off x="7635240" y="271576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 real-time status visibility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60920" y="334670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4" name="Text 22"/>
          <p:cNvSpPr/>
          <p:nvPr/>
        </p:nvSpPr>
        <p:spPr>
          <a:xfrm>
            <a:off x="7635240" y="321868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 department-level accountability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60920" y="3931920"/>
            <a:ext cx="3931920" cy="0"/>
          </a:xfrm>
          <a:prstGeom prst="line">
            <a:avLst/>
          </a:prstGeom>
          <a:noFill/>
          <a:ln w="12700">
            <a:solidFill>
              <a:srgbClr val="3145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4160520"/>
            <a:ext cx="39319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BD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These are exactly the gaps CivicPulse is designed to close for municipalities and public-service departments.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CivicPulse is designed to achieve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12648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A6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CivicPulse aims to give every stakeholder — citizen, official, and administrator — a faster, more transparent way to raise, manage, and resolve civic issues, replacing manual paperwork with a connected digital workflow.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6" name="Text 4"/>
          <p:cNvSpPr/>
          <p:nvPr/>
        </p:nvSpPr>
        <p:spPr>
          <a:xfrm>
            <a:off x="54864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Simplify Reporting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9" name="Text 7"/>
          <p:cNvSpPr/>
          <p:nvPr/>
        </p:nvSpPr>
        <p:spPr>
          <a:xfrm>
            <a:off x="210312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4884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Enable Tracking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2" name="Text 10"/>
          <p:cNvSpPr/>
          <p:nvPr/>
        </p:nvSpPr>
        <p:spPr>
          <a:xfrm>
            <a:off x="365760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0332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Speed Up Resolution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1208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5" name="Text 13"/>
          <p:cNvSpPr/>
          <p:nvPr/>
        </p:nvSpPr>
        <p:spPr>
          <a:xfrm>
            <a:off x="521208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5780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Improve Transparency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40880" y="1554480"/>
            <a:ext cx="4572000" cy="4572000"/>
          </a:xfrm>
          <a:prstGeom prst="roundRect">
            <a:avLst>
              <a:gd name="adj" fmla="val 2000"/>
            </a:avLst>
          </a:prstGeom>
          <a:solidFill>
            <a:srgbClr val="16233F"/>
          </a:solidFill>
        </p:spPr>
      </p:sp>
      <p:sp>
        <p:nvSpPr>
          <p:cNvPr id="18" name="Text 16"/>
          <p:cNvSpPr/>
          <p:nvPr/>
        </p:nvSpPr>
        <p:spPr>
          <a:xfrm>
            <a:off x="7360920" y="178308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Success looks like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60920" y="234086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0" name="Text 18"/>
          <p:cNvSpPr/>
          <p:nvPr/>
        </p:nvSpPr>
        <p:spPr>
          <a:xfrm>
            <a:off x="7635240" y="221284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Citizens track complaints end-to-end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60920" y="284378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2" name="Text 20"/>
          <p:cNvSpPr/>
          <p:nvPr/>
        </p:nvSpPr>
        <p:spPr>
          <a:xfrm>
            <a:off x="7635240" y="271576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Officials resolve issues faster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60920" y="334670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4" name="Text 22"/>
          <p:cNvSpPr/>
          <p:nvPr/>
        </p:nvSpPr>
        <p:spPr>
          <a:xfrm>
            <a:off x="7635240" y="321868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Admins see system-wide analytics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60920" y="3931920"/>
            <a:ext cx="3931920" cy="0"/>
          </a:xfrm>
          <a:prstGeom prst="line">
            <a:avLst/>
          </a:prstGeom>
          <a:noFill/>
          <a:ln w="12700">
            <a:solidFill>
              <a:srgbClr val="3145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4160520"/>
            <a:ext cx="39319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BD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Built for municipalities and public-service departments seeking a transparent, responsive citizen-engagement system.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Core Platform Modules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601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Citizen-facing and intelligence-driven foundations — part 1 of 2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</p:spPr>
      </p:sp>
      <p:pic>
        <p:nvPicPr>
          <p:cNvPr id="6" name="Image 0" descr="/home/claude/civicpulse/icon_citize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1109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764792"/>
            <a:ext cx="4152748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Citizen Portal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838548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Self-service web portal where citizens register, raise complaints, track resolution status, and access civic services from any device.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55868" y="150876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0188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</p:spPr>
      </p:sp>
      <p:pic>
        <p:nvPicPr>
          <p:cNvPr id="11" name="Image 1" descr="/home/claude/civicpulse/icon_compla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204" y="191109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43420" y="1764792"/>
            <a:ext cx="4152748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Complaint Management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30188" y="2468880"/>
            <a:ext cx="4838548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Centralized system to log, categorize, assign, and monitor every citizen complaint through a structured, auditable lifecycle.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434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</p:spPr>
      </p:sp>
      <p:pic>
        <p:nvPicPr>
          <p:cNvPr id="16" name="Image 2" descr="/home/claude/civicpulse/icon_smart_det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56285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36192" y="4416552"/>
            <a:ext cx="4152748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Smart Complaint Detection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5120640"/>
            <a:ext cx="4838548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AI/ML engine that auto-classifies incoming complaints, detects duplicates and spam, and flags critical issues for immediate attention.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55868" y="416052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0188" y="4434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</p:spPr>
      </p:sp>
      <p:pic>
        <p:nvPicPr>
          <p:cNvPr id="21" name="Image 3" descr="/home/claude/civicpulse/icon_esca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204" y="456285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43420" y="4416552"/>
            <a:ext cx="4152748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Escalation Engine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30188" y="5120640"/>
            <a:ext cx="4838548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Rule-based engine that automatically escalates unresolved or overdue complaints up the chain of authority based on SLA timers.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Core Platform Modules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601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Administration, engagement, and accountability — part 2 of 2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</p:spPr>
      </p:sp>
      <p:pic>
        <p:nvPicPr>
          <p:cNvPr id="6" name="Image 0" descr="/home/claude/civicpulse/icon_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1109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764792"/>
            <a:ext cx="4152748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Admin Dashboard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838548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Real-time analytics console for officials to monitor complaint volumes, resolution rates, SLA breaches, and department performance.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55868" y="150876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0188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</p:spPr>
      </p:sp>
      <p:pic>
        <p:nvPicPr>
          <p:cNvPr id="11" name="Image 1" descr="/home/claude/civicpulse/icon_not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204" y="191109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43420" y="1764792"/>
            <a:ext cx="4152748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Notification &amp; Feedback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30188" y="2468880"/>
            <a:ext cx="4838548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Automated SMS, email, and push alerts on status changes, paired with citizen feedback and satisfaction ratings on closure.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434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</p:spPr>
      </p:sp>
      <p:pic>
        <p:nvPicPr>
          <p:cNvPr id="16" name="Image 2" descr="/home/claude/civicpulse/icon_prio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56285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36192" y="4416552"/>
            <a:ext cx="4152748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Smart Priority Management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5120640"/>
            <a:ext cx="4838548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Dynamically ranks open complaints by severity, public impact, and urgency to optimize the order in which teams respond.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55868" y="416052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0188" y="4434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</p:spPr>
      </p:sp>
      <p:pic>
        <p:nvPicPr>
          <p:cNvPr id="21" name="Image 3" descr="/home/claude/civicpulse/icon_depart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204" y="456285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43420" y="4416552"/>
            <a:ext cx="4152748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Department-wise Management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30188" y="5120640"/>
            <a:ext cx="4838548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Routes each complaint to the correct department or jurisdiction, keeping ownership, workload, and accountability clearly defined.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Complaint Lifecycle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From citizen report to resolution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12648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A6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Every complaint moves through a structured, auditable journey — from the moment a citizen raises an issue to the moment it is resolved and rated — keeping ownership and timelines clear at every step.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6" name="Text 4"/>
          <p:cNvSpPr/>
          <p:nvPr/>
        </p:nvSpPr>
        <p:spPr>
          <a:xfrm>
            <a:off x="54864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Citizen Registers Issue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9" name="Text 7"/>
          <p:cNvSpPr/>
          <p:nvPr/>
        </p:nvSpPr>
        <p:spPr>
          <a:xfrm>
            <a:off x="210312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4884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Auto-Routed to Department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2" name="Text 10"/>
          <p:cNvSpPr/>
          <p:nvPr/>
        </p:nvSpPr>
        <p:spPr>
          <a:xfrm>
            <a:off x="365760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0332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Official Resolves &amp; Updates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1208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5" name="Text 13"/>
          <p:cNvSpPr/>
          <p:nvPr/>
        </p:nvSpPr>
        <p:spPr>
          <a:xfrm>
            <a:off x="521208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5780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Citizen Tracks &amp; Rates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40880" y="1554480"/>
            <a:ext cx="4572000" cy="4572000"/>
          </a:xfrm>
          <a:prstGeom prst="roundRect">
            <a:avLst>
              <a:gd name="adj" fmla="val 2000"/>
            </a:avLst>
          </a:prstGeom>
          <a:solidFill>
            <a:srgbClr val="16233F"/>
          </a:solidFill>
        </p:spPr>
      </p:sp>
      <p:sp>
        <p:nvSpPr>
          <p:cNvPr id="18" name="Text 16"/>
          <p:cNvSpPr/>
          <p:nvPr/>
        </p:nvSpPr>
        <p:spPr>
          <a:xfrm>
            <a:off x="7360920" y="178308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Built-in accountability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60920" y="234086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0" name="Text 18"/>
          <p:cNvSpPr/>
          <p:nvPr/>
        </p:nvSpPr>
        <p:spPr>
          <a:xfrm>
            <a:off x="7635240" y="221284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SLA timers trigger escalation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60920" y="284378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2" name="Text 20"/>
          <p:cNvSpPr/>
          <p:nvPr/>
        </p:nvSpPr>
        <p:spPr>
          <a:xfrm>
            <a:off x="7635240" y="271576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Status updates in real time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60920" y="334670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4" name="Text 22"/>
          <p:cNvSpPr/>
          <p:nvPr/>
        </p:nvSpPr>
        <p:spPr>
          <a:xfrm>
            <a:off x="7635240" y="321868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Feedback closes the loop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60920" y="3931920"/>
            <a:ext cx="3931920" cy="0"/>
          </a:xfrm>
          <a:prstGeom prst="line">
            <a:avLst/>
          </a:prstGeom>
          <a:noFill/>
          <a:ln w="12700">
            <a:solidFill>
              <a:srgbClr val="3145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4160520"/>
            <a:ext cx="39319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BD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Designed so no complaint is ever lost or left unowned between departments.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Home Page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Live issue counts, right on the home page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12648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A6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 dashboard on the home page shows how many issues have been registered, resolved, and are still pending or in progress — giving instant visibility into platform activity for citizens and officials alike, no login required.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6" name="Text 4"/>
          <p:cNvSpPr/>
          <p:nvPr/>
        </p:nvSpPr>
        <p:spPr>
          <a:xfrm>
            <a:off x="54864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120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Registered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9" name="Text 7"/>
          <p:cNvSpPr/>
          <p:nvPr/>
        </p:nvSpPr>
        <p:spPr>
          <a:xfrm>
            <a:off x="210312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80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4884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Resolved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2" name="Text 10"/>
          <p:cNvSpPr/>
          <p:nvPr/>
        </p:nvSpPr>
        <p:spPr>
          <a:xfrm>
            <a:off x="365760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0332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Pending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1208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5" name="Text 13"/>
          <p:cNvSpPr/>
          <p:nvPr/>
        </p:nvSpPr>
        <p:spPr>
          <a:xfrm>
            <a:off x="521208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5780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40880" y="1554480"/>
            <a:ext cx="4572000" cy="4572000"/>
          </a:xfrm>
          <a:prstGeom prst="roundRect">
            <a:avLst>
              <a:gd name="adj" fmla="val 2000"/>
            </a:avLst>
          </a:prstGeom>
          <a:solidFill>
            <a:srgbClr val="16233F"/>
          </a:solidFill>
        </p:spPr>
      </p:sp>
      <p:sp>
        <p:nvSpPr>
          <p:cNvPr id="18" name="Text 16"/>
          <p:cNvSpPr/>
          <p:nvPr/>
        </p:nvSpPr>
        <p:spPr>
          <a:xfrm>
            <a:off x="7360920" y="178308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60920" y="234086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0" name="Text 18"/>
          <p:cNvSpPr/>
          <p:nvPr/>
        </p:nvSpPr>
        <p:spPr>
          <a:xfrm>
            <a:off x="7635240" y="221284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One API aggregates status counts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60920" y="284378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2" name="Text 20"/>
          <p:cNvSpPr/>
          <p:nvPr/>
        </p:nvSpPr>
        <p:spPr>
          <a:xfrm>
            <a:off x="7635240" y="271576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React renders live stat cards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60920" y="334670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4" name="Text 22"/>
          <p:cNvSpPr/>
          <p:nvPr/>
        </p:nvSpPr>
        <p:spPr>
          <a:xfrm>
            <a:off x="7635240" y="321868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Updates automatically as issues change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60920" y="3931920"/>
            <a:ext cx="3931920" cy="0"/>
          </a:xfrm>
          <a:prstGeom prst="line">
            <a:avLst/>
          </a:prstGeom>
          <a:noFill/>
          <a:ln w="12700">
            <a:solidFill>
              <a:srgbClr val="3145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4160520"/>
            <a:ext cx="39319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BD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 simple, high-impact addition that makes the platform's activity visible at a glance — my contribution to the team's feature set.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Unique &amp; Future-Ready Features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601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Additions that push CivicPulse beyond a standard complaint system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2994A"/>
          </a:solidFill>
        </p:spPr>
      </p:sp>
      <p:pic>
        <p:nvPicPr>
          <p:cNvPr id="6" name="Image 0" descr="/home/claude/civicpulse/icon_chatbo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1109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764792"/>
            <a:ext cx="4152748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AI Chatbot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838548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Conversational virtual assistant available 24/7 to guide citizens, answer FAQs, and file complaints through natural language.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55868" y="150876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0188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2994A"/>
          </a:solidFill>
        </p:spPr>
      </p:sp>
      <p:pic>
        <p:nvPicPr>
          <p:cNvPr id="11" name="Image 1" descr="/home/claude/civicpulse/icon_langu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204" y="191109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43420" y="1764792"/>
            <a:ext cx="4152748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Multi-language Support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30188" y="2468880"/>
            <a:ext cx="4838548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Localized interfaces in regional languages so every citizen, regardless of language, can access services with ease.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434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2994A"/>
          </a:solidFill>
        </p:spPr>
      </p:sp>
      <p:pic>
        <p:nvPicPr>
          <p:cNvPr id="16" name="Image 2" descr="/home/claude/civicpulse/icon_vo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56285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36192" y="4416552"/>
            <a:ext cx="4152748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Voice-Enabled Complaint Filing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5120640"/>
            <a:ext cx="4838548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Voice-to-text complaint registration that improves accessibility for citizens with low literacy or limited typing ability.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55868" y="416052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0188" y="4434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2994A"/>
          </a:solidFill>
        </p:spPr>
      </p:sp>
      <p:pic>
        <p:nvPicPr>
          <p:cNvPr id="21" name="Image 3" descr="/home/claude/civicpulse/icon_analyt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204" y="456285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43420" y="4416552"/>
            <a:ext cx="4152748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Predictive Analytics &amp; Insights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30188" y="5120640"/>
            <a:ext cx="4838548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Forecasts complaint trends and geographic hotspots, enabling departments to act proactively rather than reactively.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Java Technology Stack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601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BD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Layered enterprise architecture powering CivicPulse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1E3A5F"/>
          </a:solidFill>
        </p:spPr>
      </p:sp>
      <p:sp>
        <p:nvSpPr>
          <p:cNvPr id="5" name="Shape 3"/>
          <p:cNvSpPr/>
          <p:nvPr/>
        </p:nvSpPr>
        <p:spPr>
          <a:xfrm>
            <a:off x="548640" y="1508760"/>
            <a:ext cx="2286000" cy="896112"/>
          </a:xfrm>
          <a:prstGeom prst="roundRect">
            <a:avLst>
              <a:gd name="adj" fmla="val 8163"/>
            </a:avLst>
          </a:prstGeom>
          <a:solidFill>
            <a:srgbClr val="00A896"/>
          </a:solidFill>
        </p:spPr>
      </p:sp>
      <p:sp>
        <p:nvSpPr>
          <p:cNvPr id="6" name="Text 4"/>
          <p:cNvSpPr/>
          <p:nvPr/>
        </p:nvSpPr>
        <p:spPr>
          <a:xfrm>
            <a:off x="731520" y="1508760"/>
            <a:ext cx="1920240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Presentation Layer</a:t>
            </a:r>
            <a:endParaRPr lang="en-US" sz="1250" dirty="0"/>
          </a:p>
        </p:txBody>
      </p:sp>
      <p:pic>
        <p:nvPicPr>
          <p:cNvPr id="7" name="Image 0" descr="/home/claude/civicpulse/icon_reac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180136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65576" y="1508760"/>
            <a:ext cx="3718408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React.js / Angular</a:t>
            </a:r>
            <a:endParaRPr lang="en-US" sz="1150" dirty="0"/>
          </a:p>
        </p:txBody>
      </p:sp>
      <p:pic>
        <p:nvPicPr>
          <p:cNvPr id="9" name="Image 1" descr="/home/claude/civicpulse/icon_langu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848" y="180136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41184" y="1508760"/>
            <a:ext cx="3718408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Multi-language UI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2478024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1E3A5F"/>
          </a:solidFill>
        </p:spPr>
      </p:sp>
      <p:sp>
        <p:nvSpPr>
          <p:cNvPr id="12" name="Shape 8"/>
          <p:cNvSpPr/>
          <p:nvPr/>
        </p:nvSpPr>
        <p:spPr>
          <a:xfrm>
            <a:off x="548640" y="2478024"/>
            <a:ext cx="2286000" cy="896112"/>
          </a:xfrm>
          <a:prstGeom prst="roundRect">
            <a:avLst>
              <a:gd name="adj" fmla="val 8163"/>
            </a:avLst>
          </a:prstGeom>
          <a:solidFill>
            <a:srgbClr val="00A896"/>
          </a:solidFill>
        </p:spPr>
      </p:sp>
      <p:sp>
        <p:nvSpPr>
          <p:cNvPr id="13" name="Text 9"/>
          <p:cNvSpPr/>
          <p:nvPr/>
        </p:nvSpPr>
        <p:spPr>
          <a:xfrm>
            <a:off x="731520" y="2478024"/>
            <a:ext cx="1920240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Application Layer</a:t>
            </a:r>
            <a:endParaRPr lang="en-US" sz="1250" dirty="0"/>
          </a:p>
        </p:txBody>
      </p:sp>
      <p:pic>
        <p:nvPicPr>
          <p:cNvPr id="14" name="Image 2" descr="/home/claude/civicpulse/icon_jav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277063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65576" y="2478024"/>
            <a:ext cx="3718408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Spring Boot / Spring MVC</a:t>
            </a:r>
            <a:endParaRPr lang="en-US" sz="1150" dirty="0"/>
          </a:p>
        </p:txBody>
      </p:sp>
      <p:pic>
        <p:nvPicPr>
          <p:cNvPr id="16" name="Image 3" descr="/home/claude/civicpulse/icon_integ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848" y="2770632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641184" y="2478024"/>
            <a:ext cx="3718408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REST APIs + Swagger/OpenAPI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48640" y="3447288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1E3A5F"/>
          </a:solidFill>
        </p:spPr>
      </p:sp>
      <p:sp>
        <p:nvSpPr>
          <p:cNvPr id="19" name="Shape 13"/>
          <p:cNvSpPr/>
          <p:nvPr/>
        </p:nvSpPr>
        <p:spPr>
          <a:xfrm>
            <a:off x="548640" y="3447288"/>
            <a:ext cx="2286000" cy="896112"/>
          </a:xfrm>
          <a:prstGeom prst="roundRect">
            <a:avLst>
              <a:gd name="adj" fmla="val 8163"/>
            </a:avLst>
          </a:prstGeom>
          <a:solidFill>
            <a:srgbClr val="00A896"/>
          </a:solidFill>
        </p:spPr>
      </p:sp>
      <p:sp>
        <p:nvSpPr>
          <p:cNvPr id="20" name="Text 14"/>
          <p:cNvSpPr/>
          <p:nvPr/>
        </p:nvSpPr>
        <p:spPr>
          <a:xfrm>
            <a:off x="731520" y="3447288"/>
            <a:ext cx="1920240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Security Layer</a:t>
            </a:r>
            <a:endParaRPr lang="en-US" sz="1250" dirty="0"/>
          </a:p>
        </p:txBody>
      </p:sp>
      <p:pic>
        <p:nvPicPr>
          <p:cNvPr id="21" name="Image 4" descr="/home/claude/civicpulse/icon_secur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3739896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465576" y="3447288"/>
            <a:ext cx="3718408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Spring Security + JWT / OAuth2</a:t>
            </a:r>
            <a:endParaRPr lang="en-US" sz="1150" dirty="0"/>
          </a:p>
        </p:txBody>
      </p:sp>
      <p:pic>
        <p:nvPicPr>
          <p:cNvPr id="23" name="Image 5" descr="/home/claude/civicpulse/icon_microservic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8848" y="3739896"/>
            <a:ext cx="310896" cy="31089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641184" y="3447288"/>
            <a:ext cx="3718408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Role-based Access Control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548640" y="4416552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1E3A5F"/>
          </a:solidFill>
        </p:spPr>
      </p:sp>
      <p:sp>
        <p:nvSpPr>
          <p:cNvPr id="26" name="Shape 18"/>
          <p:cNvSpPr/>
          <p:nvPr/>
        </p:nvSpPr>
        <p:spPr>
          <a:xfrm>
            <a:off x="548640" y="4416552"/>
            <a:ext cx="2286000" cy="896112"/>
          </a:xfrm>
          <a:prstGeom prst="roundRect">
            <a:avLst>
              <a:gd name="adj" fmla="val 8163"/>
            </a:avLst>
          </a:prstGeom>
          <a:solidFill>
            <a:srgbClr val="00A896"/>
          </a:solidFill>
        </p:spPr>
      </p:sp>
      <p:sp>
        <p:nvSpPr>
          <p:cNvPr id="27" name="Text 19"/>
          <p:cNvSpPr/>
          <p:nvPr/>
        </p:nvSpPr>
        <p:spPr>
          <a:xfrm>
            <a:off x="731520" y="4416552"/>
            <a:ext cx="1920240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Data &amp; Messaging Layer</a:t>
            </a:r>
            <a:endParaRPr lang="en-US" sz="1250" dirty="0"/>
          </a:p>
        </p:txBody>
      </p:sp>
      <p:pic>
        <p:nvPicPr>
          <p:cNvPr id="28" name="Image 6" descr="/home/claude/civicpulse/icon_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3240" y="4709160"/>
            <a:ext cx="310896" cy="31089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465576" y="4416552"/>
            <a:ext cx="3718408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Hibernate/JPA → MySQL / PostgreSQL, Redis</a:t>
            </a:r>
            <a:endParaRPr lang="en-US" sz="1150" dirty="0"/>
          </a:p>
        </p:txBody>
      </p:sp>
      <p:pic>
        <p:nvPicPr>
          <p:cNvPr id="30" name="Image 7" descr="/home/claude/civicpulse/icon_serv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8848" y="4709160"/>
            <a:ext cx="310896" cy="310896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641184" y="4416552"/>
            <a:ext cx="3718408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Apache Kafka / RabbitMQ</a:t>
            </a:r>
            <a:endParaRPr lang="en-US" sz="1150" dirty="0"/>
          </a:p>
        </p:txBody>
      </p:sp>
      <p:sp>
        <p:nvSpPr>
          <p:cNvPr id="32" name="Shape 22"/>
          <p:cNvSpPr/>
          <p:nvPr/>
        </p:nvSpPr>
        <p:spPr>
          <a:xfrm>
            <a:off x="548640" y="5385816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1E3A5F"/>
          </a:solidFill>
        </p:spPr>
      </p:sp>
      <p:sp>
        <p:nvSpPr>
          <p:cNvPr id="33" name="Shape 23"/>
          <p:cNvSpPr/>
          <p:nvPr/>
        </p:nvSpPr>
        <p:spPr>
          <a:xfrm>
            <a:off x="548640" y="5385816"/>
            <a:ext cx="2286000" cy="896112"/>
          </a:xfrm>
          <a:prstGeom prst="roundRect">
            <a:avLst>
              <a:gd name="adj" fmla="val 8163"/>
            </a:avLst>
          </a:prstGeom>
          <a:solidFill>
            <a:srgbClr val="00A896"/>
          </a:solidFill>
        </p:spPr>
      </p:sp>
      <p:sp>
        <p:nvSpPr>
          <p:cNvPr id="34" name="Text 24"/>
          <p:cNvSpPr/>
          <p:nvPr/>
        </p:nvSpPr>
        <p:spPr>
          <a:xfrm>
            <a:off x="731520" y="5385816"/>
            <a:ext cx="1920240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Deployment Layer</a:t>
            </a:r>
            <a:endParaRPr lang="en-US" sz="1250" dirty="0"/>
          </a:p>
        </p:txBody>
      </p:sp>
      <p:pic>
        <p:nvPicPr>
          <p:cNvPr id="35" name="Image 8" descr="/home/claude/civicpulse/icon_clou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63240" y="5678424"/>
            <a:ext cx="310896" cy="310896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3465576" y="5385816"/>
            <a:ext cx="7894015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Docker, Kubernetes, Jenkins CI/CD, Cloud (AWS/Azure)</a:t>
            </a:r>
            <a:endParaRPr lang="en-US" sz="1150" dirty="0"/>
          </a:p>
        </p:txBody>
      </p:sp>
      <p:sp>
        <p:nvSpPr>
          <p:cNvPr id="37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601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Entity-Relationship Diagram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Conceptual data model underlying the CivicPulse schema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</p:spPr>
      </p:sp>
      <p:sp>
        <p:nvSpPr>
          <p:cNvPr id="6" name="Shape 4"/>
          <p:cNvSpPr/>
          <p:nvPr/>
        </p:nvSpPr>
        <p:spPr>
          <a:xfrm>
            <a:off x="365760" y="1161288"/>
            <a:ext cx="2286000" cy="73152"/>
          </a:xfrm>
          <a:prstGeom prst="rect">
            <a:avLst/>
          </a:prstGeom>
          <a:solidFill>
            <a:srgbClr val="16233F"/>
          </a:solidFill>
        </p:spPr>
      </p:sp>
      <p:sp>
        <p:nvSpPr>
          <p:cNvPr id="7" name="Text 5"/>
          <p:cNvSpPr/>
          <p:nvPr/>
        </p:nvSpPr>
        <p:spPr>
          <a:xfrm>
            <a:off x="365760" y="96012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CITIZEN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" y="1261872"/>
            <a:ext cx="2029968" cy="104241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PK  citizen_id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 name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 email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 phone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 address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4937760" y="914400"/>
            <a:ext cx="22860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91440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</p:spPr>
      </p:sp>
      <p:sp>
        <p:nvSpPr>
          <p:cNvPr id="11" name="Shape 9"/>
          <p:cNvSpPr/>
          <p:nvPr/>
        </p:nvSpPr>
        <p:spPr>
          <a:xfrm>
            <a:off x="4937760" y="1115568"/>
            <a:ext cx="2286000" cy="73152"/>
          </a:xfrm>
          <a:prstGeom prst="rect">
            <a:avLst/>
          </a:prstGeom>
          <a:solidFill>
            <a:srgbClr val="16233F"/>
          </a:solidFill>
        </p:spPr>
      </p:sp>
      <p:sp>
        <p:nvSpPr>
          <p:cNvPr id="12" name="Text 10"/>
          <p:cNvSpPr/>
          <p:nvPr/>
        </p:nvSpPr>
        <p:spPr>
          <a:xfrm>
            <a:off x="4937760" y="91440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65776" y="1216152"/>
            <a:ext cx="2029968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PK  category_id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 category_name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 description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9509760" y="960120"/>
            <a:ext cx="22860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09760" y="96012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</p:spPr>
      </p:sp>
      <p:sp>
        <p:nvSpPr>
          <p:cNvPr id="16" name="Shape 14"/>
          <p:cNvSpPr/>
          <p:nvPr/>
        </p:nvSpPr>
        <p:spPr>
          <a:xfrm>
            <a:off x="9509760" y="1161288"/>
            <a:ext cx="2286000" cy="73152"/>
          </a:xfrm>
          <a:prstGeom prst="rect">
            <a:avLst/>
          </a:prstGeom>
          <a:solidFill>
            <a:srgbClr val="16233F"/>
          </a:solidFill>
        </p:spPr>
      </p:sp>
      <p:sp>
        <p:nvSpPr>
          <p:cNvPr id="17" name="Text 15"/>
          <p:cNvSpPr/>
          <p:nvPr/>
        </p:nvSpPr>
        <p:spPr>
          <a:xfrm>
            <a:off x="9509760" y="96012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37776" y="1261872"/>
            <a:ext cx="2029968" cy="8412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PK  department_id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 name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 jurisdiction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 contact_email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274320" y="278892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78892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</p:spPr>
      </p:sp>
      <p:sp>
        <p:nvSpPr>
          <p:cNvPr id="21" name="Shape 19"/>
          <p:cNvSpPr/>
          <p:nvPr/>
        </p:nvSpPr>
        <p:spPr>
          <a:xfrm>
            <a:off x="274320" y="2990088"/>
            <a:ext cx="2286000" cy="73152"/>
          </a:xfrm>
          <a:prstGeom prst="rect">
            <a:avLst/>
          </a:prstGeom>
          <a:solidFill>
            <a:srgbClr val="16233F"/>
          </a:solidFill>
        </p:spPr>
      </p:sp>
      <p:sp>
        <p:nvSpPr>
          <p:cNvPr id="22" name="Text 20"/>
          <p:cNvSpPr/>
          <p:nvPr/>
        </p:nvSpPr>
        <p:spPr>
          <a:xfrm>
            <a:off x="274320" y="278892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NOTIFICATION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2336" y="3090672"/>
            <a:ext cx="2029968" cy="104241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PK  notification_id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i="1" dirty="0">
                <a:solidFill>
                  <a:srgbClr val="946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FK  complaint_id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 message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 channel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 sent_at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4754880" y="2606040"/>
            <a:ext cx="2651760" cy="1975104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606040"/>
            <a:ext cx="2651760" cy="274320"/>
          </a:xfrm>
          <a:prstGeom prst="roundRect">
            <a:avLst>
              <a:gd name="adj" fmla="val 20000"/>
            </a:avLst>
          </a:prstGeom>
          <a:solidFill>
            <a:srgbClr val="017E71"/>
          </a:solidFill>
        </p:spPr>
      </p:sp>
      <p:sp>
        <p:nvSpPr>
          <p:cNvPr id="26" name="Shape 24"/>
          <p:cNvSpPr/>
          <p:nvPr/>
        </p:nvSpPr>
        <p:spPr>
          <a:xfrm>
            <a:off x="4754880" y="2807208"/>
            <a:ext cx="2651760" cy="73152"/>
          </a:xfrm>
          <a:prstGeom prst="rect">
            <a:avLst/>
          </a:prstGeom>
          <a:solidFill>
            <a:srgbClr val="017E71"/>
          </a:solidFill>
        </p:spPr>
      </p:sp>
      <p:sp>
        <p:nvSpPr>
          <p:cNvPr id="27" name="Text 25"/>
          <p:cNvSpPr/>
          <p:nvPr/>
        </p:nvSpPr>
        <p:spPr>
          <a:xfrm>
            <a:off x="4754880" y="260604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COMPLAINT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82896" y="2907792"/>
            <a:ext cx="2395728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17E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PK  complaint_id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946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FK  citizen_id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946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FK  category_id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946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FK  department_id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A6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 description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A6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 status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A6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 location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A6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 created_at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601200" y="278892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601200" y="278892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</p:spPr>
      </p:sp>
      <p:sp>
        <p:nvSpPr>
          <p:cNvPr id="31" name="Shape 29"/>
          <p:cNvSpPr/>
          <p:nvPr/>
        </p:nvSpPr>
        <p:spPr>
          <a:xfrm>
            <a:off x="9601200" y="2990088"/>
            <a:ext cx="2286000" cy="73152"/>
          </a:xfrm>
          <a:prstGeom prst="rect">
            <a:avLst/>
          </a:prstGeom>
          <a:solidFill>
            <a:srgbClr val="16233F"/>
          </a:solidFill>
        </p:spPr>
      </p:sp>
      <p:sp>
        <p:nvSpPr>
          <p:cNvPr id="32" name="Text 30"/>
          <p:cNvSpPr/>
          <p:nvPr/>
        </p:nvSpPr>
        <p:spPr>
          <a:xfrm>
            <a:off x="9601200" y="278892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ADMIN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29216" y="3090672"/>
            <a:ext cx="2029968" cy="104241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PK  admin_id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i="1" dirty="0">
                <a:solidFill>
                  <a:srgbClr val="946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FK  department_id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 name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 role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 email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1828800" y="4937760"/>
            <a:ext cx="22860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828800" y="493776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</p:spPr>
      </p:sp>
      <p:sp>
        <p:nvSpPr>
          <p:cNvPr id="36" name="Shape 34"/>
          <p:cNvSpPr/>
          <p:nvPr/>
        </p:nvSpPr>
        <p:spPr>
          <a:xfrm>
            <a:off x="1828800" y="5138928"/>
            <a:ext cx="2286000" cy="73152"/>
          </a:xfrm>
          <a:prstGeom prst="rect">
            <a:avLst/>
          </a:prstGeom>
          <a:solidFill>
            <a:srgbClr val="16233F"/>
          </a:solidFill>
        </p:spPr>
      </p:sp>
      <p:sp>
        <p:nvSpPr>
          <p:cNvPr id="37" name="Text 35"/>
          <p:cNvSpPr/>
          <p:nvPr/>
        </p:nvSpPr>
        <p:spPr>
          <a:xfrm>
            <a:off x="1828800" y="493776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FEEDBACK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956816" y="5239512"/>
            <a:ext cx="2029968" cy="8412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PK  feedback_id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i="1" dirty="0">
                <a:solidFill>
                  <a:srgbClr val="946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FK  complaint_id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 rating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 comments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8046720" y="493776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046720" y="493776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</p:spPr>
      </p:sp>
      <p:sp>
        <p:nvSpPr>
          <p:cNvPr id="41" name="Shape 39"/>
          <p:cNvSpPr/>
          <p:nvPr/>
        </p:nvSpPr>
        <p:spPr>
          <a:xfrm>
            <a:off x="8046720" y="5138928"/>
            <a:ext cx="2286000" cy="73152"/>
          </a:xfrm>
          <a:prstGeom prst="rect">
            <a:avLst/>
          </a:prstGeom>
          <a:solidFill>
            <a:srgbClr val="16233F"/>
          </a:solidFill>
        </p:spPr>
      </p:sp>
      <p:sp>
        <p:nvSpPr>
          <p:cNvPr id="42" name="Text 40"/>
          <p:cNvSpPr/>
          <p:nvPr/>
        </p:nvSpPr>
        <p:spPr>
          <a:xfrm>
            <a:off x="8046720" y="493776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ESCALATION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174736" y="5239512"/>
            <a:ext cx="2029968" cy="104241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PK  escalation_id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i="1" dirty="0">
                <a:solidFill>
                  <a:srgbClr val="946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FK  complaint_id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i="1" dirty="0">
                <a:solidFill>
                  <a:srgbClr val="946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FK  admin_id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 level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 escalated_at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1508760" y="2331720"/>
            <a:ext cx="3703320" cy="274320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27048" y="233172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</p:sp>
      <p:sp>
        <p:nvSpPr>
          <p:cNvPr id="46" name="Text 44"/>
          <p:cNvSpPr/>
          <p:nvPr/>
        </p:nvSpPr>
        <p:spPr>
          <a:xfrm>
            <a:off x="1527048" y="2331720"/>
            <a:ext cx="25603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937760" y="242316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4937760" y="2423160"/>
            <a:ext cx="25603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 flipV="1">
            <a:off x="6080760" y="1883664"/>
            <a:ext cx="9144" cy="722376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06440" y="1883664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</p:sp>
      <p:sp>
        <p:nvSpPr>
          <p:cNvPr id="51" name="Text 49"/>
          <p:cNvSpPr/>
          <p:nvPr/>
        </p:nvSpPr>
        <p:spPr>
          <a:xfrm>
            <a:off x="5806440" y="1883664"/>
            <a:ext cx="25603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806440" y="242316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</p:sp>
      <p:sp>
        <p:nvSpPr>
          <p:cNvPr id="53" name="Text 51"/>
          <p:cNvSpPr/>
          <p:nvPr/>
        </p:nvSpPr>
        <p:spPr>
          <a:xfrm>
            <a:off x="5806440" y="2423160"/>
            <a:ext cx="25603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 flipV="1">
            <a:off x="6949440" y="2130552"/>
            <a:ext cx="3703320" cy="475488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378440" y="2130552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</p:sp>
      <p:sp>
        <p:nvSpPr>
          <p:cNvPr id="56" name="Text 54"/>
          <p:cNvSpPr/>
          <p:nvPr/>
        </p:nvSpPr>
        <p:spPr>
          <a:xfrm>
            <a:off x="10378440" y="2130552"/>
            <a:ext cx="25603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967728" y="242316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6967728" y="2423160"/>
            <a:ext cx="25603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560320" y="3474720"/>
            <a:ext cx="2194560" cy="118872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578608" y="347472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</p:sp>
      <p:sp>
        <p:nvSpPr>
          <p:cNvPr id="61" name="Text 59"/>
          <p:cNvSpPr/>
          <p:nvPr/>
        </p:nvSpPr>
        <p:spPr>
          <a:xfrm>
            <a:off x="2578608" y="3474720"/>
            <a:ext cx="25603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480560" y="3410712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</p:sp>
      <p:sp>
        <p:nvSpPr>
          <p:cNvPr id="63" name="Text 61"/>
          <p:cNvSpPr/>
          <p:nvPr/>
        </p:nvSpPr>
        <p:spPr>
          <a:xfrm>
            <a:off x="4480560" y="3410712"/>
            <a:ext cx="25603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0652760" y="2130552"/>
            <a:ext cx="91440" cy="658368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671048" y="2130552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</p:sp>
      <p:sp>
        <p:nvSpPr>
          <p:cNvPr id="66" name="Text 64"/>
          <p:cNvSpPr/>
          <p:nvPr/>
        </p:nvSpPr>
        <p:spPr>
          <a:xfrm>
            <a:off x="10671048" y="2130552"/>
            <a:ext cx="25603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10469880" y="260604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</p:sp>
      <p:sp>
        <p:nvSpPr>
          <p:cNvPr id="68" name="Text 66"/>
          <p:cNvSpPr/>
          <p:nvPr/>
        </p:nvSpPr>
        <p:spPr>
          <a:xfrm>
            <a:off x="10469880" y="2606040"/>
            <a:ext cx="25603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 flipV="1">
            <a:off x="2971800" y="4581144"/>
            <a:ext cx="2331720" cy="356616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029200" y="4581144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</p:sp>
      <p:sp>
        <p:nvSpPr>
          <p:cNvPr id="71" name="Text 69"/>
          <p:cNvSpPr/>
          <p:nvPr/>
        </p:nvSpPr>
        <p:spPr>
          <a:xfrm>
            <a:off x="5029200" y="4581144"/>
            <a:ext cx="25603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2990088" y="475488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</p:sp>
      <p:sp>
        <p:nvSpPr>
          <p:cNvPr id="73" name="Text 71"/>
          <p:cNvSpPr/>
          <p:nvPr/>
        </p:nvSpPr>
        <p:spPr>
          <a:xfrm>
            <a:off x="2990088" y="4754880"/>
            <a:ext cx="25603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858000" y="4581144"/>
            <a:ext cx="2331720" cy="356616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876288" y="4581144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</p:sp>
      <p:sp>
        <p:nvSpPr>
          <p:cNvPr id="76" name="Text 74"/>
          <p:cNvSpPr/>
          <p:nvPr/>
        </p:nvSpPr>
        <p:spPr>
          <a:xfrm>
            <a:off x="6876288" y="4581144"/>
            <a:ext cx="25603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8915400" y="475488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</p:sp>
      <p:sp>
        <p:nvSpPr>
          <p:cNvPr id="78" name="Text 76"/>
          <p:cNvSpPr/>
          <p:nvPr/>
        </p:nvSpPr>
        <p:spPr>
          <a:xfrm>
            <a:off x="8915400" y="4754880"/>
            <a:ext cx="25603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 flipV="1">
            <a:off x="10332720" y="4160520"/>
            <a:ext cx="411480" cy="1463040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469880" y="416052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</p:sp>
      <p:sp>
        <p:nvSpPr>
          <p:cNvPr id="81" name="Text 79"/>
          <p:cNvSpPr/>
          <p:nvPr/>
        </p:nvSpPr>
        <p:spPr>
          <a:xfrm>
            <a:off x="10469880" y="4160520"/>
            <a:ext cx="25603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10351008" y="544068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</p:sp>
      <p:sp>
        <p:nvSpPr>
          <p:cNvPr id="83" name="Text 81"/>
          <p:cNvSpPr/>
          <p:nvPr/>
        </p:nvSpPr>
        <p:spPr>
          <a:xfrm>
            <a:off x="10351008" y="5440680"/>
            <a:ext cx="25603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548640" y="6656832"/>
            <a:ext cx="146304" cy="109728"/>
          </a:xfrm>
          <a:prstGeom prst="rect">
            <a:avLst/>
          </a:prstGeom>
          <a:solidFill>
            <a:srgbClr val="017E71"/>
          </a:solidFill>
        </p:spPr>
      </p:sp>
      <p:sp>
        <p:nvSpPr>
          <p:cNvPr id="85" name="Text 83"/>
          <p:cNvSpPr/>
          <p:nvPr/>
        </p:nvSpPr>
        <p:spPr>
          <a:xfrm>
            <a:off x="731520" y="6547104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PK Primary Key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2286000" y="6656832"/>
            <a:ext cx="146304" cy="109728"/>
          </a:xfrm>
          <a:prstGeom prst="rect">
            <a:avLst/>
          </a:prstGeom>
          <a:solidFill>
            <a:srgbClr val="946200"/>
          </a:solidFill>
        </p:spPr>
      </p:sp>
      <p:sp>
        <p:nvSpPr>
          <p:cNvPr id="87" name="Text 85"/>
          <p:cNvSpPr/>
          <p:nvPr/>
        </p:nvSpPr>
        <p:spPr>
          <a:xfrm>
            <a:off x="2468880" y="6547104"/>
            <a:ext cx="1554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FK Foreign Key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3931920" y="6547104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 / M  — one-to-one or one-to-many cardinality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Development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How the 5 of us work together, simply explained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12648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A6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We work online using GitHub. Every week, each person builds their own part, we check each other's work, and then combine everything into one finished version.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6" name="Text 4"/>
          <p:cNvSpPr/>
          <p:nvPr/>
        </p:nvSpPr>
        <p:spPr>
          <a:xfrm>
            <a:off x="54864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Plan the Week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9" name="Text 7"/>
          <p:cNvSpPr/>
          <p:nvPr/>
        </p:nvSpPr>
        <p:spPr>
          <a:xfrm>
            <a:off x="210312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4884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Build Separately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2" name="Text 10"/>
          <p:cNvSpPr/>
          <p:nvPr/>
        </p:nvSpPr>
        <p:spPr>
          <a:xfrm>
            <a:off x="365760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0332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Check Each Other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1208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5" name="Text 13"/>
          <p:cNvSpPr/>
          <p:nvPr/>
        </p:nvSpPr>
        <p:spPr>
          <a:xfrm>
            <a:off x="521208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5780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Combine &amp; Test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40880" y="1554480"/>
            <a:ext cx="4572000" cy="4572000"/>
          </a:xfrm>
          <a:prstGeom prst="roundRect">
            <a:avLst>
              <a:gd name="adj" fmla="val 2000"/>
            </a:avLst>
          </a:prstGeom>
          <a:solidFill>
            <a:srgbClr val="16233F"/>
          </a:solidFill>
        </p:spPr>
      </p:sp>
      <p:sp>
        <p:nvSpPr>
          <p:cNvPr id="18" name="Text 16"/>
          <p:cNvSpPr/>
          <p:nvPr/>
        </p:nvSpPr>
        <p:spPr>
          <a:xfrm>
            <a:off x="7360920" y="178308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Simple Rules We Follow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60920" y="234086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0" name="Text 18"/>
          <p:cNvSpPr/>
          <p:nvPr/>
        </p:nvSpPr>
        <p:spPr>
          <a:xfrm>
            <a:off x="7635240" y="221284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Everyone builds their own part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60920" y="284378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2" name="Text 20"/>
          <p:cNvSpPr/>
          <p:nvPr/>
        </p:nvSpPr>
        <p:spPr>
          <a:xfrm>
            <a:off x="7635240" y="271576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 teammate checks it first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60920" y="334670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4" name="Text 22"/>
          <p:cNvSpPr/>
          <p:nvPr/>
        </p:nvSpPr>
        <p:spPr>
          <a:xfrm>
            <a:off x="7635240" y="321868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main project always works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60920" y="3931920"/>
            <a:ext cx="3931920" cy="0"/>
          </a:xfrm>
          <a:prstGeom prst="line">
            <a:avLst/>
          </a:prstGeom>
          <a:noFill/>
          <a:ln w="12700">
            <a:solidFill>
              <a:srgbClr val="3145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4160520"/>
            <a:ext cx="39319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BD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This way, all 5 of us stay in sync without messing up each other's work.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Advantages &amp; Impact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Why CivicPulse matters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12648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A6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By bringing citizens, departments, and administrators onto one connected platform, CivicPulse turns civic issue resolution from a manual, opaque process into a transparent and accountable 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6" name="Text 4"/>
          <p:cNvSpPr/>
          <p:nvPr/>
        </p:nvSpPr>
        <p:spPr>
          <a:xfrm>
            <a:off x="54864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Full Transparency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9" name="Text 7"/>
          <p:cNvSpPr/>
          <p:nvPr/>
        </p:nvSpPr>
        <p:spPr>
          <a:xfrm>
            <a:off x="210312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4884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Faster Resolution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2" name="Text 10"/>
          <p:cNvSpPr/>
          <p:nvPr/>
        </p:nvSpPr>
        <p:spPr>
          <a:xfrm>
            <a:off x="365760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0332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Centralized Data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1208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5" name="Text 13"/>
          <p:cNvSpPr/>
          <p:nvPr/>
        </p:nvSpPr>
        <p:spPr>
          <a:xfrm>
            <a:off x="521208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5780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Real Accountability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40880" y="1554480"/>
            <a:ext cx="4572000" cy="4572000"/>
          </a:xfrm>
          <a:prstGeom prst="roundRect">
            <a:avLst>
              <a:gd name="adj" fmla="val 2000"/>
            </a:avLst>
          </a:prstGeom>
          <a:solidFill>
            <a:srgbClr val="16233F"/>
          </a:solidFill>
        </p:spPr>
      </p:sp>
      <p:sp>
        <p:nvSpPr>
          <p:cNvPr id="18" name="Text 16"/>
          <p:cNvSpPr/>
          <p:nvPr/>
        </p:nvSpPr>
        <p:spPr>
          <a:xfrm>
            <a:off x="7360920" y="178308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Impact for municipalities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60920" y="234086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0" name="Text 18"/>
          <p:cNvSpPr/>
          <p:nvPr/>
        </p:nvSpPr>
        <p:spPr>
          <a:xfrm>
            <a:off x="7635240" y="221284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Fewer duplicate complaints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60920" y="284378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2" name="Text 20"/>
          <p:cNvSpPr/>
          <p:nvPr/>
        </p:nvSpPr>
        <p:spPr>
          <a:xfrm>
            <a:off x="7635240" y="271576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Clear department ownership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60920" y="334670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4" name="Text 22"/>
          <p:cNvSpPr/>
          <p:nvPr/>
        </p:nvSpPr>
        <p:spPr>
          <a:xfrm>
            <a:off x="7635240" y="321868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Data-driven decision making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60920" y="3931920"/>
            <a:ext cx="3931920" cy="0"/>
          </a:xfrm>
          <a:prstGeom prst="line">
            <a:avLst/>
          </a:prstGeom>
          <a:noFill/>
          <a:ln w="12700">
            <a:solidFill>
              <a:srgbClr val="3145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4160520"/>
            <a:ext cx="39319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BD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 platform built to scale from a single ward to an entire city.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F5F7FA"/>
          </a:solidFill>
        </p:spPr>
      </p:sp>
      <p:sp>
        <p:nvSpPr>
          <p:cNvPr id="3" name="Text 1"/>
          <p:cNvSpPr/>
          <p:nvPr/>
        </p:nvSpPr>
        <p:spPr>
          <a:xfrm>
            <a:off x="777240" y="2468880"/>
            <a:ext cx="7315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7772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CivicPulse — building responsive, transparent, and intelligent governance,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one complaint at a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4206240"/>
            <a:ext cx="91440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8115</Words>
  <Application>WPS Presentation</Application>
  <PresentationFormat>On-screen Show (16:9)</PresentationFormat>
  <Paragraphs>487</Paragraphs>
  <Slides>14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SimSun</vt:lpstr>
      <vt:lpstr>Wingdings</vt:lpstr>
      <vt:lpstr>Georgia</vt:lpstr>
      <vt:lpstr>Georgia</vt:lpstr>
      <vt:lpstr>Georgia</vt:lpstr>
      <vt:lpstr>Consolas</vt:lpstr>
      <vt:lpstr>Consolas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Riya Kumari</cp:lastModifiedBy>
  <cp:revision>2</cp:revision>
  <dcterms:created xsi:type="dcterms:W3CDTF">2026-07-29T08:48:00Z</dcterms:created>
  <dcterms:modified xsi:type="dcterms:W3CDTF">2026-07-30T08:04:16Z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B585E6A1C25B4931854DF949A07038BB_12</vt:lpwstr>
  </property>
  <property fmtid="{D5CDD505-2E9C-101B-9397-08002B2CF9AE}" pid="3" name="KSOProductBuildVer">
    <vt:lpwstr>1033-12.1.0.27458</vt:lpwstr>
  </property>
</Properties>
</file>