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68" r:id="rId6"/>
    <p:sldId id="269" r:id="rId7"/>
    <p:sldId id="259" r:id="rId8"/>
    <p:sldId id="260" r:id="rId9"/>
    <p:sldId id="264" r:id="rId10"/>
    <p:sldId id="270" r:id="rId11"/>
    <p:sldId id="262" r:id="rId12"/>
    <p:sldId id="265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06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GOVERNANCE • DIGITAL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Governance Management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system connecting citizens, departments, and administrators through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complaint management and responsive service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Java Enterprise Stack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B395B-7863-4391-0290-A24B01F2AE31}"/>
              </a:ext>
            </a:extLst>
          </p:cNvPr>
          <p:cNvSpPr txBox="1"/>
          <p:nvPr/>
        </p:nvSpPr>
        <p:spPr>
          <a:xfrm>
            <a:off x="957756" y="5892523"/>
            <a:ext cx="80482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ED2"/>
                </a:solidFill>
              </a:defRPr>
            </a:pPr>
            <a:r>
              <a:rPr lang="en-IN" sz="1100" dirty="0"/>
              <a:t>Presented by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rPr lang="en-IN" sz="1900" dirty="0"/>
              <a:t>Team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CivicPulse brings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is an end-to-end smart governance platform that streamlines how citizens raise civic issues and how administrations respond to them. It combines a citizen-facing portal, AI-assisted complaint intelligence, automated escalation, and department-level accountability into one connected system — built for scale on a modern Java enterprise stack.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/ AI Capabilities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Enterprise Stack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this deck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 (8)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municipalities, urban local bodies,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4369D0E-9EDC-328D-A205-24A336B7CA20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F297319-14C2-F39F-8F13-B9A1DFB10EE4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CivicPulse is needed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E4CDEFF-848A-7B57-C0FD-FCDF94ADE3F9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Local governance bodies handle a large volume of citizen issues every day — broken roads, water leakage, garbage, streetlight failures — but most of this is still tracked manually through phone calls and paper registers, leaving citizens with no visibility and departments with no central system.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44E2F4E-0F2B-4F3E-C673-2FE01B509751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E5CC1B8-C2B2-7A0D-45DC-404417D062AE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1CA8534-5DE5-347F-4092-39510852EA0D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Central Reporting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6379B98-1297-F56A-6376-7BF46B91485C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2709FED-E487-9A03-4195-55150AD8CB6D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B728D65-45A3-C4C0-F25E-BBD0C7E82185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Zero Visibility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C60EAE6-CAB3-7251-F6FA-53735D02220E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8D6FBD8-4B3E-4539-2387-ECE5A7AD3016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E46BED8-DB61-161C-44A0-E51B57865CD2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Slow Assignment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4C64804-593D-8569-69A2-2F6AEDD69CEB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8639B4A-68B3-75C1-0DED-44BD7B14907E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71D4FD0-604D-74F0-08DF-B3999884A269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Data Insight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F9E8185C-A9F3-A777-7CE6-704E1CB2F17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1806CDD8-6891-2A64-8246-147C39038EED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core gaps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6B75A3F9-CFCC-FA98-AF2A-1EDA51742A21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FD0174B-CE67-04DE-BB7A-6FBC7A840040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single platform for complaints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C4555E64-AB1A-79BC-9FA6-A561AB0A0280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6D8B1AF-BB85-060E-9FC8-961BA0B1F0EB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real-time status visibility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6389DC44-3D1E-0EF0-8654-33579759D5C2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A2B0229-799D-1D96-8807-834FE2B12B6B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department-level accountability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F1FD58E9-8490-8B23-17A9-447A55F81745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17C7405B-AFEF-2D4D-BC14-404F267886C3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These are exactly the gaps CivicPulse is designed to close for municipalities and public-service departments.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4E66D007-B6DC-CF21-D874-2B0CE4FDFDF5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F67E6250-85BB-6A6D-D6AD-978A251272F9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2171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8E68B79-25CD-F5B1-0513-7B71CEFFDE76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C2F803-3BF9-5382-5DF7-246299720183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CivicPulse is designed to achieve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0B1C91E-7CF8-AADF-52EF-50A744BC2818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aims to give every stakeholder — citizen, official, and administrator — a faster, more transparent way to raise, manage, and resolve civic issues, replacing manual paperwork with a connected digital workflow.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297CF13-A0D4-C340-CC88-9BB635DCA668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16E6A1F-AC5B-2C36-0DE2-9AFCE99184D1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2FD6B45-46DC-EE34-447B-F2ECF82C1371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Simplify Reporting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FB5CDA3-265E-53C4-3D9B-47D4DD0E51DD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A616A21-B8A5-FB44-DB76-42B874705741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21FD490-6B6E-775A-F29A-5BB6DD44E159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Enable Tracking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780E3E05-9115-62BB-9EBB-3987071AFD2D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65B6814-2CCC-0162-C352-CA8BD666ECCB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4ADB7AC-CB0A-33BA-0866-0A7769BBFE33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Speed Up Resolution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6833426-45AA-E999-AC20-CED0E42EEAAE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5A397F40-F3D6-95F9-EAAD-C065E553B1AF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49CA690-6F40-AE19-83E0-C6B8C56C7290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Improve Transparency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EC85EB35-8108-5333-F4C6-AA23C4009DF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533FDB83-C21C-D6FC-1362-9A97C8535D7C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Success looks like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36031CE8-7A2A-D9C9-6CF3-58DD506DAE4C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36E9506-FC1C-2326-12C6-D7F937399BB7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Citizens track complaints end-to-end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7E02C35B-59B4-C342-C546-58845A04100B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D13BBA3-44E9-C7C9-572A-803F0FC92B72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Officials resolve issues faster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14867941-5767-98C6-F5CA-6500BEA9CCBD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1AA907B-BC65-A85C-E84C-DE92980F8D3D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Admins see system-wide analytics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EA0EE7A6-5695-29B8-0888-BDC967D4BBF4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87B51CF1-1F5A-457E-8620-4A1CC9A98618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Built for municipalities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C459C850-5F8E-E972-4C6B-951A7B28246F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23CDD0C5-9330-78AA-8E0E-144382EBA186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2962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4DEC3CE-C000-9112-2C08-3D78AEBA1DCC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Complaint Lifecycle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228F662-5530-6469-0D25-60EBC7E009AD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citizen report to resolution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89506C2-63B7-3398-5FD1-D15DCC3094AE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 complaint moves through a structured, auditable journey — from the moment a citizen raises an issue to the moment it is resolved and rated — keeping ownership and timelines clear at every step.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5F7E3A5-8567-05F1-6BFF-CDD3B4C603F5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827AEB6-2A8A-6103-2011-D812350C2E1D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14AAC28-149D-6D44-D37B-CB000C97CBCE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Registers Issue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D3E0809-409D-2F86-7A7C-BCE1A2B2EA6F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1A0D891-7422-7801-31F0-4A099282816E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3C9B3BD-327A-205A-5120-E4942A2A9328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Auto-Routed to Department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D4C2D2A8-2A6B-3628-642E-12FDEC732CEB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6B0BB28-843A-EA3E-0A24-ECE8D448FAA4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C1E973F-F8DA-A80A-6BD5-C26AB0F218FE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Official Resolves &amp; Updates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29B204C3-8DBD-AEC2-B2B6-0581042F6638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2721F5B-F24D-CE4C-06FB-A10352422984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3547E7A0-8FAA-556C-65ED-1910D4D7D9B6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Tracks &amp; Rates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9995BFE7-50CC-7D5C-9832-760109FE497E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144B8BB9-D022-C49D-828B-1B5CB7B528BD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Built-in accountability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05CB99C3-ABFF-DA4C-C2E1-6EDEEDBA593A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8F53811C-2877-989C-9311-8024865EE811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SLA timers trigger escalation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B0263B2E-0FC2-2DAC-BFCE-06FD41C2F7A3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2C51327-073B-3635-F728-6FE5240C5D73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Status updates in real time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4DCCD4C1-A486-2C97-88FA-B91753D1C24E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EC03DBF5-C56D-507B-96A4-852B96CA5EE1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Feedback closes the loop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BDBCEEB6-EDF4-8521-A80E-DEDCF5DD63E4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04B791F6-5012-1015-C33F-1F763EC06172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Designed so no complaint is ever lost or left unowned between departments.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0F6CEC7A-9FFB-B905-B7C2-7972E790A62F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05AE02B9-50D5-5586-C167-48B536AA3047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891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16A0A03-B7D4-4B43-F2C5-B8B6ADC977C9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Home Page Dashboard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0AB5CC-C366-E2B9-CFBB-C1DACE813E24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Live issue counts, right on the home page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7EA8FEF-71FC-3CAB-17C5-5F4955FD5E82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dashboard on the home page shows how many issues have been registered, resolved, and are still pending or in progress — giving instant visibility into platform activity for citizens and officials alike, no login required.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EF7BC49-F64B-4816-598F-58390E71FE20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83FB68C-1D74-9DB6-252F-23C361AC047D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120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B7AA15A-E17D-944F-05B4-B7D01E6C2184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EE5DDE8D-CA4F-CAB4-4240-A21FC9D77387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6A38398-968A-CC3F-A731-5AD2D2F7E602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80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CF9EB34-1055-BC51-BE5B-4201D9DA38A9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Resolved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D9D78F1-9073-DD32-6EA6-CD702D08BDC2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53B11FC-31AC-FA1A-0F93-85A78CC761FC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25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A7A942B-9DD2-F9CB-52FC-A237B0D32F3E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Pending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953F8485-1FFB-8138-589F-C3392451B881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E65BD044-6F9B-DF16-22CA-DE384A471FAB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D1A3F0BD-33A3-56A4-B945-4AC36E5B5D1B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7732FE37-EEE1-842D-88E0-ADC75AC1FFC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DBF37CA-F77D-C956-BE4E-1C45676DD143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2F781A54-4F48-1E17-A3DE-03403F8F8DE4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16C0B3E8-719D-F9FD-296A-2284416EC946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API aggregates status counts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86D33591-39B7-2D29-1D0F-6584E0539F29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5BE4EE25-D0D6-5B23-2376-18FF9407D454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React renders live stat cards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6F88548-FD23-5AC2-716B-64EAD142D480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3D568AEB-836D-01D2-1F40-BAD37DAA1450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Updates automatically as issues change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D7F370F3-F335-743D-1891-B643F688B5E3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2F947C2D-B368-CF8A-5FAA-D5B33369D1F0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simple, high-impact addition that makes the platform's activity visible at a glance — my contribution to the team's feature set.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9594E2AA-BDE2-4217-133D-797061A7FF6C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E29A1909-9E6F-0BF2-C703-D460E6B2F857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9955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Administration, engagement, and accountability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civicpulse/icon_not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&amp; Feedback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SMS, email, and push alerts on status changes, paired with citizen feedback and satisfaction ratings on closure.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civicpulse/icon_prio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Priority Management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Dynamically ranks open complaints by severity, public impact, and urgency to optimize the order in which teams respond.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21" name="Image 3" descr="/home/claude/civicpulse/icon_depart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Department-wise Management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 each complaint to the correct department or jurisdiction, keeping ownership, workload, and accountability clearly defined.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946E664-CF7E-C1D9-F441-30B80B7DCC1E}"/>
              </a:ext>
            </a:extLst>
          </p:cNvPr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29" name="Image 0" descr="/home/claude/civicpulse/icon_citizen.png">
            <a:extLst>
              <a:ext uri="{FF2B5EF4-FFF2-40B4-BE49-F238E27FC236}">
                <a16:creationId xmlns:a16="http://schemas.microsoft.com/office/drawing/2014/main" id="{D4A11325-2A0D-4427-FB4B-C7CC2D902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2667F76E-8840-1A27-11C1-514A3779025A}"/>
              </a:ext>
            </a:extLst>
          </p:cNvPr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Portal</a:t>
            </a:r>
            <a:endParaRPr lang="en-US" sz="145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6580579F-B8DF-8D92-BACF-48CD2F6EC78A}"/>
              </a:ext>
            </a:extLst>
          </p:cNvPr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Self-service web portal where citizens register, raise complaints, track resolution status, and access civic services from any device.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Additions that push CivicPulse beyond a standard complaint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6" name="Image 0" descr="/home/claude/civicpulse/icon_chat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virtual assistant available 24/7 to guide citizens, answer FAQs, and file complaints through natural language.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1" name="Image 1" descr="/home/claude/civicpulse/icon_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Localized interfaces in regional languages so every citizen, regardless of language, can access services with ease.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6" name="Image 2" descr="/home/claude/civicpulse/icon_vo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Voice-Enabled Complaint Filing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Voice-to-text complaint registration that improves accessibility for citizens with low literacy or limited typing ability.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21" name="Image 3" descr="/home/claude/civicpulse/icon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 &amp; Insights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complaint trends and geographic hotspots, enabling departments to act proactively rather than reactively.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47B175-753D-D76B-7681-10667B3A4E8D}"/>
              </a:ext>
            </a:extLst>
          </p:cNvPr>
          <p:cNvSpPr txBox="1"/>
          <p:nvPr/>
        </p:nvSpPr>
        <p:spPr>
          <a:xfrm>
            <a:off x="621792" y="349334"/>
            <a:ext cx="322395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System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9CF5B-999E-BAFD-DD96-549DEED287BB}"/>
              </a:ext>
            </a:extLst>
          </p:cNvPr>
          <p:cNvSpPr txBox="1"/>
          <p:nvPr/>
        </p:nvSpPr>
        <p:spPr>
          <a:xfrm>
            <a:off x="621792" y="841248"/>
            <a:ext cx="5033750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382"/>
                </a:solidFill>
              </a:defRPr>
            </a:pPr>
            <a:r>
              <a:rPr sz="1250" dirty="0">
                <a:latin typeface="Georgia" panose="02040502050405020303" pitchFamily="18" charset="0"/>
              </a:rPr>
              <a:t>From citizen submission to resolution and continuous improvement.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1AC2E8-DB8D-63CE-58CE-428560F6EE4F}"/>
              </a:ext>
            </a:extLst>
          </p:cNvPr>
          <p:cNvSpPr/>
          <p:nvPr/>
        </p:nvSpPr>
        <p:spPr>
          <a:xfrm>
            <a:off x="1697765" y="1400606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7BBD3-5832-A7B1-A2EE-F8A7B1D7A6A4}"/>
              </a:ext>
            </a:extLst>
          </p:cNvPr>
          <p:cNvSpPr txBox="1"/>
          <p:nvPr/>
        </p:nvSpPr>
        <p:spPr>
          <a:xfrm>
            <a:off x="1686588" y="1601774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2C3E5-6A97-CA54-B9C8-9CE85900AFFF}"/>
              </a:ext>
            </a:extLst>
          </p:cNvPr>
          <p:cNvSpPr txBox="1"/>
          <p:nvPr/>
        </p:nvSpPr>
        <p:spPr>
          <a:xfrm>
            <a:off x="1457988" y="236072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Submit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4B704-F176-F238-6123-9B63C5084276}"/>
              </a:ext>
            </a:extLst>
          </p:cNvPr>
          <p:cNvSpPr txBox="1"/>
          <p:nvPr/>
        </p:nvSpPr>
        <p:spPr>
          <a:xfrm>
            <a:off x="1388560" y="2712255"/>
            <a:ext cx="137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Citizen submits a complaint or service request.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12C8C254-B432-65CE-1746-0DD26007D86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463828" y="1761794"/>
            <a:ext cx="1437239" cy="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4858C23-4EA7-0BBA-FA42-4BCA22169307}"/>
              </a:ext>
            </a:extLst>
          </p:cNvPr>
          <p:cNvSpPr/>
          <p:nvPr/>
        </p:nvSpPr>
        <p:spPr>
          <a:xfrm>
            <a:off x="3901067" y="1400606"/>
            <a:ext cx="777240" cy="777240"/>
          </a:xfrm>
          <a:prstGeom prst="ellipse">
            <a:avLst/>
          </a:prstGeom>
          <a:solidFill>
            <a:srgbClr val="439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A231E-36D1-DB73-B34A-F2D6E543EB1F}"/>
              </a:ext>
            </a:extLst>
          </p:cNvPr>
          <p:cNvSpPr txBox="1"/>
          <p:nvPr/>
        </p:nvSpPr>
        <p:spPr>
          <a:xfrm>
            <a:off x="3901067" y="1601774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0A6B4-7620-3190-675E-6C185ECB6971}"/>
              </a:ext>
            </a:extLst>
          </p:cNvPr>
          <p:cNvSpPr txBox="1"/>
          <p:nvPr/>
        </p:nvSpPr>
        <p:spPr>
          <a:xfrm>
            <a:off x="3672467" y="236072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Validate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CB1A4-41CB-240D-9720-64DE34D971AF}"/>
              </a:ext>
            </a:extLst>
          </p:cNvPr>
          <p:cNvSpPr txBox="1"/>
          <p:nvPr/>
        </p:nvSpPr>
        <p:spPr>
          <a:xfrm>
            <a:off x="3389373" y="2703658"/>
            <a:ext cx="1696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System checks details and detects potential duplicates.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D4A5E68-56EB-E485-A9A1-0682F9EBEC54}"/>
              </a:ext>
            </a:extLst>
          </p:cNvPr>
          <p:cNvCxnSpPr>
            <a:cxnSpLocks/>
            <a:stCxn id="11" idx="3"/>
            <a:endCxn id="93" idx="2"/>
          </p:cNvCxnSpPr>
          <p:nvPr/>
        </p:nvCxnSpPr>
        <p:spPr>
          <a:xfrm>
            <a:off x="4678307" y="1761794"/>
            <a:ext cx="1568513" cy="295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8C3E8EB-4D42-485B-50BE-FB99D5D8097E}"/>
              </a:ext>
            </a:extLst>
          </p:cNvPr>
          <p:cNvSpPr/>
          <p:nvPr/>
        </p:nvSpPr>
        <p:spPr>
          <a:xfrm>
            <a:off x="8581581" y="1376124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52DE4-D887-ADEB-D9E6-3E246973A3A8}"/>
              </a:ext>
            </a:extLst>
          </p:cNvPr>
          <p:cNvSpPr txBox="1"/>
          <p:nvPr/>
        </p:nvSpPr>
        <p:spPr>
          <a:xfrm>
            <a:off x="8819358" y="157729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4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07038-914B-B726-8F04-783CD64E5F7A}"/>
              </a:ext>
            </a:extLst>
          </p:cNvPr>
          <p:cNvSpPr txBox="1"/>
          <p:nvPr/>
        </p:nvSpPr>
        <p:spPr>
          <a:xfrm>
            <a:off x="8352981" y="2336244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Assign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4F0493-62CB-EB72-58C9-C391D21C3215}"/>
              </a:ext>
            </a:extLst>
          </p:cNvPr>
          <p:cNvSpPr txBox="1"/>
          <p:nvPr/>
        </p:nvSpPr>
        <p:spPr>
          <a:xfrm>
            <a:off x="8192498" y="2669368"/>
            <a:ext cx="15554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Request is routed to the appropriate department.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F9DBAA9B-35DA-3E5D-142C-601A24BDC7CE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9358821" y="1764744"/>
            <a:ext cx="1786121" cy="850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A68D246-7174-7CE8-CAF9-4029115F539E}"/>
              </a:ext>
            </a:extLst>
          </p:cNvPr>
          <p:cNvSpPr/>
          <p:nvPr/>
        </p:nvSpPr>
        <p:spPr>
          <a:xfrm>
            <a:off x="8782749" y="4065186"/>
            <a:ext cx="777240" cy="777240"/>
          </a:xfrm>
          <a:prstGeom prst="ellipse">
            <a:avLst/>
          </a:prstGeom>
          <a:solidFill>
            <a:srgbClr val="2C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CDBF09-9BCF-E350-4B07-7042798F21C7}"/>
              </a:ext>
            </a:extLst>
          </p:cNvPr>
          <p:cNvSpPr txBox="1"/>
          <p:nvPr/>
        </p:nvSpPr>
        <p:spPr>
          <a:xfrm>
            <a:off x="9020526" y="4266354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5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0A81F0-00DE-B658-72B3-88BA03282E8E}"/>
              </a:ext>
            </a:extLst>
          </p:cNvPr>
          <p:cNvSpPr txBox="1"/>
          <p:nvPr/>
        </p:nvSpPr>
        <p:spPr>
          <a:xfrm>
            <a:off x="8554149" y="502530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Track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A98C55-EDA3-1CD9-18C1-C9BBCC1E2D3A}"/>
              </a:ext>
            </a:extLst>
          </p:cNvPr>
          <p:cNvSpPr txBox="1"/>
          <p:nvPr/>
        </p:nvSpPr>
        <p:spPr>
          <a:xfrm>
            <a:off x="8352981" y="5307043"/>
            <a:ext cx="16967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Status and deadlines are monitored through the workflow.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32205BB-547A-B6A8-82EC-B4F7AC70A8B2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4616260" y="4450746"/>
            <a:ext cx="1625482" cy="28391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FEDD9C-1AC1-5E29-63F0-91AD907114E1}"/>
              </a:ext>
            </a:extLst>
          </p:cNvPr>
          <p:cNvSpPr txBox="1"/>
          <p:nvPr/>
        </p:nvSpPr>
        <p:spPr>
          <a:xfrm>
            <a:off x="6479519" y="4291685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6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A9639C-6B9D-5BA7-C9FC-98AC10AB9416}"/>
              </a:ext>
            </a:extLst>
          </p:cNvPr>
          <p:cNvSpPr txBox="1"/>
          <p:nvPr/>
        </p:nvSpPr>
        <p:spPr>
          <a:xfrm>
            <a:off x="6013142" y="5050637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Escalate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8C1AFF-28B6-8934-DC07-060FA45594F6}"/>
              </a:ext>
            </a:extLst>
          </p:cNvPr>
          <p:cNvSpPr txBox="1"/>
          <p:nvPr/>
        </p:nvSpPr>
        <p:spPr>
          <a:xfrm>
            <a:off x="5864009" y="5383762"/>
            <a:ext cx="16967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Overdue cases move to the next authority automatically.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792E795D-BBB8-2D9E-CB77-B1658C68E010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7018982" y="4453806"/>
            <a:ext cx="1763767" cy="25331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B2376DC-7BC2-B41F-0814-516839CF12E9}"/>
              </a:ext>
            </a:extLst>
          </p:cNvPr>
          <p:cNvSpPr/>
          <p:nvPr/>
        </p:nvSpPr>
        <p:spPr>
          <a:xfrm>
            <a:off x="3839020" y="4062126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448E9F-38AF-2C02-AA1E-E9B11646F28D}"/>
              </a:ext>
            </a:extLst>
          </p:cNvPr>
          <p:cNvSpPr txBox="1"/>
          <p:nvPr/>
        </p:nvSpPr>
        <p:spPr>
          <a:xfrm>
            <a:off x="4076797" y="4263294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7</a:t>
            </a: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5FBC11-D81A-9355-4B15-3A981CC40CA1}"/>
              </a:ext>
            </a:extLst>
          </p:cNvPr>
          <p:cNvSpPr txBox="1"/>
          <p:nvPr/>
        </p:nvSpPr>
        <p:spPr>
          <a:xfrm>
            <a:off x="3865322" y="5022246"/>
            <a:ext cx="75616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dirty="0"/>
              <a:t>Resolve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32E4D7-BFA4-A337-F8AD-976892D7BAB9}"/>
              </a:ext>
            </a:extLst>
          </p:cNvPr>
          <p:cNvSpPr txBox="1"/>
          <p:nvPr/>
        </p:nvSpPr>
        <p:spPr>
          <a:xfrm>
            <a:off x="3370003" y="5300407"/>
            <a:ext cx="18830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Department resolves and closes the complaint.</a:t>
            </a:r>
            <a:endParaRPr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9ED459-937D-88A4-2832-5A6C01D8BFD5}"/>
              </a:ext>
            </a:extLst>
          </p:cNvPr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72822B-97E6-3EE5-1E17-0F9627552EEE}"/>
              </a:ext>
            </a:extLst>
          </p:cNvPr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796"/>
                </a:solidFill>
              </a:defRPr>
            </a:pPr>
            <a:r>
              <a:t>6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F356154-E602-9F0A-B17B-67EB6F931397}"/>
              </a:ext>
            </a:extLst>
          </p:cNvPr>
          <p:cNvSpPr/>
          <p:nvPr/>
        </p:nvSpPr>
        <p:spPr>
          <a:xfrm>
            <a:off x="6246820" y="1376124"/>
            <a:ext cx="777240" cy="777240"/>
          </a:xfrm>
          <a:prstGeom prst="ellipse">
            <a:avLst/>
          </a:prstGeom>
          <a:solidFill>
            <a:srgbClr val="E6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7A84B4-996C-5541-D8AA-C984E36F1BB6}"/>
              </a:ext>
            </a:extLst>
          </p:cNvPr>
          <p:cNvSpPr txBox="1"/>
          <p:nvPr/>
        </p:nvSpPr>
        <p:spPr>
          <a:xfrm>
            <a:off x="6484597" y="157729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3</a:t>
            </a:r>
            <a:endParaRPr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A2050E-5292-4F34-7631-0FE4B046AC7A}"/>
              </a:ext>
            </a:extLst>
          </p:cNvPr>
          <p:cNvSpPr txBox="1"/>
          <p:nvPr/>
        </p:nvSpPr>
        <p:spPr>
          <a:xfrm>
            <a:off x="5803385" y="2336244"/>
            <a:ext cx="166411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lang="en-IN" sz="1300" b="1" dirty="0"/>
              <a:t>Priority Management</a:t>
            </a:r>
            <a:endParaRPr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C3F8E4-2BAC-FC0A-1682-0156742ADBF2}"/>
              </a:ext>
            </a:extLst>
          </p:cNvPr>
          <p:cNvSpPr txBox="1"/>
          <p:nvPr/>
        </p:nvSpPr>
        <p:spPr>
          <a:xfrm>
            <a:off x="5709447" y="2621906"/>
            <a:ext cx="19540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AI prioritizes complaints as High, Low, Medium by urgency and impact.</a:t>
            </a:r>
            <a:endParaRPr sz="1400" dirty="0"/>
          </a:p>
        </p:txBody>
      </p:sp>
      <p:cxnSp>
        <p:nvCxnSpPr>
          <p:cNvPr id="113" name="Connector 13">
            <a:extLst>
              <a:ext uri="{FF2B5EF4-FFF2-40B4-BE49-F238E27FC236}">
                <a16:creationId xmlns:a16="http://schemas.microsoft.com/office/drawing/2014/main" id="{A42951BF-4D7C-2D94-D57B-DF04E11D2804}"/>
              </a:ext>
            </a:extLst>
          </p:cNvPr>
          <p:cNvCxnSpPr>
            <a:cxnSpLocks/>
            <a:stCxn id="93" idx="6"/>
            <a:endCxn id="15" idx="2"/>
          </p:cNvCxnSpPr>
          <p:nvPr/>
        </p:nvCxnSpPr>
        <p:spPr>
          <a:xfrm>
            <a:off x="7024060" y="1764744"/>
            <a:ext cx="1557521" cy="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3">
            <a:extLst>
              <a:ext uri="{FF2B5EF4-FFF2-40B4-BE49-F238E27FC236}">
                <a16:creationId xmlns:a16="http://schemas.microsoft.com/office/drawing/2014/main" id="{9E4F14A9-F6EB-6E7F-F809-4D9CF6315155}"/>
              </a:ext>
            </a:extLst>
          </p:cNvPr>
          <p:cNvCxnSpPr>
            <a:cxnSpLocks/>
          </p:cNvCxnSpPr>
          <p:nvPr/>
        </p:nvCxnSpPr>
        <p:spPr>
          <a:xfrm>
            <a:off x="11122588" y="1751028"/>
            <a:ext cx="0" cy="2728109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">
            <a:extLst>
              <a:ext uri="{FF2B5EF4-FFF2-40B4-BE49-F238E27FC236}">
                <a16:creationId xmlns:a16="http://schemas.microsoft.com/office/drawing/2014/main" id="{AAFC0C70-88AC-C2E3-6A51-7F12F24E65B9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9559989" y="4447960"/>
            <a:ext cx="1562599" cy="5846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DBBD9405-F3AF-0B01-922A-753C14A22AAE}"/>
              </a:ext>
            </a:extLst>
          </p:cNvPr>
          <p:cNvSpPr/>
          <p:nvPr/>
        </p:nvSpPr>
        <p:spPr>
          <a:xfrm>
            <a:off x="1736958" y="4059340"/>
            <a:ext cx="777240" cy="777240"/>
          </a:xfrm>
          <a:prstGeom prst="ellipse">
            <a:avLst/>
          </a:prstGeom>
          <a:solidFill>
            <a:srgbClr val="439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10D62CF-D64A-7F5A-E33D-C20DC161D841}"/>
              </a:ext>
            </a:extLst>
          </p:cNvPr>
          <p:cNvSpPr txBox="1"/>
          <p:nvPr/>
        </p:nvSpPr>
        <p:spPr>
          <a:xfrm>
            <a:off x="1970832" y="424533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8</a:t>
            </a:r>
            <a:endParaRPr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2795B92-40BD-3313-8E6E-F5E60C9AE6DD}"/>
              </a:ext>
            </a:extLst>
          </p:cNvPr>
          <p:cNvSpPr txBox="1"/>
          <p:nvPr/>
        </p:nvSpPr>
        <p:spPr>
          <a:xfrm>
            <a:off x="1699276" y="5004284"/>
            <a:ext cx="87633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lang="en-IN" dirty="0"/>
              <a:t> Feedback</a:t>
            </a:r>
            <a:endParaRPr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F8FF3DF-F570-1DF1-E4CE-8FEA3E55B08D}"/>
              </a:ext>
            </a:extLst>
          </p:cNvPr>
          <p:cNvSpPr txBox="1"/>
          <p:nvPr/>
        </p:nvSpPr>
        <p:spPr>
          <a:xfrm>
            <a:off x="1350157" y="5300407"/>
            <a:ext cx="16226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Citizen rates the service and shares feedback.</a:t>
            </a:r>
            <a:endParaRPr sz="1400" dirty="0"/>
          </a:p>
        </p:txBody>
      </p:sp>
      <p:cxnSp>
        <p:nvCxnSpPr>
          <p:cNvPr id="155" name="Connector 23">
            <a:extLst>
              <a:ext uri="{FF2B5EF4-FFF2-40B4-BE49-F238E27FC236}">
                <a16:creationId xmlns:a16="http://schemas.microsoft.com/office/drawing/2014/main" id="{A82DA341-8543-600C-1063-86835477BF4B}"/>
              </a:ext>
            </a:extLst>
          </p:cNvPr>
          <p:cNvCxnSpPr>
            <a:cxnSpLocks/>
            <a:stCxn id="138" idx="6"/>
            <a:endCxn id="30" idx="2"/>
          </p:cNvCxnSpPr>
          <p:nvPr/>
        </p:nvCxnSpPr>
        <p:spPr>
          <a:xfrm>
            <a:off x="2514198" y="4447960"/>
            <a:ext cx="1324822" cy="2786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8EA14D11-A81C-88C5-818C-DDB80212B32B}"/>
              </a:ext>
            </a:extLst>
          </p:cNvPr>
          <p:cNvSpPr/>
          <p:nvPr/>
        </p:nvSpPr>
        <p:spPr>
          <a:xfrm>
            <a:off x="6224106" y="4100815"/>
            <a:ext cx="777240" cy="777240"/>
          </a:xfrm>
          <a:prstGeom prst="ellipse">
            <a:avLst/>
          </a:prstGeom>
          <a:solidFill>
            <a:srgbClr val="E6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558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>
            <a:extLst>
              <a:ext uri="{FF2B5EF4-FFF2-40B4-BE49-F238E27FC236}">
                <a16:creationId xmlns:a16="http://schemas.microsoft.com/office/drawing/2014/main" id="{2BE0FE1E-86A1-B59A-E013-DF7054CD0F2A}"/>
              </a:ext>
            </a:extLst>
          </p:cNvPr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2600" dirty="0"/>
          </a:p>
        </p:txBody>
      </p:sp>
      <p:sp>
        <p:nvSpPr>
          <p:cNvPr id="79" name="Text 1">
            <a:extLst>
              <a:ext uri="{FF2B5EF4-FFF2-40B4-BE49-F238E27FC236}">
                <a16:creationId xmlns:a16="http://schemas.microsoft.com/office/drawing/2014/main" id="{702E771D-D42B-CBB0-377C-515680DADC51}"/>
              </a:ext>
            </a:extLst>
          </p:cNvPr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Layered enterprise architecture powering CivicPulse</a:t>
            </a:r>
            <a:endParaRPr lang="en-US" sz="1250" dirty="0"/>
          </a:p>
        </p:txBody>
      </p:sp>
      <p:sp>
        <p:nvSpPr>
          <p:cNvPr id="81" name="Shape 2">
            <a:extLst>
              <a:ext uri="{FF2B5EF4-FFF2-40B4-BE49-F238E27FC236}">
                <a16:creationId xmlns:a16="http://schemas.microsoft.com/office/drawing/2014/main" id="{E66AA800-D267-3615-A816-29B8A351FD33}"/>
              </a:ext>
            </a:extLst>
          </p:cNvPr>
          <p:cNvSpPr/>
          <p:nvPr/>
        </p:nvSpPr>
        <p:spPr>
          <a:xfrm>
            <a:off x="548640" y="150876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8BBD6A7F-005D-FDF1-B90F-E6934BCC1A5E}"/>
              </a:ext>
            </a:extLst>
          </p:cNvPr>
          <p:cNvSpPr/>
          <p:nvPr/>
        </p:nvSpPr>
        <p:spPr>
          <a:xfrm>
            <a:off x="548640" y="1508760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981BBD58-812F-B55B-8465-04121B0B3E01}"/>
              </a:ext>
            </a:extLst>
          </p:cNvPr>
          <p:cNvSpPr/>
          <p:nvPr/>
        </p:nvSpPr>
        <p:spPr>
          <a:xfrm>
            <a:off x="731520" y="1508760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250" dirty="0"/>
          </a:p>
        </p:txBody>
      </p:sp>
      <p:pic>
        <p:nvPicPr>
          <p:cNvPr id="87" name="Image 0" descr="/home/claude/civicpulse/icon_react.png">
            <a:extLst>
              <a:ext uri="{FF2B5EF4-FFF2-40B4-BE49-F238E27FC236}">
                <a16:creationId xmlns:a16="http://schemas.microsoft.com/office/drawing/2014/main" id="{EA42390E-BA08-0026-DC78-09511B2D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801368"/>
            <a:ext cx="310896" cy="310896"/>
          </a:xfrm>
          <a:prstGeom prst="rect">
            <a:avLst/>
          </a:prstGeom>
        </p:spPr>
      </p:pic>
      <p:sp>
        <p:nvSpPr>
          <p:cNvPr id="89" name="Text 5">
            <a:extLst>
              <a:ext uri="{FF2B5EF4-FFF2-40B4-BE49-F238E27FC236}">
                <a16:creationId xmlns:a16="http://schemas.microsoft.com/office/drawing/2014/main" id="{1C7CA564-E89C-2BA3-CFE0-5705CB16E8A0}"/>
              </a:ext>
            </a:extLst>
          </p:cNvPr>
          <p:cNvSpPr/>
          <p:nvPr/>
        </p:nvSpPr>
        <p:spPr>
          <a:xfrm>
            <a:off x="3465576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 / Angular</a:t>
            </a:r>
            <a:endParaRPr lang="en-US" sz="1150" dirty="0"/>
          </a:p>
        </p:txBody>
      </p:sp>
      <p:pic>
        <p:nvPicPr>
          <p:cNvPr id="91" name="Image 1" descr="/home/claude/civicpulse/icon_language.png">
            <a:extLst>
              <a:ext uri="{FF2B5EF4-FFF2-40B4-BE49-F238E27FC236}">
                <a16:creationId xmlns:a16="http://schemas.microsoft.com/office/drawing/2014/main" id="{6192B0DF-08A2-E8D2-E2B4-FE16E648B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48" y="1801368"/>
            <a:ext cx="310896" cy="310896"/>
          </a:xfrm>
          <a:prstGeom prst="rect">
            <a:avLst/>
          </a:prstGeom>
        </p:spPr>
      </p:pic>
      <p:sp>
        <p:nvSpPr>
          <p:cNvPr id="93" name="Text 6">
            <a:extLst>
              <a:ext uri="{FF2B5EF4-FFF2-40B4-BE49-F238E27FC236}">
                <a16:creationId xmlns:a16="http://schemas.microsoft.com/office/drawing/2014/main" id="{0346E999-FD95-5FF2-E5E8-D45063C26B8C}"/>
              </a:ext>
            </a:extLst>
          </p:cNvPr>
          <p:cNvSpPr/>
          <p:nvPr/>
        </p:nvSpPr>
        <p:spPr>
          <a:xfrm>
            <a:off x="7641184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UI</a:t>
            </a:r>
            <a:endParaRPr lang="en-US" sz="1150" dirty="0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0A33039D-418A-660E-CD65-C6A1633E2CFA}"/>
              </a:ext>
            </a:extLst>
          </p:cNvPr>
          <p:cNvSpPr/>
          <p:nvPr/>
        </p:nvSpPr>
        <p:spPr>
          <a:xfrm>
            <a:off x="548640" y="247802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97" name="Shape 8">
            <a:extLst>
              <a:ext uri="{FF2B5EF4-FFF2-40B4-BE49-F238E27FC236}">
                <a16:creationId xmlns:a16="http://schemas.microsoft.com/office/drawing/2014/main" id="{EB50977C-9AAF-7D17-B95F-A08D5E952BDA}"/>
              </a:ext>
            </a:extLst>
          </p:cNvPr>
          <p:cNvSpPr/>
          <p:nvPr/>
        </p:nvSpPr>
        <p:spPr>
          <a:xfrm>
            <a:off x="548640" y="2478024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99" name="Text 9">
            <a:extLst>
              <a:ext uri="{FF2B5EF4-FFF2-40B4-BE49-F238E27FC236}">
                <a16:creationId xmlns:a16="http://schemas.microsoft.com/office/drawing/2014/main" id="{65E06564-76D3-0391-286F-BE44D7585A82}"/>
              </a:ext>
            </a:extLst>
          </p:cNvPr>
          <p:cNvSpPr/>
          <p:nvPr/>
        </p:nvSpPr>
        <p:spPr>
          <a:xfrm>
            <a:off x="731520" y="2478024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250" dirty="0"/>
          </a:p>
        </p:txBody>
      </p:sp>
      <p:pic>
        <p:nvPicPr>
          <p:cNvPr id="101" name="Image 2" descr="/home/claude/civicpulse/icon_java.png">
            <a:extLst>
              <a:ext uri="{FF2B5EF4-FFF2-40B4-BE49-F238E27FC236}">
                <a16:creationId xmlns:a16="http://schemas.microsoft.com/office/drawing/2014/main" id="{11085F3E-EBB5-D081-B24E-545424D44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770632"/>
            <a:ext cx="310896" cy="310896"/>
          </a:xfrm>
          <a:prstGeom prst="rect">
            <a:avLst/>
          </a:prstGeom>
        </p:spPr>
      </p:pic>
      <p:sp>
        <p:nvSpPr>
          <p:cNvPr id="103" name="Text 10">
            <a:extLst>
              <a:ext uri="{FF2B5EF4-FFF2-40B4-BE49-F238E27FC236}">
                <a16:creationId xmlns:a16="http://schemas.microsoft.com/office/drawing/2014/main" id="{1A05B7DB-9813-E0CB-7B06-B3EFDF78BE1A}"/>
              </a:ext>
            </a:extLst>
          </p:cNvPr>
          <p:cNvSpPr/>
          <p:nvPr/>
        </p:nvSpPr>
        <p:spPr>
          <a:xfrm>
            <a:off x="3465576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/ Spring MVC</a:t>
            </a:r>
            <a:endParaRPr lang="en-US" sz="1150" dirty="0"/>
          </a:p>
        </p:txBody>
      </p:sp>
      <p:pic>
        <p:nvPicPr>
          <p:cNvPr id="105" name="Image 3" descr="/home/claude/civicpulse/icon_integration.png">
            <a:extLst>
              <a:ext uri="{FF2B5EF4-FFF2-40B4-BE49-F238E27FC236}">
                <a16:creationId xmlns:a16="http://schemas.microsoft.com/office/drawing/2014/main" id="{4C97F97C-DAC4-715D-D6AB-237EE2995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848" y="2770632"/>
            <a:ext cx="310896" cy="310896"/>
          </a:xfrm>
          <a:prstGeom prst="rect">
            <a:avLst/>
          </a:prstGeom>
        </p:spPr>
      </p:pic>
      <p:sp>
        <p:nvSpPr>
          <p:cNvPr id="107" name="Text 11">
            <a:extLst>
              <a:ext uri="{FF2B5EF4-FFF2-40B4-BE49-F238E27FC236}">
                <a16:creationId xmlns:a16="http://schemas.microsoft.com/office/drawing/2014/main" id="{D1F40216-D494-C85E-ADBA-003E5F03F92F}"/>
              </a:ext>
            </a:extLst>
          </p:cNvPr>
          <p:cNvSpPr/>
          <p:nvPr/>
        </p:nvSpPr>
        <p:spPr>
          <a:xfrm>
            <a:off x="7641184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APIs + Swagger/OpenAPI</a:t>
            </a:r>
            <a:endParaRPr lang="en-US" sz="1150" dirty="0"/>
          </a:p>
        </p:txBody>
      </p:sp>
      <p:sp>
        <p:nvSpPr>
          <p:cNvPr id="109" name="Shape 12">
            <a:extLst>
              <a:ext uri="{FF2B5EF4-FFF2-40B4-BE49-F238E27FC236}">
                <a16:creationId xmlns:a16="http://schemas.microsoft.com/office/drawing/2014/main" id="{09FA5099-87A8-818E-3892-2B82D54B0F41}"/>
              </a:ext>
            </a:extLst>
          </p:cNvPr>
          <p:cNvSpPr/>
          <p:nvPr/>
        </p:nvSpPr>
        <p:spPr>
          <a:xfrm>
            <a:off x="548640" y="344728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44678D81-AB95-083A-7F4C-9586C5C45310}"/>
              </a:ext>
            </a:extLst>
          </p:cNvPr>
          <p:cNvSpPr/>
          <p:nvPr/>
        </p:nvSpPr>
        <p:spPr>
          <a:xfrm>
            <a:off x="548640" y="3447288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13" name="Text 14">
            <a:extLst>
              <a:ext uri="{FF2B5EF4-FFF2-40B4-BE49-F238E27FC236}">
                <a16:creationId xmlns:a16="http://schemas.microsoft.com/office/drawing/2014/main" id="{315BEC55-822E-C161-58CB-127BD071E10A}"/>
              </a:ext>
            </a:extLst>
          </p:cNvPr>
          <p:cNvSpPr/>
          <p:nvPr/>
        </p:nvSpPr>
        <p:spPr>
          <a:xfrm>
            <a:off x="731520" y="344728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Layer</a:t>
            </a:r>
            <a:endParaRPr lang="en-US" sz="1250" dirty="0"/>
          </a:p>
        </p:txBody>
      </p:sp>
      <p:pic>
        <p:nvPicPr>
          <p:cNvPr id="115" name="Image 4" descr="/home/claude/civicpulse/icon_security.png">
            <a:extLst>
              <a:ext uri="{FF2B5EF4-FFF2-40B4-BE49-F238E27FC236}">
                <a16:creationId xmlns:a16="http://schemas.microsoft.com/office/drawing/2014/main" id="{066F94E7-0FA3-2955-5B4B-784D85C19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3739896"/>
            <a:ext cx="310896" cy="310896"/>
          </a:xfrm>
          <a:prstGeom prst="rect">
            <a:avLst/>
          </a:prstGeom>
        </p:spPr>
      </p:pic>
      <p:sp>
        <p:nvSpPr>
          <p:cNvPr id="117" name="Text 15">
            <a:extLst>
              <a:ext uri="{FF2B5EF4-FFF2-40B4-BE49-F238E27FC236}">
                <a16:creationId xmlns:a16="http://schemas.microsoft.com/office/drawing/2014/main" id="{97D70AB2-4351-F96F-7C19-BF83B86DC66B}"/>
              </a:ext>
            </a:extLst>
          </p:cNvPr>
          <p:cNvSpPr/>
          <p:nvPr/>
        </p:nvSpPr>
        <p:spPr>
          <a:xfrm>
            <a:off x="3465576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Security + JWT / OAuth2</a:t>
            </a:r>
            <a:endParaRPr lang="en-US" sz="1150" dirty="0"/>
          </a:p>
        </p:txBody>
      </p:sp>
      <p:pic>
        <p:nvPicPr>
          <p:cNvPr id="119" name="Image 5" descr="/home/claude/civicpulse/icon_microservices.png">
            <a:extLst>
              <a:ext uri="{FF2B5EF4-FFF2-40B4-BE49-F238E27FC236}">
                <a16:creationId xmlns:a16="http://schemas.microsoft.com/office/drawing/2014/main" id="{42D05673-BB63-11FD-8681-247251F97F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848" y="3739896"/>
            <a:ext cx="310896" cy="310896"/>
          </a:xfrm>
          <a:prstGeom prst="rect">
            <a:avLst/>
          </a:prstGeom>
        </p:spPr>
      </p:pic>
      <p:sp>
        <p:nvSpPr>
          <p:cNvPr id="121" name="Text 16">
            <a:extLst>
              <a:ext uri="{FF2B5EF4-FFF2-40B4-BE49-F238E27FC236}">
                <a16:creationId xmlns:a16="http://schemas.microsoft.com/office/drawing/2014/main" id="{50AA72CC-FC21-0CCB-845C-2B42DD880E91}"/>
              </a:ext>
            </a:extLst>
          </p:cNvPr>
          <p:cNvSpPr/>
          <p:nvPr/>
        </p:nvSpPr>
        <p:spPr>
          <a:xfrm>
            <a:off x="7641184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123" name="Shape 17">
            <a:extLst>
              <a:ext uri="{FF2B5EF4-FFF2-40B4-BE49-F238E27FC236}">
                <a16:creationId xmlns:a16="http://schemas.microsoft.com/office/drawing/2014/main" id="{4F8632E9-26F7-C5EA-A344-47539400465C}"/>
              </a:ext>
            </a:extLst>
          </p:cNvPr>
          <p:cNvSpPr/>
          <p:nvPr/>
        </p:nvSpPr>
        <p:spPr>
          <a:xfrm>
            <a:off x="548640" y="441655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25" name="Shape 18">
            <a:extLst>
              <a:ext uri="{FF2B5EF4-FFF2-40B4-BE49-F238E27FC236}">
                <a16:creationId xmlns:a16="http://schemas.microsoft.com/office/drawing/2014/main" id="{09D4E751-FA83-0C29-067B-E4B855542349}"/>
              </a:ext>
            </a:extLst>
          </p:cNvPr>
          <p:cNvSpPr/>
          <p:nvPr/>
        </p:nvSpPr>
        <p:spPr>
          <a:xfrm>
            <a:off x="548640" y="4416552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DEBEFA6A-2424-4214-D795-BFB820939278}"/>
              </a:ext>
            </a:extLst>
          </p:cNvPr>
          <p:cNvSpPr/>
          <p:nvPr/>
        </p:nvSpPr>
        <p:spPr>
          <a:xfrm>
            <a:off x="731520" y="441655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Messaging Layer</a:t>
            </a:r>
            <a:endParaRPr lang="en-US" sz="1250" dirty="0"/>
          </a:p>
        </p:txBody>
      </p:sp>
      <p:pic>
        <p:nvPicPr>
          <p:cNvPr id="129" name="Image 6" descr="/home/claude/civicpulse/icon_database.png">
            <a:extLst>
              <a:ext uri="{FF2B5EF4-FFF2-40B4-BE49-F238E27FC236}">
                <a16:creationId xmlns:a16="http://schemas.microsoft.com/office/drawing/2014/main" id="{CBECB1E9-2628-2EF3-D19A-409E760810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4709160"/>
            <a:ext cx="310896" cy="310896"/>
          </a:xfrm>
          <a:prstGeom prst="rect">
            <a:avLst/>
          </a:prstGeom>
        </p:spPr>
      </p:pic>
      <p:sp>
        <p:nvSpPr>
          <p:cNvPr id="131" name="Text 20">
            <a:extLst>
              <a:ext uri="{FF2B5EF4-FFF2-40B4-BE49-F238E27FC236}">
                <a16:creationId xmlns:a16="http://schemas.microsoft.com/office/drawing/2014/main" id="{69BF3361-DD53-587A-905B-3562F72F9872}"/>
              </a:ext>
            </a:extLst>
          </p:cNvPr>
          <p:cNvSpPr/>
          <p:nvPr/>
        </p:nvSpPr>
        <p:spPr>
          <a:xfrm>
            <a:off x="3465576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Hibernate/JPA → MySQL / PostgreSQL, Redis</a:t>
            </a:r>
            <a:endParaRPr lang="en-US" sz="1150" dirty="0"/>
          </a:p>
        </p:txBody>
      </p:sp>
      <p:pic>
        <p:nvPicPr>
          <p:cNvPr id="133" name="Image 7" descr="/home/claude/civicpulse/icon_server.png">
            <a:extLst>
              <a:ext uri="{FF2B5EF4-FFF2-40B4-BE49-F238E27FC236}">
                <a16:creationId xmlns:a16="http://schemas.microsoft.com/office/drawing/2014/main" id="{C0C82834-F367-7210-57CF-07AF061160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8848" y="4709160"/>
            <a:ext cx="310896" cy="310896"/>
          </a:xfrm>
          <a:prstGeom prst="rect">
            <a:avLst/>
          </a:prstGeom>
        </p:spPr>
      </p:pic>
      <p:sp>
        <p:nvSpPr>
          <p:cNvPr id="135" name="Text 21">
            <a:extLst>
              <a:ext uri="{FF2B5EF4-FFF2-40B4-BE49-F238E27FC236}">
                <a16:creationId xmlns:a16="http://schemas.microsoft.com/office/drawing/2014/main" id="{61953A61-4D5A-F599-4EEB-37B2D646AA70}"/>
              </a:ext>
            </a:extLst>
          </p:cNvPr>
          <p:cNvSpPr/>
          <p:nvPr/>
        </p:nvSpPr>
        <p:spPr>
          <a:xfrm>
            <a:off x="7641184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Kafka / RabbitMQ</a:t>
            </a:r>
            <a:endParaRPr lang="en-US" sz="1150" dirty="0"/>
          </a:p>
        </p:txBody>
      </p:sp>
      <p:sp>
        <p:nvSpPr>
          <p:cNvPr id="137" name="Shape 22">
            <a:extLst>
              <a:ext uri="{FF2B5EF4-FFF2-40B4-BE49-F238E27FC236}">
                <a16:creationId xmlns:a16="http://schemas.microsoft.com/office/drawing/2014/main" id="{4FFB74CB-1BE4-9C5D-E99B-4DC9BE3802FC}"/>
              </a:ext>
            </a:extLst>
          </p:cNvPr>
          <p:cNvSpPr/>
          <p:nvPr/>
        </p:nvSpPr>
        <p:spPr>
          <a:xfrm>
            <a:off x="548640" y="538581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39" name="Shape 23">
            <a:extLst>
              <a:ext uri="{FF2B5EF4-FFF2-40B4-BE49-F238E27FC236}">
                <a16:creationId xmlns:a16="http://schemas.microsoft.com/office/drawing/2014/main" id="{8E9E6B1D-A4F3-9B2C-B7DD-EF0F2A66F1F8}"/>
              </a:ext>
            </a:extLst>
          </p:cNvPr>
          <p:cNvSpPr/>
          <p:nvPr/>
        </p:nvSpPr>
        <p:spPr>
          <a:xfrm>
            <a:off x="548640" y="5385816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41" name="Text 24">
            <a:extLst>
              <a:ext uri="{FF2B5EF4-FFF2-40B4-BE49-F238E27FC236}">
                <a16:creationId xmlns:a16="http://schemas.microsoft.com/office/drawing/2014/main" id="{221843F7-4E87-1CE4-C455-46C90A6B08DE}"/>
              </a:ext>
            </a:extLst>
          </p:cNvPr>
          <p:cNvSpPr/>
          <p:nvPr/>
        </p:nvSpPr>
        <p:spPr>
          <a:xfrm>
            <a:off x="731520" y="5385816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Layer</a:t>
            </a:r>
            <a:endParaRPr lang="en-US" sz="1250" dirty="0"/>
          </a:p>
        </p:txBody>
      </p:sp>
      <p:pic>
        <p:nvPicPr>
          <p:cNvPr id="143" name="Image 8" descr="/home/claude/civicpulse/icon_cloud.png">
            <a:extLst>
              <a:ext uri="{FF2B5EF4-FFF2-40B4-BE49-F238E27FC236}">
                <a16:creationId xmlns:a16="http://schemas.microsoft.com/office/drawing/2014/main" id="{29A68D2D-1746-0866-3C53-5DD54B591D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3240" y="5678424"/>
            <a:ext cx="310896" cy="310896"/>
          </a:xfrm>
          <a:prstGeom prst="rect">
            <a:avLst/>
          </a:prstGeom>
        </p:spPr>
      </p:pic>
      <p:sp>
        <p:nvSpPr>
          <p:cNvPr id="145" name="Text 25">
            <a:extLst>
              <a:ext uri="{FF2B5EF4-FFF2-40B4-BE49-F238E27FC236}">
                <a16:creationId xmlns:a16="http://schemas.microsoft.com/office/drawing/2014/main" id="{91F3E22C-C580-6D4C-26B5-EBE64B6F2EED}"/>
              </a:ext>
            </a:extLst>
          </p:cNvPr>
          <p:cNvSpPr/>
          <p:nvPr/>
        </p:nvSpPr>
        <p:spPr>
          <a:xfrm>
            <a:off x="3465576" y="5385816"/>
            <a:ext cx="78940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Docker, Kubernetes, Jenkins CI/CD, Cloud (AWS/Azure)</a:t>
            </a:r>
            <a:endParaRPr lang="en-US" sz="1150" dirty="0"/>
          </a:p>
        </p:txBody>
      </p:sp>
      <p:sp>
        <p:nvSpPr>
          <p:cNvPr id="147" name="Text 26">
            <a:extLst>
              <a:ext uri="{FF2B5EF4-FFF2-40B4-BE49-F238E27FC236}">
                <a16:creationId xmlns:a16="http://schemas.microsoft.com/office/drawing/2014/main" id="{FC51F46A-A5CF-FB00-E1D0-1AFC2C115847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149" name="Text 27">
            <a:extLst>
              <a:ext uri="{FF2B5EF4-FFF2-40B4-BE49-F238E27FC236}">
                <a16:creationId xmlns:a16="http://schemas.microsoft.com/office/drawing/2014/main" id="{55713E1A-4341-65E5-2C50-6CA6A15C42BB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1062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data model underlying the CivicPulse schema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55457" y="1053768"/>
            <a:ext cx="2286000" cy="175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55457" y="1070319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54929" y="1288673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301177" y="10469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2799" y="1355044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citizen_id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phone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address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2286000" cy="116128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1440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11556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65776" y="121615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category_id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category_name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475706" y="758952"/>
            <a:ext cx="2286000" cy="1371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91472" y="75422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88318" y="972102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495" y="76336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37776" y="1034218"/>
            <a:ext cx="2029968" cy="11694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jurisdiction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contact_email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51460" y="29421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7462" y="2958085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21" name="Shape 19"/>
          <p:cNvSpPr/>
          <p:nvPr/>
        </p:nvSpPr>
        <p:spPr>
          <a:xfrm>
            <a:off x="267462" y="3076325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" y="2955797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" y="3255539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notification_id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message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channel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sent_at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2651760" cy="29591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4754880" y="26060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807208"/>
            <a:ext cx="2651760" cy="73152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82896" y="2907792"/>
            <a:ext cx="2395728" cy="253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complaint_id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citizen_id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category_id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status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location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0" y="2788920"/>
            <a:ext cx="2286000" cy="1764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0" y="27889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299008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9216" y="3090672"/>
            <a:ext cx="202996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role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828800" y="4937759"/>
            <a:ext cx="2286000" cy="147092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56816" y="5239512"/>
            <a:ext cx="20299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feedback_id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rating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comments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046720" y="4937760"/>
            <a:ext cx="2286000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74736" y="5239512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escalation_id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level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escalated_at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2651760" y="2479286"/>
            <a:ext cx="2560320" cy="126754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6421" y="218888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527048" y="2331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6080760" y="2075688"/>
            <a:ext cx="8923" cy="53035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188366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062472" y="20574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0644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80644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 flipV="1">
            <a:off x="7370064" y="1783080"/>
            <a:ext cx="2078430" cy="822960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51642" y="276527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1191307" y="213969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67728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967728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0" y="3474720"/>
            <a:ext cx="2194560" cy="11887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24328" y="3649717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2578608" y="3474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03904" y="4143651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3" name="Text 61"/>
          <p:cNvSpPr/>
          <p:nvPr/>
        </p:nvSpPr>
        <p:spPr>
          <a:xfrm>
            <a:off x="4489704" y="326882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 flipH="1">
            <a:off x="11089148" y="2130552"/>
            <a:ext cx="31215" cy="64465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71048" y="213055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2640929" y="222199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0469880" y="260604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10779514" y="259847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 flipV="1">
            <a:off x="2971800" y="4764024"/>
            <a:ext cx="1764792" cy="17373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45811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517136" y="4533217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990088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2990088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406640" y="4416552"/>
            <a:ext cx="1508760" cy="52120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6076" y="417423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7402068" y="41148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915400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8915400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 flipV="1">
            <a:off x="10351007" y="4553712"/>
            <a:ext cx="926287" cy="88696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69880" y="41605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11210544" y="452375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0351008" y="54406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10351008" y="54406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48640" y="6656832"/>
            <a:ext cx="146304" cy="109728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85" name="Text 83"/>
          <p:cNvSpPr/>
          <p:nvPr/>
        </p:nvSpPr>
        <p:spPr>
          <a:xfrm>
            <a:off x="731520" y="6547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Primary Key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0" y="6656832"/>
            <a:ext cx="146304" cy="109728"/>
          </a:xfrm>
          <a:prstGeom prst="rect">
            <a:avLst/>
          </a:prstGeom>
          <a:solidFill>
            <a:srgbClr val="946200"/>
          </a:solidFill>
          <a:ln/>
        </p:spPr>
      </p:sp>
      <p:sp>
        <p:nvSpPr>
          <p:cNvPr id="87" name="Text 85"/>
          <p:cNvSpPr/>
          <p:nvPr/>
        </p:nvSpPr>
        <p:spPr>
          <a:xfrm>
            <a:off x="2468880" y="6547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Foreign Key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931920" y="6547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M  — one-to-one or one-to-many cardinality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111" name="Text 64">
            <a:extLst>
              <a:ext uri="{FF2B5EF4-FFF2-40B4-BE49-F238E27FC236}">
                <a16:creationId xmlns:a16="http://schemas.microsoft.com/office/drawing/2014/main" id="{0C41B955-EAED-5D68-64B6-6A90BAE87BD0}"/>
              </a:ext>
            </a:extLst>
          </p:cNvPr>
          <p:cNvSpPr/>
          <p:nvPr/>
        </p:nvSpPr>
        <p:spPr>
          <a:xfrm>
            <a:off x="9198768" y="159105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E900403B-8D9A-5F0A-0B96-A9FCE4A4B6BB}"/>
              </a:ext>
            </a:extLst>
          </p:cNvPr>
          <p:cNvSpPr txBox="1"/>
          <p:nvPr/>
        </p:nvSpPr>
        <p:spPr>
          <a:xfrm>
            <a:off x="621792" y="361188"/>
            <a:ext cx="30556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Expected Impact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92CBDAF-0BF0-1932-C8BC-64ABDDB2E7EA}"/>
              </a:ext>
            </a:extLst>
          </p:cNvPr>
          <p:cNvSpPr txBox="1"/>
          <p:nvPr/>
        </p:nvSpPr>
        <p:spPr>
          <a:xfrm>
            <a:off x="621792" y="841248"/>
            <a:ext cx="617348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382"/>
                </a:solidFill>
              </a:defRPr>
            </a:pPr>
            <a:r>
              <a:rPr sz="1250" dirty="0">
                <a:latin typeface="Georgia" panose="02040502050405020303" pitchFamily="18" charset="0"/>
              </a:rPr>
              <a:t>The platform creates value for citizens, government teams and the wider community.</a:t>
            </a:r>
          </a:p>
        </p:txBody>
      </p:sp>
      <p:sp>
        <p:nvSpPr>
          <p:cNvPr id="91" name="Rounded Rectangle 4">
            <a:extLst>
              <a:ext uri="{FF2B5EF4-FFF2-40B4-BE49-F238E27FC236}">
                <a16:creationId xmlns:a16="http://schemas.microsoft.com/office/drawing/2014/main" id="{EC9E23BF-4455-1E75-50E0-972937B404AD}"/>
              </a:ext>
            </a:extLst>
          </p:cNvPr>
          <p:cNvSpPr/>
          <p:nvPr/>
        </p:nvSpPr>
        <p:spPr>
          <a:xfrm>
            <a:off x="731520" y="141732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306D8A-4A6C-5C41-A427-60AD330D80F9}"/>
              </a:ext>
            </a:extLst>
          </p:cNvPr>
          <p:cNvSpPr txBox="1"/>
          <p:nvPr/>
        </p:nvSpPr>
        <p:spPr>
          <a:xfrm>
            <a:off x="1828851" y="1842015"/>
            <a:ext cx="26234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IN" sz="1600" b="1" dirty="0"/>
              <a:t> Faster Complaint Resolution</a:t>
            </a:r>
            <a:endParaRPr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C30417B-ACD9-30A6-4F93-E41DCD8AB6C8}"/>
              </a:ext>
            </a:extLst>
          </p:cNvPr>
          <p:cNvSpPr txBox="1"/>
          <p:nvPr/>
        </p:nvSpPr>
        <p:spPr>
          <a:xfrm>
            <a:off x="1051560" y="2156981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Reduce response and resolution time through AI-based prioritization and automated workflows.</a:t>
            </a:r>
            <a:endParaRPr sz="1600" dirty="0"/>
          </a:p>
        </p:txBody>
      </p:sp>
      <p:sp>
        <p:nvSpPr>
          <p:cNvPr id="99" name="Rounded Rectangle 8">
            <a:extLst>
              <a:ext uri="{FF2B5EF4-FFF2-40B4-BE49-F238E27FC236}">
                <a16:creationId xmlns:a16="http://schemas.microsoft.com/office/drawing/2014/main" id="{85C36FB5-1D92-1E8A-E275-9E5F5B669A56}"/>
              </a:ext>
            </a:extLst>
          </p:cNvPr>
          <p:cNvSpPr/>
          <p:nvPr/>
        </p:nvSpPr>
        <p:spPr>
          <a:xfrm>
            <a:off x="6263640" y="141732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6E3242F-D2E8-872C-85C0-5F5D61D51AE0}"/>
              </a:ext>
            </a:extLst>
          </p:cNvPr>
          <p:cNvSpPr txBox="1"/>
          <p:nvPr/>
        </p:nvSpPr>
        <p:spPr>
          <a:xfrm>
            <a:off x="7398757" y="1517565"/>
            <a:ext cx="21869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IN" sz="1600" b="1" dirty="0"/>
              <a:t>Improved Transparency</a:t>
            </a:r>
            <a:endParaRPr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9061B73-9C36-E200-8CBF-5F6C5154C423}"/>
              </a:ext>
            </a:extLst>
          </p:cNvPr>
          <p:cNvSpPr txBox="1"/>
          <p:nvPr/>
        </p:nvSpPr>
        <p:spPr>
          <a:xfrm>
            <a:off x="6583679" y="213055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Citizens can track complaint status in real time, increasing trust in governance.</a:t>
            </a:r>
            <a:endParaRPr sz="1600" dirty="0"/>
          </a:p>
        </p:txBody>
      </p:sp>
      <p:sp>
        <p:nvSpPr>
          <p:cNvPr id="107" name="Rounded Rectangle 12">
            <a:extLst>
              <a:ext uri="{FF2B5EF4-FFF2-40B4-BE49-F238E27FC236}">
                <a16:creationId xmlns:a16="http://schemas.microsoft.com/office/drawing/2014/main" id="{F6D3D2E5-5847-EE83-ACC1-94E37ADC962E}"/>
              </a:ext>
            </a:extLst>
          </p:cNvPr>
          <p:cNvSpPr/>
          <p:nvPr/>
        </p:nvSpPr>
        <p:spPr>
          <a:xfrm>
            <a:off x="731520" y="36576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1D28480-7D95-46F2-4C10-B243D0CACC13}"/>
              </a:ext>
            </a:extLst>
          </p:cNvPr>
          <p:cNvSpPr txBox="1"/>
          <p:nvPr/>
        </p:nvSpPr>
        <p:spPr>
          <a:xfrm>
            <a:off x="1051560" y="437083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Analytics and dashboards help administrators monitor performance and identify trends.</a:t>
            </a:r>
            <a:endParaRPr sz="1600" dirty="0"/>
          </a:p>
        </p:txBody>
      </p:sp>
      <p:sp>
        <p:nvSpPr>
          <p:cNvPr id="115" name="Rounded Rectangle 16">
            <a:extLst>
              <a:ext uri="{FF2B5EF4-FFF2-40B4-BE49-F238E27FC236}">
                <a16:creationId xmlns:a16="http://schemas.microsoft.com/office/drawing/2014/main" id="{FC11CC3F-A512-E729-EC09-8A92EFFAB694}"/>
              </a:ext>
            </a:extLst>
          </p:cNvPr>
          <p:cNvSpPr/>
          <p:nvPr/>
        </p:nvSpPr>
        <p:spPr>
          <a:xfrm>
            <a:off x="6263640" y="36576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5C8CFA-597A-E6E2-C1CD-1705E4DBAC6A}"/>
              </a:ext>
            </a:extLst>
          </p:cNvPr>
          <p:cNvSpPr txBox="1"/>
          <p:nvPr/>
        </p:nvSpPr>
        <p:spPr>
          <a:xfrm>
            <a:off x="6583679" y="437083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Timely updates, quick resolutions, and feedback collection improve the overall citizen experience.</a:t>
            </a:r>
            <a:endParaRPr sz="1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0C31C7B-E2D2-46E8-0D87-1F104AAF75E2}"/>
              </a:ext>
            </a:extLst>
          </p:cNvPr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BB35CD3-BE0B-666B-E14C-5592847E5782}"/>
              </a:ext>
            </a:extLst>
          </p:cNvPr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796"/>
                </a:solidFill>
              </a:defRPr>
            </a:pPr>
            <a:r>
              <a:t>8</a:t>
            </a:r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88D5CA2C-BF38-6C67-6FFE-AF424A07991A}"/>
              </a:ext>
            </a:extLst>
          </p:cNvPr>
          <p:cNvSpPr/>
          <p:nvPr/>
        </p:nvSpPr>
        <p:spPr>
          <a:xfrm>
            <a:off x="731520" y="1451134"/>
            <a:ext cx="5074920" cy="495535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Faster Complaint Resolution</a:t>
            </a:r>
          </a:p>
        </p:txBody>
      </p:sp>
      <p:sp>
        <p:nvSpPr>
          <p:cNvPr id="129" name="Shape 23">
            <a:extLst>
              <a:ext uri="{FF2B5EF4-FFF2-40B4-BE49-F238E27FC236}">
                <a16:creationId xmlns:a16="http://schemas.microsoft.com/office/drawing/2014/main" id="{F0A5016C-4127-BEA5-19EE-B373FAF9195E}"/>
              </a:ext>
            </a:extLst>
          </p:cNvPr>
          <p:cNvSpPr/>
          <p:nvPr/>
        </p:nvSpPr>
        <p:spPr>
          <a:xfrm>
            <a:off x="6263640" y="3676429"/>
            <a:ext cx="5074920" cy="495535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Enhanced Citizen Satisfaction</a:t>
            </a:r>
          </a:p>
        </p:txBody>
      </p:sp>
      <p:sp>
        <p:nvSpPr>
          <p:cNvPr id="131" name="Shape 8">
            <a:extLst>
              <a:ext uri="{FF2B5EF4-FFF2-40B4-BE49-F238E27FC236}">
                <a16:creationId xmlns:a16="http://schemas.microsoft.com/office/drawing/2014/main" id="{81211BD5-0B68-D09E-214D-B15F93BBD394}"/>
              </a:ext>
            </a:extLst>
          </p:cNvPr>
          <p:cNvSpPr/>
          <p:nvPr/>
        </p:nvSpPr>
        <p:spPr>
          <a:xfrm>
            <a:off x="731521" y="3695596"/>
            <a:ext cx="5074919" cy="514363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Better Decision-Making</a:t>
            </a:r>
          </a:p>
        </p:txBody>
      </p:sp>
      <p:sp>
        <p:nvSpPr>
          <p:cNvPr id="133" name="Shape 8">
            <a:extLst>
              <a:ext uri="{FF2B5EF4-FFF2-40B4-BE49-F238E27FC236}">
                <a16:creationId xmlns:a16="http://schemas.microsoft.com/office/drawing/2014/main" id="{DE627146-3813-1A58-72C0-6B0631349774}"/>
              </a:ext>
            </a:extLst>
          </p:cNvPr>
          <p:cNvSpPr/>
          <p:nvPr/>
        </p:nvSpPr>
        <p:spPr>
          <a:xfrm>
            <a:off x="6263641" y="1441719"/>
            <a:ext cx="5074919" cy="514363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          Improved Transparency</a:t>
            </a:r>
          </a:p>
        </p:txBody>
      </p:sp>
    </p:spTree>
    <p:extLst>
      <p:ext uri="{BB962C8B-B14F-4D97-AF65-F5344CB8AC3E}">
        <p14:creationId xmlns:p14="http://schemas.microsoft.com/office/powerpoint/2010/main" val="3563922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— building responsive, transparent, and intelligent governance,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complaint at a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60A79A1-3D61-0B52-E3B3-6DC03DE466C1}"/>
              </a:ext>
            </a:extLst>
          </p:cNvPr>
          <p:cNvSpPr/>
          <p:nvPr/>
        </p:nvSpPr>
        <p:spPr>
          <a:xfrm>
            <a:off x="-640080" y="448056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5D0BB082-EB35-F041-626D-B9B43D7265CC}"/>
              </a:ext>
            </a:extLst>
          </p:cNvPr>
          <p:cNvSpPr/>
          <p:nvPr/>
        </p:nvSpPr>
        <p:spPr>
          <a:xfrm>
            <a:off x="8662627" y="-851331"/>
            <a:ext cx="4754880" cy="8497601"/>
          </a:xfrm>
          <a:prstGeom prst="ellips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1280</Words>
  <Application>Microsoft Office PowerPoint</Application>
  <PresentationFormat>Widescreen</PresentationFormat>
  <Paragraphs>261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Anshika Varshney</cp:lastModifiedBy>
  <cp:revision>4</cp:revision>
  <dcterms:created xsi:type="dcterms:W3CDTF">2026-07-29T08:48:42Z</dcterms:created>
  <dcterms:modified xsi:type="dcterms:W3CDTF">2026-07-30T10:51:01Z</dcterms:modified>
</cp:coreProperties>
</file>