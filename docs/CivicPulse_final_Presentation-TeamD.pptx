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6" r:id="rId4"/>
    <p:sldId id="267" r:id="rId5"/>
    <p:sldId id="268" r:id="rId6"/>
    <p:sldId id="269" r:id="rId7"/>
    <p:sldId id="259" r:id="rId8"/>
    <p:sldId id="271" r:id="rId9"/>
    <p:sldId id="260" r:id="rId10"/>
    <p:sldId id="264" r:id="rId11"/>
    <p:sldId id="270" r:id="rId12"/>
    <p:sldId id="262" r:id="rId13"/>
    <p:sldId id="265" r:id="rId14"/>
    <p:sldId id="263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91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81" d="100"/>
          <a:sy n="81" d="100"/>
        </p:scale>
        <p:origin x="8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6067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0.png"/><Relationship Id="rId7" Type="http://schemas.openxmlformats.org/officeDocument/2006/relationships/image" Target="../media/image1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572000"/>
            <a:ext cx="3840480" cy="384048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206240"/>
            <a:ext cx="2377440" cy="2377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CIVIC GOVERNANCE • DIGITAL PLATFORM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9601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CivicPulse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7D3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Governance Management Platform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416052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3A3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unified system connecting citizens, departments, and administrators through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3A3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intelligent complaint management and responsive service delivery.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5806440"/>
            <a:ext cx="914400" cy="0"/>
          </a:xfrm>
          <a:prstGeom prst="line">
            <a:avLst/>
          </a:prstGeom>
          <a:noFill/>
          <a:ln w="381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800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7D3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on the Java Enterprise Stack</a:t>
            </a:r>
            <a:endParaRPr 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0B395B-7863-4391-0290-A24B01F2AE31}"/>
              </a:ext>
            </a:extLst>
          </p:cNvPr>
          <p:cNvSpPr txBox="1"/>
          <p:nvPr/>
        </p:nvSpPr>
        <p:spPr>
          <a:xfrm>
            <a:off x="957756" y="5892523"/>
            <a:ext cx="804829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ABED2"/>
                </a:solidFill>
              </a:defRPr>
            </a:pPr>
            <a:r>
              <a:rPr lang="en-IN" sz="1100" dirty="0"/>
              <a:t>Presented by</a:t>
            </a:r>
          </a:p>
          <a:p>
            <a:pPr>
              <a:defRPr sz="1900" b="1">
                <a:solidFill>
                  <a:srgbClr val="FFFFFF"/>
                </a:solidFill>
              </a:defRPr>
            </a:pPr>
            <a:r>
              <a:rPr lang="en-IN" sz="1900" dirty="0"/>
              <a:t>Team 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CivicPulse brings together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1264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A4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CivicPulse is an end-to-end smart governance platform that streamlines how citizens raise civic issues and how administrations respond to them. It combines a citizen-facing portal, AI-assisted complaint intelligence, automated escalation, and department-level accountability into one connected system — built for scale on a modern Java enterprise stack.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794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913632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17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94360" y="4407408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Modules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03120" y="3794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  <a:ln/>
        </p:spPr>
      </p:sp>
      <p:sp>
        <p:nvSpPr>
          <p:cNvPr id="9" name="Text 7"/>
          <p:cNvSpPr/>
          <p:nvPr/>
        </p:nvSpPr>
        <p:spPr>
          <a:xfrm>
            <a:off x="2103120" y="3913632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17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148840" y="4407408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/ AI Capabilities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0" y="3794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3913632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17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24/7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703320" y="4407408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Citizen Access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212080" y="3794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0" y="3913632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17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257800" y="4407408"/>
            <a:ext cx="1325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Java Enterprise Stack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040880" y="1554480"/>
            <a:ext cx="4572000" cy="4572000"/>
          </a:xfrm>
          <a:prstGeom prst="roundRect">
            <a:avLst>
              <a:gd name="adj" fmla="val 2000"/>
            </a:avLst>
          </a:prstGeom>
          <a:solidFill>
            <a:srgbClr val="16233F"/>
          </a:solidFill>
          <a:ln/>
        </p:spPr>
      </p:sp>
      <p:sp>
        <p:nvSpPr>
          <p:cNvPr id="18" name="Text 16"/>
          <p:cNvSpPr/>
          <p:nvPr/>
        </p:nvSpPr>
        <p:spPr>
          <a:xfrm>
            <a:off x="7360920" y="17830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this deck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60920" y="2340864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0" name="Text 18"/>
          <p:cNvSpPr/>
          <p:nvPr/>
        </p:nvSpPr>
        <p:spPr>
          <a:xfrm>
            <a:off x="7635240" y="221284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platform modules (8)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360920" y="2843784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2" name="Text 20"/>
          <p:cNvSpPr/>
          <p:nvPr/>
        </p:nvSpPr>
        <p:spPr>
          <a:xfrm>
            <a:off x="7635240" y="271576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Unique &amp; future-ready features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360920" y="3346704"/>
            <a:ext cx="128016" cy="12801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4" name="Text 22"/>
          <p:cNvSpPr/>
          <p:nvPr/>
        </p:nvSpPr>
        <p:spPr>
          <a:xfrm>
            <a:off x="7635240" y="321868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Java technology stack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360920" y="3931920"/>
            <a:ext cx="3931920" cy="0"/>
          </a:xfrm>
          <a:prstGeom prst="line">
            <a:avLst/>
          </a:prstGeom>
          <a:noFill/>
          <a:ln w="12700">
            <a:solidFill>
              <a:srgbClr val="3145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60920" y="416052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EBBD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Designed for municipalities, urban local bodies, and public-service departments seeking a transparent, responsive citizen-engagement system.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CivicPulse  |  Smart Governance Management Platform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84369D0E-9EDC-328D-A205-24A336B7CA20}"/>
              </a:ext>
            </a:extLst>
          </p:cNvPr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2F297319-14C2-F39F-8F13-B9A1DFB10EE4}"/>
              </a:ext>
            </a:extLst>
          </p:cNvPr>
          <p:cNvSpPr/>
          <p:nvPr/>
        </p:nvSpPr>
        <p:spPr>
          <a:xfrm>
            <a:off x="548640" y="987552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Why CivicPulse is needed</a:t>
            </a:r>
            <a:endParaRPr lang="en-US" sz="14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EE4CDEFF-848A-7B57-C0FD-FCDF94ADE3F9}"/>
              </a:ext>
            </a:extLst>
          </p:cNvPr>
          <p:cNvSpPr/>
          <p:nvPr/>
        </p:nvSpPr>
        <p:spPr>
          <a:xfrm>
            <a:off x="548640" y="1600200"/>
            <a:ext cx="6126480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A4A6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Local governance bodies handle a large volume of citizen issues every day — broken roads, water leakage, garbage, streetlight failures — but most of this is still tracked manually through phone calls and paper registers, leaving citizens with no visibility and departments with no central system.</a:t>
            </a:r>
            <a:endParaRPr lang="en-US" sz="1300" dirty="0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A44E2F4E-0F2B-4F3E-C673-2FE01B509751}"/>
              </a:ext>
            </a:extLst>
          </p:cNvPr>
          <p:cNvSpPr/>
          <p:nvPr/>
        </p:nvSpPr>
        <p:spPr>
          <a:xfrm>
            <a:off x="548640" y="3794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</p:spPr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AE5CC1B8-C2B2-7A0D-45DC-404417D062AE}"/>
              </a:ext>
            </a:extLst>
          </p:cNvPr>
          <p:cNvSpPr/>
          <p:nvPr/>
        </p:nvSpPr>
        <p:spPr>
          <a:xfrm>
            <a:off x="548640" y="3913632"/>
            <a:ext cx="1417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17E7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01</a:t>
            </a:r>
            <a:endParaRPr lang="en-US" sz="220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D1CA8534-5DE5-347F-4092-39510852EA0D}"/>
              </a:ext>
            </a:extLst>
          </p:cNvPr>
          <p:cNvSpPr/>
          <p:nvPr/>
        </p:nvSpPr>
        <p:spPr>
          <a:xfrm>
            <a:off x="594360" y="4407408"/>
            <a:ext cx="1325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No Central Reporting</a:t>
            </a:r>
            <a:endParaRPr lang="en-US" sz="900" dirty="0"/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66379B98-1297-F56A-6376-7BF46B91485C}"/>
              </a:ext>
            </a:extLst>
          </p:cNvPr>
          <p:cNvSpPr/>
          <p:nvPr/>
        </p:nvSpPr>
        <p:spPr>
          <a:xfrm>
            <a:off x="2103120" y="3794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</p:spPr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32709FED-E487-9A03-4195-55150AD8CB6D}"/>
              </a:ext>
            </a:extLst>
          </p:cNvPr>
          <p:cNvSpPr/>
          <p:nvPr/>
        </p:nvSpPr>
        <p:spPr>
          <a:xfrm>
            <a:off x="2103120" y="3913632"/>
            <a:ext cx="1417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17E7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02</a:t>
            </a:r>
            <a:endParaRPr lang="en-US" sz="2200" dirty="0"/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BB728D65-45A3-C4C0-F25E-BBD0C7E82185}"/>
              </a:ext>
            </a:extLst>
          </p:cNvPr>
          <p:cNvSpPr/>
          <p:nvPr/>
        </p:nvSpPr>
        <p:spPr>
          <a:xfrm>
            <a:off x="2148840" y="4407408"/>
            <a:ext cx="1325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Zero Visibility</a:t>
            </a:r>
            <a:endParaRPr lang="en-US" sz="900" dirty="0"/>
          </a:p>
        </p:txBody>
      </p:sp>
      <p:sp>
        <p:nvSpPr>
          <p:cNvPr id="21" name="Shape 9">
            <a:extLst>
              <a:ext uri="{FF2B5EF4-FFF2-40B4-BE49-F238E27FC236}">
                <a16:creationId xmlns:a16="http://schemas.microsoft.com/office/drawing/2014/main" id="{BC60EAE6-CAB3-7251-F6FA-53735D02220E}"/>
              </a:ext>
            </a:extLst>
          </p:cNvPr>
          <p:cNvSpPr/>
          <p:nvPr/>
        </p:nvSpPr>
        <p:spPr>
          <a:xfrm>
            <a:off x="3657600" y="3794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</p:spPr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D8D6FBD8-4B3E-4539-2387-ECE5A7AD3016}"/>
              </a:ext>
            </a:extLst>
          </p:cNvPr>
          <p:cNvSpPr/>
          <p:nvPr/>
        </p:nvSpPr>
        <p:spPr>
          <a:xfrm>
            <a:off x="3657600" y="3913632"/>
            <a:ext cx="1417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17E7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03</a:t>
            </a:r>
            <a:endParaRPr lang="en-US" sz="2200" dirty="0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CE46BED8-DB61-161C-44A0-E51B57865CD2}"/>
              </a:ext>
            </a:extLst>
          </p:cNvPr>
          <p:cNvSpPr/>
          <p:nvPr/>
        </p:nvSpPr>
        <p:spPr>
          <a:xfrm>
            <a:off x="3703320" y="4407408"/>
            <a:ext cx="1325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Slow Assignment</a:t>
            </a:r>
            <a:endParaRPr lang="en-US" sz="900" dirty="0"/>
          </a:p>
        </p:txBody>
      </p:sp>
      <p:sp>
        <p:nvSpPr>
          <p:cNvPr id="27" name="Shape 12">
            <a:extLst>
              <a:ext uri="{FF2B5EF4-FFF2-40B4-BE49-F238E27FC236}">
                <a16:creationId xmlns:a16="http://schemas.microsoft.com/office/drawing/2014/main" id="{14C64804-593D-8569-69A2-2F6AEDD69CEB}"/>
              </a:ext>
            </a:extLst>
          </p:cNvPr>
          <p:cNvSpPr/>
          <p:nvPr/>
        </p:nvSpPr>
        <p:spPr>
          <a:xfrm>
            <a:off x="5212080" y="3794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</p:spPr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A8639B4A-68B3-75C1-0DED-44BD7B14907E}"/>
              </a:ext>
            </a:extLst>
          </p:cNvPr>
          <p:cNvSpPr/>
          <p:nvPr/>
        </p:nvSpPr>
        <p:spPr>
          <a:xfrm>
            <a:off x="5212080" y="3913632"/>
            <a:ext cx="1417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17E7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04</a:t>
            </a:r>
            <a:endParaRPr lang="en-US" sz="2200" dirty="0"/>
          </a:p>
        </p:txBody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971D4FD0-604D-74F0-08DF-B3999884A269}"/>
              </a:ext>
            </a:extLst>
          </p:cNvPr>
          <p:cNvSpPr/>
          <p:nvPr/>
        </p:nvSpPr>
        <p:spPr>
          <a:xfrm>
            <a:off x="5257800" y="4407408"/>
            <a:ext cx="1325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No Data Insight</a:t>
            </a:r>
            <a:endParaRPr lang="en-US" sz="900" dirty="0"/>
          </a:p>
        </p:txBody>
      </p:sp>
      <p:sp>
        <p:nvSpPr>
          <p:cNvPr id="33" name="Shape 15">
            <a:extLst>
              <a:ext uri="{FF2B5EF4-FFF2-40B4-BE49-F238E27FC236}">
                <a16:creationId xmlns:a16="http://schemas.microsoft.com/office/drawing/2014/main" id="{F9E8185C-A9F3-A777-7CE6-704E1CB2F17F}"/>
              </a:ext>
            </a:extLst>
          </p:cNvPr>
          <p:cNvSpPr/>
          <p:nvPr/>
        </p:nvSpPr>
        <p:spPr>
          <a:xfrm>
            <a:off x="7040880" y="1554480"/>
            <a:ext cx="4572000" cy="4572000"/>
          </a:xfrm>
          <a:prstGeom prst="roundRect">
            <a:avLst>
              <a:gd name="adj" fmla="val 2000"/>
            </a:avLst>
          </a:prstGeom>
          <a:solidFill>
            <a:srgbClr val="16233F"/>
          </a:solidFill>
        </p:spPr>
      </p:sp>
      <p:sp>
        <p:nvSpPr>
          <p:cNvPr id="35" name="Text 16">
            <a:extLst>
              <a:ext uri="{FF2B5EF4-FFF2-40B4-BE49-F238E27FC236}">
                <a16:creationId xmlns:a16="http://schemas.microsoft.com/office/drawing/2014/main" id="{1806CDD8-6891-2A64-8246-147C39038EED}"/>
              </a:ext>
            </a:extLst>
          </p:cNvPr>
          <p:cNvSpPr/>
          <p:nvPr/>
        </p:nvSpPr>
        <p:spPr>
          <a:xfrm>
            <a:off x="7360920" y="1783080"/>
            <a:ext cx="3931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The core gaps</a:t>
            </a:r>
            <a:endParaRPr lang="en-US" sz="1300" dirty="0"/>
          </a:p>
        </p:txBody>
      </p:sp>
      <p:sp>
        <p:nvSpPr>
          <p:cNvPr id="37" name="Shape 17">
            <a:extLst>
              <a:ext uri="{FF2B5EF4-FFF2-40B4-BE49-F238E27FC236}">
                <a16:creationId xmlns:a16="http://schemas.microsoft.com/office/drawing/2014/main" id="{6B75A3F9-CFCC-FA98-AF2A-1EDA51742A21}"/>
              </a:ext>
            </a:extLst>
          </p:cNvPr>
          <p:cNvSpPr/>
          <p:nvPr/>
        </p:nvSpPr>
        <p:spPr>
          <a:xfrm>
            <a:off x="7360920" y="2340864"/>
            <a:ext cx="128016" cy="128016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39" name="Text 18">
            <a:extLst>
              <a:ext uri="{FF2B5EF4-FFF2-40B4-BE49-F238E27FC236}">
                <a16:creationId xmlns:a16="http://schemas.microsoft.com/office/drawing/2014/main" id="{CFD0174B-CE67-04DE-BB7A-6FBC7A840040}"/>
              </a:ext>
            </a:extLst>
          </p:cNvPr>
          <p:cNvSpPr/>
          <p:nvPr/>
        </p:nvSpPr>
        <p:spPr>
          <a:xfrm>
            <a:off x="7635240" y="2212848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No single platform for complaints</a:t>
            </a:r>
            <a:endParaRPr lang="en-US" sz="1250" dirty="0"/>
          </a:p>
        </p:txBody>
      </p:sp>
      <p:sp>
        <p:nvSpPr>
          <p:cNvPr id="41" name="Shape 19">
            <a:extLst>
              <a:ext uri="{FF2B5EF4-FFF2-40B4-BE49-F238E27FC236}">
                <a16:creationId xmlns:a16="http://schemas.microsoft.com/office/drawing/2014/main" id="{C4555E64-AB1A-79BC-9FA6-A561AB0A0280}"/>
              </a:ext>
            </a:extLst>
          </p:cNvPr>
          <p:cNvSpPr/>
          <p:nvPr/>
        </p:nvSpPr>
        <p:spPr>
          <a:xfrm>
            <a:off x="7360920" y="2843784"/>
            <a:ext cx="128016" cy="128016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43" name="Text 20">
            <a:extLst>
              <a:ext uri="{FF2B5EF4-FFF2-40B4-BE49-F238E27FC236}">
                <a16:creationId xmlns:a16="http://schemas.microsoft.com/office/drawing/2014/main" id="{76D8B1AF-BB85-060E-9FC8-961BA0B1F0EB}"/>
              </a:ext>
            </a:extLst>
          </p:cNvPr>
          <p:cNvSpPr/>
          <p:nvPr/>
        </p:nvSpPr>
        <p:spPr>
          <a:xfrm>
            <a:off x="7635240" y="2715768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No real-time status visibility</a:t>
            </a:r>
            <a:endParaRPr lang="en-US" sz="1250" dirty="0"/>
          </a:p>
        </p:txBody>
      </p:sp>
      <p:sp>
        <p:nvSpPr>
          <p:cNvPr id="45" name="Shape 21">
            <a:extLst>
              <a:ext uri="{FF2B5EF4-FFF2-40B4-BE49-F238E27FC236}">
                <a16:creationId xmlns:a16="http://schemas.microsoft.com/office/drawing/2014/main" id="{6389DC44-3D1E-0EF0-8654-33579759D5C2}"/>
              </a:ext>
            </a:extLst>
          </p:cNvPr>
          <p:cNvSpPr/>
          <p:nvPr/>
        </p:nvSpPr>
        <p:spPr>
          <a:xfrm>
            <a:off x="7360920" y="3346704"/>
            <a:ext cx="128016" cy="128016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47" name="Text 22">
            <a:extLst>
              <a:ext uri="{FF2B5EF4-FFF2-40B4-BE49-F238E27FC236}">
                <a16:creationId xmlns:a16="http://schemas.microsoft.com/office/drawing/2014/main" id="{CA2B0229-799D-1D96-8807-834FE2B12B6B}"/>
              </a:ext>
            </a:extLst>
          </p:cNvPr>
          <p:cNvSpPr/>
          <p:nvPr/>
        </p:nvSpPr>
        <p:spPr>
          <a:xfrm>
            <a:off x="7635240" y="3218688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No department-level accountability</a:t>
            </a:r>
            <a:endParaRPr lang="en-US" sz="1250" dirty="0"/>
          </a:p>
        </p:txBody>
      </p:sp>
      <p:sp>
        <p:nvSpPr>
          <p:cNvPr id="49" name="Shape 23">
            <a:extLst>
              <a:ext uri="{FF2B5EF4-FFF2-40B4-BE49-F238E27FC236}">
                <a16:creationId xmlns:a16="http://schemas.microsoft.com/office/drawing/2014/main" id="{F1FD58E9-8490-8B23-17A9-447A55F81745}"/>
              </a:ext>
            </a:extLst>
          </p:cNvPr>
          <p:cNvSpPr/>
          <p:nvPr/>
        </p:nvSpPr>
        <p:spPr>
          <a:xfrm>
            <a:off x="7360920" y="3931920"/>
            <a:ext cx="3931920" cy="0"/>
          </a:xfrm>
          <a:prstGeom prst="line">
            <a:avLst/>
          </a:prstGeom>
          <a:noFill/>
          <a:ln w="12700">
            <a:solidFill>
              <a:srgbClr val="31456B"/>
            </a:solidFill>
            <a:prstDash val="solid"/>
          </a:ln>
        </p:spPr>
      </p:sp>
      <p:sp>
        <p:nvSpPr>
          <p:cNvPr id="51" name="Text 24">
            <a:extLst>
              <a:ext uri="{FF2B5EF4-FFF2-40B4-BE49-F238E27FC236}">
                <a16:creationId xmlns:a16="http://schemas.microsoft.com/office/drawing/2014/main" id="{17C7405B-AFEF-2D4D-BC14-404F267886C3}"/>
              </a:ext>
            </a:extLst>
          </p:cNvPr>
          <p:cNvSpPr/>
          <p:nvPr/>
        </p:nvSpPr>
        <p:spPr>
          <a:xfrm>
            <a:off x="7360920" y="4160520"/>
            <a:ext cx="393192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EBBD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These are exactly the gaps CivicPulse is designed to close for municipalities and public-service departments.</a:t>
            </a:r>
            <a:endParaRPr lang="en-US" sz="1100" dirty="0"/>
          </a:p>
        </p:txBody>
      </p:sp>
      <p:sp>
        <p:nvSpPr>
          <p:cNvPr id="53" name="Text 25">
            <a:extLst>
              <a:ext uri="{FF2B5EF4-FFF2-40B4-BE49-F238E27FC236}">
                <a16:creationId xmlns:a16="http://schemas.microsoft.com/office/drawing/2014/main" id="{4E66D007-B6DC-CF21-D874-2B0CE4FDFDF5}"/>
              </a:ext>
            </a:extLst>
          </p:cNvPr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CivicPulse  |  Smart Governance Management Platform</a:t>
            </a:r>
            <a:endParaRPr lang="en-US" sz="900" dirty="0"/>
          </a:p>
        </p:txBody>
      </p:sp>
      <p:sp>
        <p:nvSpPr>
          <p:cNvPr id="55" name="Text 26">
            <a:extLst>
              <a:ext uri="{FF2B5EF4-FFF2-40B4-BE49-F238E27FC236}">
                <a16:creationId xmlns:a16="http://schemas.microsoft.com/office/drawing/2014/main" id="{F67E6250-85BB-6A6D-D6AD-978A251272F9}"/>
              </a:ext>
            </a:extLst>
          </p:cNvPr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721715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F8E68B79-25CD-F5B1-0513-7B71CEFFDE76}"/>
              </a:ext>
            </a:extLst>
          </p:cNvPr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Objectives</a:t>
            </a:r>
            <a:endParaRPr lang="en-US" sz="30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D7C2F803-3BF9-5382-5DF7-246299720183}"/>
              </a:ext>
            </a:extLst>
          </p:cNvPr>
          <p:cNvSpPr/>
          <p:nvPr/>
        </p:nvSpPr>
        <p:spPr>
          <a:xfrm>
            <a:off x="548640" y="987552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What CivicPulse is designed to achieve</a:t>
            </a:r>
            <a:endParaRPr lang="en-US" sz="14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60B1C91E-7CF8-AADF-52EF-50A744BC2818}"/>
              </a:ext>
            </a:extLst>
          </p:cNvPr>
          <p:cNvSpPr/>
          <p:nvPr/>
        </p:nvSpPr>
        <p:spPr>
          <a:xfrm>
            <a:off x="548640" y="1600200"/>
            <a:ext cx="6126480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A4A6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CivicPulse aims to give every stakeholder — citizen, official, and administrator — a faster, more transparent way to raise, manage, and resolve civic issues, replacing manual paperwork with a connected digital workflow.</a:t>
            </a:r>
            <a:endParaRPr lang="en-US" sz="1300" dirty="0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D297CF13-A0D4-C340-CC88-9BB635DCA668}"/>
              </a:ext>
            </a:extLst>
          </p:cNvPr>
          <p:cNvSpPr/>
          <p:nvPr/>
        </p:nvSpPr>
        <p:spPr>
          <a:xfrm>
            <a:off x="548640" y="3794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</p:spPr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216E6A1F-AC5B-2C36-0DE2-9AFCE99184D1}"/>
              </a:ext>
            </a:extLst>
          </p:cNvPr>
          <p:cNvSpPr/>
          <p:nvPr/>
        </p:nvSpPr>
        <p:spPr>
          <a:xfrm>
            <a:off x="548640" y="3913632"/>
            <a:ext cx="1417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17E7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01</a:t>
            </a:r>
            <a:endParaRPr lang="en-US" sz="220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B2FD6B45-46DC-EE34-447B-F2ECF82C1371}"/>
              </a:ext>
            </a:extLst>
          </p:cNvPr>
          <p:cNvSpPr/>
          <p:nvPr/>
        </p:nvSpPr>
        <p:spPr>
          <a:xfrm>
            <a:off x="594360" y="4407408"/>
            <a:ext cx="1325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Simplify Reporting</a:t>
            </a:r>
            <a:endParaRPr lang="en-US" sz="900" dirty="0"/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2FB5CDA3-265E-53C4-3D9B-47D4DD0E51DD}"/>
              </a:ext>
            </a:extLst>
          </p:cNvPr>
          <p:cNvSpPr/>
          <p:nvPr/>
        </p:nvSpPr>
        <p:spPr>
          <a:xfrm>
            <a:off x="2103120" y="3794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</p:spPr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AA616A21-B8A5-FB44-DB76-42B874705741}"/>
              </a:ext>
            </a:extLst>
          </p:cNvPr>
          <p:cNvSpPr/>
          <p:nvPr/>
        </p:nvSpPr>
        <p:spPr>
          <a:xfrm>
            <a:off x="2103120" y="3913632"/>
            <a:ext cx="1417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17E7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02</a:t>
            </a:r>
            <a:endParaRPr lang="en-US" sz="2200" dirty="0"/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021FD490-6B6E-775A-F29A-5BB6DD44E159}"/>
              </a:ext>
            </a:extLst>
          </p:cNvPr>
          <p:cNvSpPr/>
          <p:nvPr/>
        </p:nvSpPr>
        <p:spPr>
          <a:xfrm>
            <a:off x="2148840" y="4407408"/>
            <a:ext cx="1325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Enable Tracking</a:t>
            </a:r>
            <a:endParaRPr lang="en-US" sz="900" dirty="0"/>
          </a:p>
        </p:txBody>
      </p:sp>
      <p:sp>
        <p:nvSpPr>
          <p:cNvPr id="21" name="Shape 9">
            <a:extLst>
              <a:ext uri="{FF2B5EF4-FFF2-40B4-BE49-F238E27FC236}">
                <a16:creationId xmlns:a16="http://schemas.microsoft.com/office/drawing/2014/main" id="{780E3E05-9115-62BB-9EBB-3987071AFD2D}"/>
              </a:ext>
            </a:extLst>
          </p:cNvPr>
          <p:cNvSpPr/>
          <p:nvPr/>
        </p:nvSpPr>
        <p:spPr>
          <a:xfrm>
            <a:off x="3657600" y="3794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</p:spPr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365B6814-2CCC-0162-C352-CA8BD666ECCB}"/>
              </a:ext>
            </a:extLst>
          </p:cNvPr>
          <p:cNvSpPr/>
          <p:nvPr/>
        </p:nvSpPr>
        <p:spPr>
          <a:xfrm>
            <a:off x="3657600" y="3913632"/>
            <a:ext cx="1417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17E7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03</a:t>
            </a:r>
            <a:endParaRPr lang="en-US" sz="2200" dirty="0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54ADB7AC-CB0A-33BA-0866-0A7769BBFE33}"/>
              </a:ext>
            </a:extLst>
          </p:cNvPr>
          <p:cNvSpPr/>
          <p:nvPr/>
        </p:nvSpPr>
        <p:spPr>
          <a:xfrm>
            <a:off x="3703320" y="4407408"/>
            <a:ext cx="1325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Speed Up Resolution</a:t>
            </a:r>
            <a:endParaRPr lang="en-US" sz="900" dirty="0"/>
          </a:p>
        </p:txBody>
      </p:sp>
      <p:sp>
        <p:nvSpPr>
          <p:cNvPr id="27" name="Shape 12">
            <a:extLst>
              <a:ext uri="{FF2B5EF4-FFF2-40B4-BE49-F238E27FC236}">
                <a16:creationId xmlns:a16="http://schemas.microsoft.com/office/drawing/2014/main" id="{16833426-45AA-E999-AC20-CED0E42EEAAE}"/>
              </a:ext>
            </a:extLst>
          </p:cNvPr>
          <p:cNvSpPr/>
          <p:nvPr/>
        </p:nvSpPr>
        <p:spPr>
          <a:xfrm>
            <a:off x="5212080" y="3794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</p:spPr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5A397F40-F3D6-95F9-EAAD-C065E553B1AF}"/>
              </a:ext>
            </a:extLst>
          </p:cNvPr>
          <p:cNvSpPr/>
          <p:nvPr/>
        </p:nvSpPr>
        <p:spPr>
          <a:xfrm>
            <a:off x="5212080" y="3913632"/>
            <a:ext cx="1417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17E7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04</a:t>
            </a:r>
            <a:endParaRPr lang="en-US" sz="2200" dirty="0"/>
          </a:p>
        </p:txBody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049CA690-6F40-AE19-83E0-C6B8C56C7290}"/>
              </a:ext>
            </a:extLst>
          </p:cNvPr>
          <p:cNvSpPr/>
          <p:nvPr/>
        </p:nvSpPr>
        <p:spPr>
          <a:xfrm>
            <a:off x="5257800" y="4407408"/>
            <a:ext cx="1325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Improve Transparency</a:t>
            </a:r>
            <a:endParaRPr lang="en-US" sz="900" dirty="0"/>
          </a:p>
        </p:txBody>
      </p:sp>
      <p:sp>
        <p:nvSpPr>
          <p:cNvPr id="33" name="Shape 15">
            <a:extLst>
              <a:ext uri="{FF2B5EF4-FFF2-40B4-BE49-F238E27FC236}">
                <a16:creationId xmlns:a16="http://schemas.microsoft.com/office/drawing/2014/main" id="{EC85EB35-8108-5333-F4C6-AA23C4009DFF}"/>
              </a:ext>
            </a:extLst>
          </p:cNvPr>
          <p:cNvSpPr/>
          <p:nvPr/>
        </p:nvSpPr>
        <p:spPr>
          <a:xfrm>
            <a:off x="7040880" y="1554480"/>
            <a:ext cx="4572000" cy="4572000"/>
          </a:xfrm>
          <a:prstGeom prst="roundRect">
            <a:avLst>
              <a:gd name="adj" fmla="val 2000"/>
            </a:avLst>
          </a:prstGeom>
          <a:solidFill>
            <a:srgbClr val="16233F"/>
          </a:solidFill>
        </p:spPr>
      </p:sp>
      <p:sp>
        <p:nvSpPr>
          <p:cNvPr id="35" name="Text 16">
            <a:extLst>
              <a:ext uri="{FF2B5EF4-FFF2-40B4-BE49-F238E27FC236}">
                <a16:creationId xmlns:a16="http://schemas.microsoft.com/office/drawing/2014/main" id="{533FDB83-C21C-D6FC-1362-9A97C8535D7C}"/>
              </a:ext>
            </a:extLst>
          </p:cNvPr>
          <p:cNvSpPr/>
          <p:nvPr/>
        </p:nvSpPr>
        <p:spPr>
          <a:xfrm>
            <a:off x="7360920" y="1783080"/>
            <a:ext cx="3931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Success looks like</a:t>
            </a:r>
            <a:endParaRPr lang="en-US" sz="1300" dirty="0"/>
          </a:p>
        </p:txBody>
      </p:sp>
      <p:sp>
        <p:nvSpPr>
          <p:cNvPr id="37" name="Shape 17">
            <a:extLst>
              <a:ext uri="{FF2B5EF4-FFF2-40B4-BE49-F238E27FC236}">
                <a16:creationId xmlns:a16="http://schemas.microsoft.com/office/drawing/2014/main" id="{36031CE8-7A2A-D9C9-6CF3-58DD506DAE4C}"/>
              </a:ext>
            </a:extLst>
          </p:cNvPr>
          <p:cNvSpPr/>
          <p:nvPr/>
        </p:nvSpPr>
        <p:spPr>
          <a:xfrm>
            <a:off x="7360920" y="2340864"/>
            <a:ext cx="128016" cy="128016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39" name="Text 18">
            <a:extLst>
              <a:ext uri="{FF2B5EF4-FFF2-40B4-BE49-F238E27FC236}">
                <a16:creationId xmlns:a16="http://schemas.microsoft.com/office/drawing/2014/main" id="{C36E9506-FC1C-2326-12C6-D7F937399BB7}"/>
              </a:ext>
            </a:extLst>
          </p:cNvPr>
          <p:cNvSpPr/>
          <p:nvPr/>
        </p:nvSpPr>
        <p:spPr>
          <a:xfrm>
            <a:off x="7635240" y="2212848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Citizens track complaints end-to-end</a:t>
            </a:r>
            <a:endParaRPr lang="en-US" sz="1250" dirty="0"/>
          </a:p>
        </p:txBody>
      </p:sp>
      <p:sp>
        <p:nvSpPr>
          <p:cNvPr id="41" name="Shape 19">
            <a:extLst>
              <a:ext uri="{FF2B5EF4-FFF2-40B4-BE49-F238E27FC236}">
                <a16:creationId xmlns:a16="http://schemas.microsoft.com/office/drawing/2014/main" id="{7E02C35B-59B4-C342-C546-58845A04100B}"/>
              </a:ext>
            </a:extLst>
          </p:cNvPr>
          <p:cNvSpPr/>
          <p:nvPr/>
        </p:nvSpPr>
        <p:spPr>
          <a:xfrm>
            <a:off x="7360920" y="2843784"/>
            <a:ext cx="128016" cy="128016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43" name="Text 20">
            <a:extLst>
              <a:ext uri="{FF2B5EF4-FFF2-40B4-BE49-F238E27FC236}">
                <a16:creationId xmlns:a16="http://schemas.microsoft.com/office/drawing/2014/main" id="{7D13BBA3-44E9-C7C9-572A-803F0FC92B72}"/>
              </a:ext>
            </a:extLst>
          </p:cNvPr>
          <p:cNvSpPr/>
          <p:nvPr/>
        </p:nvSpPr>
        <p:spPr>
          <a:xfrm>
            <a:off x="7635240" y="2715768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Officials resolve issues faster</a:t>
            </a:r>
            <a:endParaRPr lang="en-US" sz="1250" dirty="0"/>
          </a:p>
        </p:txBody>
      </p:sp>
      <p:sp>
        <p:nvSpPr>
          <p:cNvPr id="45" name="Shape 21">
            <a:extLst>
              <a:ext uri="{FF2B5EF4-FFF2-40B4-BE49-F238E27FC236}">
                <a16:creationId xmlns:a16="http://schemas.microsoft.com/office/drawing/2014/main" id="{14867941-5767-98C6-F5CA-6500BEA9CCBD}"/>
              </a:ext>
            </a:extLst>
          </p:cNvPr>
          <p:cNvSpPr/>
          <p:nvPr/>
        </p:nvSpPr>
        <p:spPr>
          <a:xfrm>
            <a:off x="7360920" y="3346704"/>
            <a:ext cx="128016" cy="128016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47" name="Text 22">
            <a:extLst>
              <a:ext uri="{FF2B5EF4-FFF2-40B4-BE49-F238E27FC236}">
                <a16:creationId xmlns:a16="http://schemas.microsoft.com/office/drawing/2014/main" id="{81AA907B-BC65-A85C-E84C-DE92980F8D3D}"/>
              </a:ext>
            </a:extLst>
          </p:cNvPr>
          <p:cNvSpPr/>
          <p:nvPr/>
        </p:nvSpPr>
        <p:spPr>
          <a:xfrm>
            <a:off x="7635240" y="3218688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Admins see system-wide analytics</a:t>
            </a:r>
            <a:endParaRPr lang="en-US" sz="1250" dirty="0"/>
          </a:p>
        </p:txBody>
      </p:sp>
      <p:sp>
        <p:nvSpPr>
          <p:cNvPr id="49" name="Shape 23">
            <a:extLst>
              <a:ext uri="{FF2B5EF4-FFF2-40B4-BE49-F238E27FC236}">
                <a16:creationId xmlns:a16="http://schemas.microsoft.com/office/drawing/2014/main" id="{EA0EE7A6-5695-29B8-0888-BDC967D4BBF4}"/>
              </a:ext>
            </a:extLst>
          </p:cNvPr>
          <p:cNvSpPr/>
          <p:nvPr/>
        </p:nvSpPr>
        <p:spPr>
          <a:xfrm>
            <a:off x="7360920" y="3931920"/>
            <a:ext cx="3931920" cy="0"/>
          </a:xfrm>
          <a:prstGeom prst="line">
            <a:avLst/>
          </a:prstGeom>
          <a:noFill/>
          <a:ln w="12700">
            <a:solidFill>
              <a:srgbClr val="31456B"/>
            </a:solidFill>
            <a:prstDash val="solid"/>
          </a:ln>
        </p:spPr>
      </p:sp>
      <p:sp>
        <p:nvSpPr>
          <p:cNvPr id="51" name="Text 24">
            <a:extLst>
              <a:ext uri="{FF2B5EF4-FFF2-40B4-BE49-F238E27FC236}">
                <a16:creationId xmlns:a16="http://schemas.microsoft.com/office/drawing/2014/main" id="{87B51CF1-1F5A-457E-8620-4A1CC9A98618}"/>
              </a:ext>
            </a:extLst>
          </p:cNvPr>
          <p:cNvSpPr/>
          <p:nvPr/>
        </p:nvSpPr>
        <p:spPr>
          <a:xfrm>
            <a:off x="7360920" y="4160520"/>
            <a:ext cx="393192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EBBD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Built for municipalities and public-service departments seeking a transparent, responsive citizen-engagement system.</a:t>
            </a:r>
            <a:endParaRPr lang="en-US" sz="1100" dirty="0"/>
          </a:p>
        </p:txBody>
      </p:sp>
      <p:sp>
        <p:nvSpPr>
          <p:cNvPr id="53" name="Text 25">
            <a:extLst>
              <a:ext uri="{FF2B5EF4-FFF2-40B4-BE49-F238E27FC236}">
                <a16:creationId xmlns:a16="http://schemas.microsoft.com/office/drawing/2014/main" id="{C459C850-5F8E-E972-4C6B-951A7B28246F}"/>
              </a:ext>
            </a:extLst>
          </p:cNvPr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CivicPulse  |  Smart Governance Management Platform</a:t>
            </a:r>
            <a:endParaRPr lang="en-US" sz="900" dirty="0"/>
          </a:p>
        </p:txBody>
      </p:sp>
      <p:sp>
        <p:nvSpPr>
          <p:cNvPr id="55" name="Text 26">
            <a:extLst>
              <a:ext uri="{FF2B5EF4-FFF2-40B4-BE49-F238E27FC236}">
                <a16:creationId xmlns:a16="http://schemas.microsoft.com/office/drawing/2014/main" id="{23CDD0C5-9330-78AA-8E0E-144382EBA186}"/>
              </a:ext>
            </a:extLst>
          </p:cNvPr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4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329627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E4DEC3CE-C000-9112-2C08-3D78AEBA1DCC}"/>
              </a:ext>
            </a:extLst>
          </p:cNvPr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Complaint Lifecycle</a:t>
            </a:r>
            <a:endParaRPr lang="en-US" sz="30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1228F662-5530-6469-0D25-60EBC7E009AD}"/>
              </a:ext>
            </a:extLst>
          </p:cNvPr>
          <p:cNvSpPr/>
          <p:nvPr/>
        </p:nvSpPr>
        <p:spPr>
          <a:xfrm>
            <a:off x="548640" y="987552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From citizen report to resolution</a:t>
            </a:r>
            <a:endParaRPr lang="en-US" sz="14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789506C2-63B7-3398-5FD1-D15DCC3094AE}"/>
              </a:ext>
            </a:extLst>
          </p:cNvPr>
          <p:cNvSpPr/>
          <p:nvPr/>
        </p:nvSpPr>
        <p:spPr>
          <a:xfrm>
            <a:off x="548640" y="1600200"/>
            <a:ext cx="6126480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A4A6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Every complaint moves through a structured, auditable journey — from the moment a citizen raises an issue to the moment it is resolved and rated — keeping ownership and timelines clear at every step.</a:t>
            </a:r>
            <a:endParaRPr lang="en-US" sz="1300" dirty="0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C5F7E3A5-8567-05F1-6BFF-CDD3B4C603F5}"/>
              </a:ext>
            </a:extLst>
          </p:cNvPr>
          <p:cNvSpPr/>
          <p:nvPr/>
        </p:nvSpPr>
        <p:spPr>
          <a:xfrm>
            <a:off x="548640" y="3794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</p:spPr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2827AEB6-2A8A-6103-2011-D812350C2E1D}"/>
              </a:ext>
            </a:extLst>
          </p:cNvPr>
          <p:cNvSpPr/>
          <p:nvPr/>
        </p:nvSpPr>
        <p:spPr>
          <a:xfrm>
            <a:off x="548640" y="3913632"/>
            <a:ext cx="1417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17E7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</a:t>
            </a:r>
            <a:endParaRPr lang="en-US" sz="220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014AAC28-149D-6D44-D37B-CB000C97CBCE}"/>
              </a:ext>
            </a:extLst>
          </p:cNvPr>
          <p:cNvSpPr/>
          <p:nvPr/>
        </p:nvSpPr>
        <p:spPr>
          <a:xfrm>
            <a:off x="594360" y="4407408"/>
            <a:ext cx="1325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Citizen Registers Issue</a:t>
            </a:r>
            <a:endParaRPr lang="en-US" sz="900" dirty="0"/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CD3E0809-409D-2F86-7A7C-BCE1A2B2EA6F}"/>
              </a:ext>
            </a:extLst>
          </p:cNvPr>
          <p:cNvSpPr/>
          <p:nvPr/>
        </p:nvSpPr>
        <p:spPr>
          <a:xfrm>
            <a:off x="2103120" y="3794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</p:spPr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71A0D891-7422-7801-31F0-4A099282816E}"/>
              </a:ext>
            </a:extLst>
          </p:cNvPr>
          <p:cNvSpPr/>
          <p:nvPr/>
        </p:nvSpPr>
        <p:spPr>
          <a:xfrm>
            <a:off x="2103120" y="3913632"/>
            <a:ext cx="1417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17E7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</a:t>
            </a:r>
            <a:endParaRPr lang="en-US" sz="2200" dirty="0"/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43C9B3BD-327A-205A-5120-E4942A2A9328}"/>
              </a:ext>
            </a:extLst>
          </p:cNvPr>
          <p:cNvSpPr/>
          <p:nvPr/>
        </p:nvSpPr>
        <p:spPr>
          <a:xfrm>
            <a:off x="2148840" y="4407408"/>
            <a:ext cx="1325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Auto-Routed to Department</a:t>
            </a:r>
            <a:endParaRPr lang="en-US" sz="900" dirty="0"/>
          </a:p>
        </p:txBody>
      </p:sp>
      <p:sp>
        <p:nvSpPr>
          <p:cNvPr id="21" name="Shape 9">
            <a:extLst>
              <a:ext uri="{FF2B5EF4-FFF2-40B4-BE49-F238E27FC236}">
                <a16:creationId xmlns:a16="http://schemas.microsoft.com/office/drawing/2014/main" id="{D4C2D2A8-2A6B-3628-642E-12FDEC732CEB}"/>
              </a:ext>
            </a:extLst>
          </p:cNvPr>
          <p:cNvSpPr/>
          <p:nvPr/>
        </p:nvSpPr>
        <p:spPr>
          <a:xfrm>
            <a:off x="3657600" y="3794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</p:spPr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E6B0BB28-843A-EA3E-0A24-ECE8D448FAA4}"/>
              </a:ext>
            </a:extLst>
          </p:cNvPr>
          <p:cNvSpPr/>
          <p:nvPr/>
        </p:nvSpPr>
        <p:spPr>
          <a:xfrm>
            <a:off x="3657600" y="3913632"/>
            <a:ext cx="1417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17E7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</a:t>
            </a:r>
            <a:endParaRPr lang="en-US" sz="2200" dirty="0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DC1E973F-F8DA-A80A-6BD5-C26AB0F218FE}"/>
              </a:ext>
            </a:extLst>
          </p:cNvPr>
          <p:cNvSpPr/>
          <p:nvPr/>
        </p:nvSpPr>
        <p:spPr>
          <a:xfrm>
            <a:off x="3703320" y="4407408"/>
            <a:ext cx="1325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Official Resolves &amp; Updates</a:t>
            </a:r>
            <a:endParaRPr lang="en-US" sz="900" dirty="0"/>
          </a:p>
        </p:txBody>
      </p:sp>
      <p:sp>
        <p:nvSpPr>
          <p:cNvPr id="27" name="Shape 12">
            <a:extLst>
              <a:ext uri="{FF2B5EF4-FFF2-40B4-BE49-F238E27FC236}">
                <a16:creationId xmlns:a16="http://schemas.microsoft.com/office/drawing/2014/main" id="{29B204C3-8DBD-AEC2-B2B6-0581042F6638}"/>
              </a:ext>
            </a:extLst>
          </p:cNvPr>
          <p:cNvSpPr/>
          <p:nvPr/>
        </p:nvSpPr>
        <p:spPr>
          <a:xfrm>
            <a:off x="5212080" y="3794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</p:spPr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A2721F5B-F24D-CE4C-06FB-A10352422984}"/>
              </a:ext>
            </a:extLst>
          </p:cNvPr>
          <p:cNvSpPr/>
          <p:nvPr/>
        </p:nvSpPr>
        <p:spPr>
          <a:xfrm>
            <a:off x="5212080" y="3913632"/>
            <a:ext cx="1417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17E7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4</a:t>
            </a:r>
            <a:endParaRPr lang="en-US" sz="2200" dirty="0"/>
          </a:p>
        </p:txBody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3547E7A0-8FAA-556C-65ED-1910D4D7D9B6}"/>
              </a:ext>
            </a:extLst>
          </p:cNvPr>
          <p:cNvSpPr/>
          <p:nvPr/>
        </p:nvSpPr>
        <p:spPr>
          <a:xfrm>
            <a:off x="5257800" y="4407408"/>
            <a:ext cx="1325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Citizen Tracks &amp; Rates</a:t>
            </a:r>
            <a:endParaRPr lang="en-US" sz="900" dirty="0"/>
          </a:p>
        </p:txBody>
      </p:sp>
      <p:sp>
        <p:nvSpPr>
          <p:cNvPr id="33" name="Shape 15">
            <a:extLst>
              <a:ext uri="{FF2B5EF4-FFF2-40B4-BE49-F238E27FC236}">
                <a16:creationId xmlns:a16="http://schemas.microsoft.com/office/drawing/2014/main" id="{9995BFE7-50CC-7D5C-9832-760109FE497E}"/>
              </a:ext>
            </a:extLst>
          </p:cNvPr>
          <p:cNvSpPr/>
          <p:nvPr/>
        </p:nvSpPr>
        <p:spPr>
          <a:xfrm>
            <a:off x="7040880" y="1554480"/>
            <a:ext cx="4572000" cy="4572000"/>
          </a:xfrm>
          <a:prstGeom prst="roundRect">
            <a:avLst>
              <a:gd name="adj" fmla="val 2000"/>
            </a:avLst>
          </a:prstGeom>
          <a:solidFill>
            <a:srgbClr val="16233F"/>
          </a:solidFill>
        </p:spPr>
      </p:sp>
      <p:sp>
        <p:nvSpPr>
          <p:cNvPr id="35" name="Text 16">
            <a:extLst>
              <a:ext uri="{FF2B5EF4-FFF2-40B4-BE49-F238E27FC236}">
                <a16:creationId xmlns:a16="http://schemas.microsoft.com/office/drawing/2014/main" id="{144B8BB9-D022-C49D-828B-1B5CB7B528BD}"/>
              </a:ext>
            </a:extLst>
          </p:cNvPr>
          <p:cNvSpPr/>
          <p:nvPr/>
        </p:nvSpPr>
        <p:spPr>
          <a:xfrm>
            <a:off x="7360920" y="1783080"/>
            <a:ext cx="3931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Built-in accountability</a:t>
            </a:r>
            <a:endParaRPr lang="en-US" sz="1300" dirty="0"/>
          </a:p>
        </p:txBody>
      </p:sp>
      <p:sp>
        <p:nvSpPr>
          <p:cNvPr id="37" name="Shape 17">
            <a:extLst>
              <a:ext uri="{FF2B5EF4-FFF2-40B4-BE49-F238E27FC236}">
                <a16:creationId xmlns:a16="http://schemas.microsoft.com/office/drawing/2014/main" id="{05CB99C3-ABFF-DA4C-C2E1-6EDEEDBA593A}"/>
              </a:ext>
            </a:extLst>
          </p:cNvPr>
          <p:cNvSpPr/>
          <p:nvPr/>
        </p:nvSpPr>
        <p:spPr>
          <a:xfrm>
            <a:off x="7360920" y="2340864"/>
            <a:ext cx="128016" cy="128016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39" name="Text 18">
            <a:extLst>
              <a:ext uri="{FF2B5EF4-FFF2-40B4-BE49-F238E27FC236}">
                <a16:creationId xmlns:a16="http://schemas.microsoft.com/office/drawing/2014/main" id="{8F53811C-2877-989C-9311-8024865EE811}"/>
              </a:ext>
            </a:extLst>
          </p:cNvPr>
          <p:cNvSpPr/>
          <p:nvPr/>
        </p:nvSpPr>
        <p:spPr>
          <a:xfrm>
            <a:off x="7635240" y="2212848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SLA timers trigger escalation</a:t>
            </a:r>
            <a:endParaRPr lang="en-US" sz="1250" dirty="0"/>
          </a:p>
        </p:txBody>
      </p:sp>
      <p:sp>
        <p:nvSpPr>
          <p:cNvPr id="41" name="Shape 19">
            <a:extLst>
              <a:ext uri="{FF2B5EF4-FFF2-40B4-BE49-F238E27FC236}">
                <a16:creationId xmlns:a16="http://schemas.microsoft.com/office/drawing/2014/main" id="{B0263B2E-0FC2-2DAC-BFCE-06FD41C2F7A3}"/>
              </a:ext>
            </a:extLst>
          </p:cNvPr>
          <p:cNvSpPr/>
          <p:nvPr/>
        </p:nvSpPr>
        <p:spPr>
          <a:xfrm>
            <a:off x="7360920" y="2843784"/>
            <a:ext cx="128016" cy="128016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43" name="Text 20">
            <a:extLst>
              <a:ext uri="{FF2B5EF4-FFF2-40B4-BE49-F238E27FC236}">
                <a16:creationId xmlns:a16="http://schemas.microsoft.com/office/drawing/2014/main" id="{22C51327-073B-3635-F728-6FE5240C5D73}"/>
              </a:ext>
            </a:extLst>
          </p:cNvPr>
          <p:cNvSpPr/>
          <p:nvPr/>
        </p:nvSpPr>
        <p:spPr>
          <a:xfrm>
            <a:off x="7635240" y="2715768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Status updates in real time</a:t>
            </a:r>
            <a:endParaRPr lang="en-US" sz="1250" dirty="0"/>
          </a:p>
        </p:txBody>
      </p:sp>
      <p:sp>
        <p:nvSpPr>
          <p:cNvPr id="45" name="Shape 21">
            <a:extLst>
              <a:ext uri="{FF2B5EF4-FFF2-40B4-BE49-F238E27FC236}">
                <a16:creationId xmlns:a16="http://schemas.microsoft.com/office/drawing/2014/main" id="{4DCCD4C1-A486-2C97-88FA-B91753D1C24E}"/>
              </a:ext>
            </a:extLst>
          </p:cNvPr>
          <p:cNvSpPr/>
          <p:nvPr/>
        </p:nvSpPr>
        <p:spPr>
          <a:xfrm>
            <a:off x="7360920" y="3346704"/>
            <a:ext cx="128016" cy="128016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47" name="Text 22">
            <a:extLst>
              <a:ext uri="{FF2B5EF4-FFF2-40B4-BE49-F238E27FC236}">
                <a16:creationId xmlns:a16="http://schemas.microsoft.com/office/drawing/2014/main" id="{EC03DBF5-C56D-507B-96A4-852B96CA5EE1}"/>
              </a:ext>
            </a:extLst>
          </p:cNvPr>
          <p:cNvSpPr/>
          <p:nvPr/>
        </p:nvSpPr>
        <p:spPr>
          <a:xfrm>
            <a:off x="7635240" y="3218688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Feedback closes the loop</a:t>
            </a:r>
            <a:endParaRPr lang="en-US" sz="1250" dirty="0"/>
          </a:p>
        </p:txBody>
      </p:sp>
      <p:sp>
        <p:nvSpPr>
          <p:cNvPr id="49" name="Shape 23">
            <a:extLst>
              <a:ext uri="{FF2B5EF4-FFF2-40B4-BE49-F238E27FC236}">
                <a16:creationId xmlns:a16="http://schemas.microsoft.com/office/drawing/2014/main" id="{BDBCEEB6-EDF4-8521-A80E-DEDCF5DD63E4}"/>
              </a:ext>
            </a:extLst>
          </p:cNvPr>
          <p:cNvSpPr/>
          <p:nvPr/>
        </p:nvSpPr>
        <p:spPr>
          <a:xfrm>
            <a:off x="7360920" y="3931920"/>
            <a:ext cx="3931920" cy="0"/>
          </a:xfrm>
          <a:prstGeom prst="line">
            <a:avLst/>
          </a:prstGeom>
          <a:noFill/>
          <a:ln w="12700">
            <a:solidFill>
              <a:srgbClr val="31456B"/>
            </a:solidFill>
            <a:prstDash val="solid"/>
          </a:ln>
        </p:spPr>
      </p:sp>
      <p:sp>
        <p:nvSpPr>
          <p:cNvPr id="51" name="Text 24">
            <a:extLst>
              <a:ext uri="{FF2B5EF4-FFF2-40B4-BE49-F238E27FC236}">
                <a16:creationId xmlns:a16="http://schemas.microsoft.com/office/drawing/2014/main" id="{04B791F6-5012-1015-C33F-1F763EC06172}"/>
              </a:ext>
            </a:extLst>
          </p:cNvPr>
          <p:cNvSpPr/>
          <p:nvPr/>
        </p:nvSpPr>
        <p:spPr>
          <a:xfrm>
            <a:off x="7360920" y="4160520"/>
            <a:ext cx="393192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EBBD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Designed so no complaint is ever lost or left unowned between departments.</a:t>
            </a:r>
            <a:endParaRPr lang="en-US" sz="1100" dirty="0"/>
          </a:p>
        </p:txBody>
      </p:sp>
      <p:sp>
        <p:nvSpPr>
          <p:cNvPr id="53" name="Text 25">
            <a:extLst>
              <a:ext uri="{FF2B5EF4-FFF2-40B4-BE49-F238E27FC236}">
                <a16:creationId xmlns:a16="http://schemas.microsoft.com/office/drawing/2014/main" id="{0F6CEC7A-9FFB-B905-B7C2-7972E790A62F}"/>
              </a:ext>
            </a:extLst>
          </p:cNvPr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CivicPulse  |  Smart Governance Management Platform</a:t>
            </a:r>
            <a:endParaRPr lang="en-US" sz="900" dirty="0"/>
          </a:p>
        </p:txBody>
      </p:sp>
      <p:sp>
        <p:nvSpPr>
          <p:cNvPr id="55" name="Text 26">
            <a:extLst>
              <a:ext uri="{FF2B5EF4-FFF2-40B4-BE49-F238E27FC236}">
                <a16:creationId xmlns:a16="http://schemas.microsoft.com/office/drawing/2014/main" id="{05AE02B9-50D5-5586-C167-48B536AA3047}"/>
              </a:ext>
            </a:extLst>
          </p:cNvPr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7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08916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716A0A03-B7D4-4B43-F2C5-B8B6ADC977C9}"/>
              </a:ext>
            </a:extLst>
          </p:cNvPr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Home Page Dashboard</a:t>
            </a:r>
            <a:endParaRPr lang="en-US" sz="30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B20AB5CC-C366-E2B9-CFBB-C1DACE813E24}"/>
              </a:ext>
            </a:extLst>
          </p:cNvPr>
          <p:cNvSpPr/>
          <p:nvPr/>
        </p:nvSpPr>
        <p:spPr>
          <a:xfrm>
            <a:off x="548640" y="987552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Live issue counts, right on the home page</a:t>
            </a:r>
            <a:endParaRPr lang="en-US" sz="14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37EA8FEF-71FC-3CAB-17C5-5F4955FD5E82}"/>
              </a:ext>
            </a:extLst>
          </p:cNvPr>
          <p:cNvSpPr/>
          <p:nvPr/>
        </p:nvSpPr>
        <p:spPr>
          <a:xfrm>
            <a:off x="548640" y="1600200"/>
            <a:ext cx="6126480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A4A63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 dashboard on the home page shows how many issues have been registered, resolved, and are still pending or in progress — giving instant visibility into platform activity for citizens and officials alike, no login required.</a:t>
            </a:r>
            <a:endParaRPr lang="en-US" sz="1300" dirty="0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6EF7BC49-F64B-4816-598F-58390E71FE20}"/>
              </a:ext>
            </a:extLst>
          </p:cNvPr>
          <p:cNvSpPr/>
          <p:nvPr/>
        </p:nvSpPr>
        <p:spPr>
          <a:xfrm>
            <a:off x="548640" y="3794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</p:spPr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983FB68C-1D74-9DB6-252F-23C361AC047D}"/>
              </a:ext>
            </a:extLst>
          </p:cNvPr>
          <p:cNvSpPr/>
          <p:nvPr/>
        </p:nvSpPr>
        <p:spPr>
          <a:xfrm>
            <a:off x="548640" y="3913632"/>
            <a:ext cx="1417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17E7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120</a:t>
            </a:r>
            <a:endParaRPr lang="en-US" sz="220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3B7AA15A-E17D-944F-05B4-B7D01E6C2184}"/>
              </a:ext>
            </a:extLst>
          </p:cNvPr>
          <p:cNvSpPr/>
          <p:nvPr/>
        </p:nvSpPr>
        <p:spPr>
          <a:xfrm>
            <a:off x="594360" y="4407408"/>
            <a:ext cx="1325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Registered</a:t>
            </a:r>
            <a:endParaRPr lang="en-US" sz="900" dirty="0"/>
          </a:p>
        </p:txBody>
      </p:sp>
      <p:sp>
        <p:nvSpPr>
          <p:cNvPr id="15" name="Shape 6">
            <a:extLst>
              <a:ext uri="{FF2B5EF4-FFF2-40B4-BE49-F238E27FC236}">
                <a16:creationId xmlns:a16="http://schemas.microsoft.com/office/drawing/2014/main" id="{EE5DDE8D-CA4F-CAB4-4240-A21FC9D77387}"/>
              </a:ext>
            </a:extLst>
          </p:cNvPr>
          <p:cNvSpPr/>
          <p:nvPr/>
        </p:nvSpPr>
        <p:spPr>
          <a:xfrm>
            <a:off x="2103120" y="3794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</p:spPr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16A38398-968A-CC3F-A731-5AD2D2F7E602}"/>
              </a:ext>
            </a:extLst>
          </p:cNvPr>
          <p:cNvSpPr/>
          <p:nvPr/>
        </p:nvSpPr>
        <p:spPr>
          <a:xfrm>
            <a:off x="2103120" y="3913632"/>
            <a:ext cx="1417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17E7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80</a:t>
            </a:r>
            <a:endParaRPr lang="en-US" sz="2200" dirty="0"/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0CF9EB34-1055-BC51-BE5B-4201D9DA38A9}"/>
              </a:ext>
            </a:extLst>
          </p:cNvPr>
          <p:cNvSpPr/>
          <p:nvPr/>
        </p:nvSpPr>
        <p:spPr>
          <a:xfrm>
            <a:off x="2148840" y="4407408"/>
            <a:ext cx="1325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Resolved</a:t>
            </a:r>
            <a:endParaRPr lang="en-US" sz="900" dirty="0"/>
          </a:p>
        </p:txBody>
      </p:sp>
      <p:sp>
        <p:nvSpPr>
          <p:cNvPr id="21" name="Shape 9">
            <a:extLst>
              <a:ext uri="{FF2B5EF4-FFF2-40B4-BE49-F238E27FC236}">
                <a16:creationId xmlns:a16="http://schemas.microsoft.com/office/drawing/2014/main" id="{1D9D78F1-9073-DD32-6EA6-CD702D08BDC2}"/>
              </a:ext>
            </a:extLst>
          </p:cNvPr>
          <p:cNvSpPr/>
          <p:nvPr/>
        </p:nvSpPr>
        <p:spPr>
          <a:xfrm>
            <a:off x="3657600" y="3794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</p:spPr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553B11FC-31AC-FA1A-0F93-85A78CC761FC}"/>
              </a:ext>
            </a:extLst>
          </p:cNvPr>
          <p:cNvSpPr/>
          <p:nvPr/>
        </p:nvSpPr>
        <p:spPr>
          <a:xfrm>
            <a:off x="3657600" y="3913632"/>
            <a:ext cx="1417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17E7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25</a:t>
            </a:r>
            <a:endParaRPr lang="en-US" sz="2200" dirty="0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4A7A942B-9DD2-F9CB-52FC-A237B0D32F3E}"/>
              </a:ext>
            </a:extLst>
          </p:cNvPr>
          <p:cNvSpPr/>
          <p:nvPr/>
        </p:nvSpPr>
        <p:spPr>
          <a:xfrm>
            <a:off x="3703320" y="4407408"/>
            <a:ext cx="1325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Pending</a:t>
            </a:r>
            <a:endParaRPr lang="en-US" sz="900" dirty="0"/>
          </a:p>
        </p:txBody>
      </p:sp>
      <p:sp>
        <p:nvSpPr>
          <p:cNvPr id="27" name="Shape 12">
            <a:extLst>
              <a:ext uri="{FF2B5EF4-FFF2-40B4-BE49-F238E27FC236}">
                <a16:creationId xmlns:a16="http://schemas.microsoft.com/office/drawing/2014/main" id="{953F8485-1FFB-8138-589F-C3392451B881}"/>
              </a:ext>
            </a:extLst>
          </p:cNvPr>
          <p:cNvSpPr/>
          <p:nvPr/>
        </p:nvSpPr>
        <p:spPr>
          <a:xfrm>
            <a:off x="5212080" y="3794760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5F7FA"/>
          </a:solidFill>
        </p:spPr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E65BD044-6F9B-DF16-22CA-DE384A471FAB}"/>
              </a:ext>
            </a:extLst>
          </p:cNvPr>
          <p:cNvSpPr/>
          <p:nvPr/>
        </p:nvSpPr>
        <p:spPr>
          <a:xfrm>
            <a:off x="5212080" y="3913632"/>
            <a:ext cx="14173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17E7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15</a:t>
            </a:r>
            <a:endParaRPr lang="en-US" sz="2200" dirty="0"/>
          </a:p>
        </p:txBody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D1A3F0BD-33A3-56A4-B945-4AC36E5B5D1B}"/>
              </a:ext>
            </a:extLst>
          </p:cNvPr>
          <p:cNvSpPr/>
          <p:nvPr/>
        </p:nvSpPr>
        <p:spPr>
          <a:xfrm>
            <a:off x="5257800" y="4407408"/>
            <a:ext cx="1325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In Progress</a:t>
            </a:r>
            <a:endParaRPr lang="en-US" sz="900" dirty="0"/>
          </a:p>
        </p:txBody>
      </p:sp>
      <p:sp>
        <p:nvSpPr>
          <p:cNvPr id="33" name="Shape 15">
            <a:extLst>
              <a:ext uri="{FF2B5EF4-FFF2-40B4-BE49-F238E27FC236}">
                <a16:creationId xmlns:a16="http://schemas.microsoft.com/office/drawing/2014/main" id="{7732FE37-EEE1-842D-88E0-ADC75AC1FFCF}"/>
              </a:ext>
            </a:extLst>
          </p:cNvPr>
          <p:cNvSpPr/>
          <p:nvPr/>
        </p:nvSpPr>
        <p:spPr>
          <a:xfrm>
            <a:off x="7040880" y="1554480"/>
            <a:ext cx="4572000" cy="4572000"/>
          </a:xfrm>
          <a:prstGeom prst="roundRect">
            <a:avLst>
              <a:gd name="adj" fmla="val 2000"/>
            </a:avLst>
          </a:prstGeom>
          <a:solidFill>
            <a:srgbClr val="16233F"/>
          </a:solidFill>
        </p:spPr>
      </p:sp>
      <p:sp>
        <p:nvSpPr>
          <p:cNvPr id="35" name="Text 16">
            <a:extLst>
              <a:ext uri="{FF2B5EF4-FFF2-40B4-BE49-F238E27FC236}">
                <a16:creationId xmlns:a16="http://schemas.microsoft.com/office/drawing/2014/main" id="{3DBF37CA-F77D-C956-BE4E-1C45676DD143}"/>
              </a:ext>
            </a:extLst>
          </p:cNvPr>
          <p:cNvSpPr/>
          <p:nvPr/>
        </p:nvSpPr>
        <p:spPr>
          <a:xfrm>
            <a:off x="7360920" y="1783080"/>
            <a:ext cx="3931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7" name="Shape 17">
            <a:extLst>
              <a:ext uri="{FF2B5EF4-FFF2-40B4-BE49-F238E27FC236}">
                <a16:creationId xmlns:a16="http://schemas.microsoft.com/office/drawing/2014/main" id="{2F781A54-4F48-1E17-A3DE-03403F8F8DE4}"/>
              </a:ext>
            </a:extLst>
          </p:cNvPr>
          <p:cNvSpPr/>
          <p:nvPr/>
        </p:nvSpPr>
        <p:spPr>
          <a:xfrm>
            <a:off x="7360920" y="2340864"/>
            <a:ext cx="128016" cy="128016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39" name="Text 18">
            <a:extLst>
              <a:ext uri="{FF2B5EF4-FFF2-40B4-BE49-F238E27FC236}">
                <a16:creationId xmlns:a16="http://schemas.microsoft.com/office/drawing/2014/main" id="{16C0B3E8-719D-F9FD-296A-2284416EC946}"/>
              </a:ext>
            </a:extLst>
          </p:cNvPr>
          <p:cNvSpPr/>
          <p:nvPr/>
        </p:nvSpPr>
        <p:spPr>
          <a:xfrm>
            <a:off x="7635240" y="2212848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One API aggregates status counts</a:t>
            </a:r>
            <a:endParaRPr lang="en-US" sz="1250" dirty="0"/>
          </a:p>
        </p:txBody>
      </p:sp>
      <p:sp>
        <p:nvSpPr>
          <p:cNvPr id="41" name="Shape 19">
            <a:extLst>
              <a:ext uri="{FF2B5EF4-FFF2-40B4-BE49-F238E27FC236}">
                <a16:creationId xmlns:a16="http://schemas.microsoft.com/office/drawing/2014/main" id="{86D33591-39B7-2D29-1D0F-6584E0539F29}"/>
              </a:ext>
            </a:extLst>
          </p:cNvPr>
          <p:cNvSpPr/>
          <p:nvPr/>
        </p:nvSpPr>
        <p:spPr>
          <a:xfrm>
            <a:off x="7360920" y="2843784"/>
            <a:ext cx="128016" cy="128016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43" name="Text 20">
            <a:extLst>
              <a:ext uri="{FF2B5EF4-FFF2-40B4-BE49-F238E27FC236}">
                <a16:creationId xmlns:a16="http://schemas.microsoft.com/office/drawing/2014/main" id="{5BE4EE25-D0D6-5B23-2376-18FF9407D454}"/>
              </a:ext>
            </a:extLst>
          </p:cNvPr>
          <p:cNvSpPr/>
          <p:nvPr/>
        </p:nvSpPr>
        <p:spPr>
          <a:xfrm>
            <a:off x="7635240" y="2715768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React renders live stat cards</a:t>
            </a:r>
            <a:endParaRPr lang="en-US" sz="1250" dirty="0"/>
          </a:p>
        </p:txBody>
      </p:sp>
      <p:sp>
        <p:nvSpPr>
          <p:cNvPr id="45" name="Shape 21">
            <a:extLst>
              <a:ext uri="{FF2B5EF4-FFF2-40B4-BE49-F238E27FC236}">
                <a16:creationId xmlns:a16="http://schemas.microsoft.com/office/drawing/2014/main" id="{36F88548-FD23-5AC2-716B-64EAD142D480}"/>
              </a:ext>
            </a:extLst>
          </p:cNvPr>
          <p:cNvSpPr/>
          <p:nvPr/>
        </p:nvSpPr>
        <p:spPr>
          <a:xfrm>
            <a:off x="7360920" y="3346704"/>
            <a:ext cx="128016" cy="128016"/>
          </a:xfrm>
          <a:prstGeom prst="ellipse">
            <a:avLst/>
          </a:prstGeom>
          <a:solidFill>
            <a:srgbClr val="00A896"/>
          </a:solidFill>
        </p:spPr>
      </p:sp>
      <p:sp>
        <p:nvSpPr>
          <p:cNvPr id="47" name="Text 22">
            <a:extLst>
              <a:ext uri="{FF2B5EF4-FFF2-40B4-BE49-F238E27FC236}">
                <a16:creationId xmlns:a16="http://schemas.microsoft.com/office/drawing/2014/main" id="{3D568AEB-836D-01D2-1F40-BAD37DAA1450}"/>
              </a:ext>
            </a:extLst>
          </p:cNvPr>
          <p:cNvSpPr/>
          <p:nvPr/>
        </p:nvSpPr>
        <p:spPr>
          <a:xfrm>
            <a:off x="7635240" y="3218688"/>
            <a:ext cx="37490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Updates automatically as issues change</a:t>
            </a:r>
            <a:endParaRPr lang="en-US" sz="1250" dirty="0"/>
          </a:p>
        </p:txBody>
      </p:sp>
      <p:sp>
        <p:nvSpPr>
          <p:cNvPr id="49" name="Shape 23">
            <a:extLst>
              <a:ext uri="{FF2B5EF4-FFF2-40B4-BE49-F238E27FC236}">
                <a16:creationId xmlns:a16="http://schemas.microsoft.com/office/drawing/2014/main" id="{D7F370F3-F335-743D-1891-B643F688B5E3}"/>
              </a:ext>
            </a:extLst>
          </p:cNvPr>
          <p:cNvSpPr/>
          <p:nvPr/>
        </p:nvSpPr>
        <p:spPr>
          <a:xfrm>
            <a:off x="7360920" y="3931920"/>
            <a:ext cx="3931920" cy="0"/>
          </a:xfrm>
          <a:prstGeom prst="line">
            <a:avLst/>
          </a:prstGeom>
          <a:noFill/>
          <a:ln w="12700">
            <a:solidFill>
              <a:srgbClr val="31456B"/>
            </a:solidFill>
            <a:prstDash val="solid"/>
          </a:ln>
        </p:spPr>
      </p:sp>
      <p:sp>
        <p:nvSpPr>
          <p:cNvPr id="51" name="Text 24">
            <a:extLst>
              <a:ext uri="{FF2B5EF4-FFF2-40B4-BE49-F238E27FC236}">
                <a16:creationId xmlns:a16="http://schemas.microsoft.com/office/drawing/2014/main" id="{2F947C2D-B368-CF8A-5FAA-D5B33369D1F0}"/>
              </a:ext>
            </a:extLst>
          </p:cNvPr>
          <p:cNvSpPr/>
          <p:nvPr/>
        </p:nvSpPr>
        <p:spPr>
          <a:xfrm>
            <a:off x="7360920" y="4160520"/>
            <a:ext cx="393192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EBBD1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A simple, high-impact addition that makes the platform's activity visible at a glance — my contribution to the team's feature set.</a:t>
            </a:r>
            <a:endParaRPr lang="en-US" sz="1100" dirty="0"/>
          </a:p>
        </p:txBody>
      </p:sp>
      <p:sp>
        <p:nvSpPr>
          <p:cNvPr id="53" name="Text 25">
            <a:extLst>
              <a:ext uri="{FF2B5EF4-FFF2-40B4-BE49-F238E27FC236}">
                <a16:creationId xmlns:a16="http://schemas.microsoft.com/office/drawing/2014/main" id="{9594E2AA-BDE2-4217-133D-797061A7FF6C}"/>
              </a:ext>
            </a:extLst>
          </p:cNvPr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CivicPulse  |  Smart Governance Management Platform</a:t>
            </a:r>
            <a:endParaRPr lang="en-US" sz="900" dirty="0"/>
          </a:p>
        </p:txBody>
      </p:sp>
      <p:sp>
        <p:nvSpPr>
          <p:cNvPr id="55" name="Text 26">
            <a:extLst>
              <a:ext uri="{FF2B5EF4-FFF2-40B4-BE49-F238E27FC236}">
                <a16:creationId xmlns:a16="http://schemas.microsoft.com/office/drawing/2014/main" id="{E29A1909-9E6F-0BF2-C703-D460E6B2F857}"/>
              </a:ext>
            </a:extLst>
          </p:cNvPr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8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89955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 0">
            <a:extLst>
              <a:ext uri="{FF2B5EF4-FFF2-40B4-BE49-F238E27FC236}">
                <a16:creationId xmlns:a16="http://schemas.microsoft.com/office/drawing/2014/main" id="{9CED8D16-619F-CDEE-912E-8D112A7549B6}"/>
              </a:ext>
            </a:extLst>
          </p:cNvPr>
          <p:cNvSpPr/>
          <p:nvPr/>
        </p:nvSpPr>
        <p:spPr>
          <a:xfrm>
            <a:off x="548640" y="41148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Platform Modules</a:t>
            </a:r>
            <a:endParaRPr lang="en-US" sz="2600" dirty="0"/>
          </a:p>
        </p:txBody>
      </p:sp>
      <p:sp>
        <p:nvSpPr>
          <p:cNvPr id="77" name="Text 1">
            <a:extLst>
              <a:ext uri="{FF2B5EF4-FFF2-40B4-BE49-F238E27FC236}">
                <a16:creationId xmlns:a16="http://schemas.microsoft.com/office/drawing/2014/main" id="{8BCEFF67-A751-3827-8B7B-6B6E2C5F6F94}"/>
              </a:ext>
            </a:extLst>
          </p:cNvPr>
          <p:cNvSpPr/>
          <p:nvPr/>
        </p:nvSpPr>
        <p:spPr>
          <a:xfrm>
            <a:off x="548640" y="89611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Citizen-facing and intelligence-driven foundations — part 1 of 2</a:t>
            </a:r>
            <a:endParaRPr lang="en-US" sz="1250" dirty="0"/>
          </a:p>
        </p:txBody>
      </p:sp>
      <p:sp>
        <p:nvSpPr>
          <p:cNvPr id="79" name="Shape 2">
            <a:extLst>
              <a:ext uri="{FF2B5EF4-FFF2-40B4-BE49-F238E27FC236}">
                <a16:creationId xmlns:a16="http://schemas.microsoft.com/office/drawing/2014/main" id="{CCFDC3B3-95D7-023C-561E-DF1C59C0B584}"/>
              </a:ext>
            </a:extLst>
          </p:cNvPr>
          <p:cNvSpPr/>
          <p:nvPr/>
        </p:nvSpPr>
        <p:spPr>
          <a:xfrm>
            <a:off x="548640" y="1508760"/>
            <a:ext cx="538718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4">
                <a:alpha val="12000"/>
              </a:srgbClr>
            </a:outerShdw>
          </a:effectLst>
        </p:spPr>
      </p:sp>
      <p:sp>
        <p:nvSpPr>
          <p:cNvPr id="81" name="Shape 3">
            <a:extLst>
              <a:ext uri="{FF2B5EF4-FFF2-40B4-BE49-F238E27FC236}">
                <a16:creationId xmlns:a16="http://schemas.microsoft.com/office/drawing/2014/main" id="{5677F28A-6F79-E3A9-D60F-E3DF568B5563}"/>
              </a:ext>
            </a:extLst>
          </p:cNvPr>
          <p:cNvSpPr/>
          <p:nvPr/>
        </p:nvSpPr>
        <p:spPr>
          <a:xfrm>
            <a:off x="822960" y="17830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0A896"/>
          </a:solidFill>
          <a:ln/>
        </p:spPr>
      </p:sp>
      <p:pic>
        <p:nvPicPr>
          <p:cNvPr id="83" name="Image 0" descr="/home/claude/civicpulse/icon_citizen.png">
            <a:extLst>
              <a:ext uri="{FF2B5EF4-FFF2-40B4-BE49-F238E27FC236}">
                <a16:creationId xmlns:a16="http://schemas.microsoft.com/office/drawing/2014/main" id="{20FF0E5C-BA1C-B4FB-1135-8D2A8F17DC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1911096"/>
            <a:ext cx="310896" cy="310896"/>
          </a:xfrm>
          <a:prstGeom prst="rect">
            <a:avLst/>
          </a:prstGeom>
        </p:spPr>
      </p:pic>
      <p:sp>
        <p:nvSpPr>
          <p:cNvPr id="85" name="Text 4">
            <a:extLst>
              <a:ext uri="{FF2B5EF4-FFF2-40B4-BE49-F238E27FC236}">
                <a16:creationId xmlns:a16="http://schemas.microsoft.com/office/drawing/2014/main" id="{FF5F7681-B0E6-4913-ED6C-AB027C75751C}"/>
              </a:ext>
            </a:extLst>
          </p:cNvPr>
          <p:cNvSpPr/>
          <p:nvPr/>
        </p:nvSpPr>
        <p:spPr>
          <a:xfrm>
            <a:off x="1536192" y="1764792"/>
            <a:ext cx="415274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Citizen Portal</a:t>
            </a:r>
            <a:endParaRPr lang="en-US" sz="1450" dirty="0"/>
          </a:p>
        </p:txBody>
      </p:sp>
      <p:sp>
        <p:nvSpPr>
          <p:cNvPr id="87" name="Text 5">
            <a:extLst>
              <a:ext uri="{FF2B5EF4-FFF2-40B4-BE49-F238E27FC236}">
                <a16:creationId xmlns:a16="http://schemas.microsoft.com/office/drawing/2014/main" id="{73DA6691-9A99-2D84-82C9-261B2F6537F7}"/>
              </a:ext>
            </a:extLst>
          </p:cNvPr>
          <p:cNvSpPr/>
          <p:nvPr/>
        </p:nvSpPr>
        <p:spPr>
          <a:xfrm>
            <a:off x="822960" y="2468880"/>
            <a:ext cx="483854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A4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Self-service web portal where citizens register, raise complaints, track resolution status, and access civic services from any device.</a:t>
            </a:r>
            <a:endParaRPr lang="en-US" sz="1100" dirty="0"/>
          </a:p>
        </p:txBody>
      </p:sp>
      <p:sp>
        <p:nvSpPr>
          <p:cNvPr id="89" name="Shape 6">
            <a:extLst>
              <a:ext uri="{FF2B5EF4-FFF2-40B4-BE49-F238E27FC236}">
                <a16:creationId xmlns:a16="http://schemas.microsoft.com/office/drawing/2014/main" id="{4FD9F9C0-600C-C10B-7D8C-3E3A315855CC}"/>
              </a:ext>
            </a:extLst>
          </p:cNvPr>
          <p:cNvSpPr/>
          <p:nvPr/>
        </p:nvSpPr>
        <p:spPr>
          <a:xfrm>
            <a:off x="6263751" y="1508760"/>
            <a:ext cx="538718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4">
                <a:alpha val="12000"/>
              </a:srgbClr>
            </a:outerShdw>
          </a:effectLst>
        </p:spPr>
      </p:sp>
      <p:sp>
        <p:nvSpPr>
          <p:cNvPr id="91" name="Shape 7">
            <a:extLst>
              <a:ext uri="{FF2B5EF4-FFF2-40B4-BE49-F238E27FC236}">
                <a16:creationId xmlns:a16="http://schemas.microsoft.com/office/drawing/2014/main" id="{0EA7D622-2033-F02D-A122-6F4E465F4B9F}"/>
              </a:ext>
            </a:extLst>
          </p:cNvPr>
          <p:cNvSpPr/>
          <p:nvPr/>
        </p:nvSpPr>
        <p:spPr>
          <a:xfrm>
            <a:off x="6530188" y="17830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0A896"/>
          </a:solidFill>
          <a:ln/>
        </p:spPr>
      </p:sp>
      <p:pic>
        <p:nvPicPr>
          <p:cNvPr id="93" name="Image 1" descr="/home/claude/civicpulse/icon_complaint.png">
            <a:extLst>
              <a:ext uri="{FF2B5EF4-FFF2-40B4-BE49-F238E27FC236}">
                <a16:creationId xmlns:a16="http://schemas.microsoft.com/office/drawing/2014/main" id="{B0662042-25B5-40F6-E362-A47C49E70C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8204" y="1911096"/>
            <a:ext cx="310896" cy="310896"/>
          </a:xfrm>
          <a:prstGeom prst="rect">
            <a:avLst/>
          </a:prstGeom>
        </p:spPr>
      </p:pic>
      <p:sp>
        <p:nvSpPr>
          <p:cNvPr id="95" name="Text 8">
            <a:extLst>
              <a:ext uri="{FF2B5EF4-FFF2-40B4-BE49-F238E27FC236}">
                <a16:creationId xmlns:a16="http://schemas.microsoft.com/office/drawing/2014/main" id="{393688AA-6821-61C4-9227-5883624B0314}"/>
              </a:ext>
            </a:extLst>
          </p:cNvPr>
          <p:cNvSpPr/>
          <p:nvPr/>
        </p:nvSpPr>
        <p:spPr>
          <a:xfrm>
            <a:off x="7243420" y="1764792"/>
            <a:ext cx="415274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Complaint Management</a:t>
            </a:r>
            <a:endParaRPr lang="en-US" sz="1450" dirty="0"/>
          </a:p>
        </p:txBody>
      </p:sp>
      <p:sp>
        <p:nvSpPr>
          <p:cNvPr id="97" name="Text 9">
            <a:extLst>
              <a:ext uri="{FF2B5EF4-FFF2-40B4-BE49-F238E27FC236}">
                <a16:creationId xmlns:a16="http://schemas.microsoft.com/office/drawing/2014/main" id="{5AE3E06A-859A-2DF6-CD1A-1E925F3B2DF7}"/>
              </a:ext>
            </a:extLst>
          </p:cNvPr>
          <p:cNvSpPr/>
          <p:nvPr/>
        </p:nvSpPr>
        <p:spPr>
          <a:xfrm>
            <a:off x="6530188" y="2468880"/>
            <a:ext cx="483854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A4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Centralized system to log, categorize, assign, and monitor every citizen complaint through a structured, auditable lifecycle.</a:t>
            </a:r>
            <a:endParaRPr lang="en-US" sz="1100" dirty="0"/>
          </a:p>
        </p:txBody>
      </p:sp>
      <p:sp>
        <p:nvSpPr>
          <p:cNvPr id="99" name="Shape 10">
            <a:extLst>
              <a:ext uri="{FF2B5EF4-FFF2-40B4-BE49-F238E27FC236}">
                <a16:creationId xmlns:a16="http://schemas.microsoft.com/office/drawing/2014/main" id="{D614E648-259A-EC16-82F3-A2F9891EBD22}"/>
              </a:ext>
            </a:extLst>
          </p:cNvPr>
          <p:cNvSpPr/>
          <p:nvPr/>
        </p:nvSpPr>
        <p:spPr>
          <a:xfrm>
            <a:off x="548640" y="4160520"/>
            <a:ext cx="538718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4">
                <a:alpha val="12000"/>
              </a:srgbClr>
            </a:outerShdw>
          </a:effectLst>
        </p:spPr>
      </p:sp>
      <p:sp>
        <p:nvSpPr>
          <p:cNvPr id="101" name="Shape 11">
            <a:extLst>
              <a:ext uri="{FF2B5EF4-FFF2-40B4-BE49-F238E27FC236}">
                <a16:creationId xmlns:a16="http://schemas.microsoft.com/office/drawing/2014/main" id="{2FF50A00-9C87-B36F-F09E-6A080EE00657}"/>
              </a:ext>
            </a:extLst>
          </p:cNvPr>
          <p:cNvSpPr/>
          <p:nvPr/>
        </p:nvSpPr>
        <p:spPr>
          <a:xfrm>
            <a:off x="822960" y="443484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0A896"/>
          </a:solidFill>
          <a:ln/>
        </p:spPr>
      </p:sp>
      <p:pic>
        <p:nvPicPr>
          <p:cNvPr id="103" name="Image 2" descr="/home/claude/civicpulse/icon_smart_detect.png">
            <a:extLst>
              <a:ext uri="{FF2B5EF4-FFF2-40B4-BE49-F238E27FC236}">
                <a16:creationId xmlns:a16="http://schemas.microsoft.com/office/drawing/2014/main" id="{44CFE6E3-A417-930C-FF9F-73F543886D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" y="4562856"/>
            <a:ext cx="310896" cy="310896"/>
          </a:xfrm>
          <a:prstGeom prst="rect">
            <a:avLst/>
          </a:prstGeom>
        </p:spPr>
      </p:pic>
      <p:sp>
        <p:nvSpPr>
          <p:cNvPr id="105" name="Text 12">
            <a:extLst>
              <a:ext uri="{FF2B5EF4-FFF2-40B4-BE49-F238E27FC236}">
                <a16:creationId xmlns:a16="http://schemas.microsoft.com/office/drawing/2014/main" id="{89571F4F-0D49-2341-54D7-96B5408EB6EC}"/>
              </a:ext>
            </a:extLst>
          </p:cNvPr>
          <p:cNvSpPr/>
          <p:nvPr/>
        </p:nvSpPr>
        <p:spPr>
          <a:xfrm>
            <a:off x="1536192" y="4416552"/>
            <a:ext cx="415274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Complaint Detection</a:t>
            </a:r>
            <a:endParaRPr lang="en-US" sz="1450" dirty="0"/>
          </a:p>
        </p:txBody>
      </p:sp>
      <p:sp>
        <p:nvSpPr>
          <p:cNvPr id="107" name="Text 13">
            <a:extLst>
              <a:ext uri="{FF2B5EF4-FFF2-40B4-BE49-F238E27FC236}">
                <a16:creationId xmlns:a16="http://schemas.microsoft.com/office/drawing/2014/main" id="{641A27B8-8A98-51A1-D49A-962164188969}"/>
              </a:ext>
            </a:extLst>
          </p:cNvPr>
          <p:cNvSpPr/>
          <p:nvPr/>
        </p:nvSpPr>
        <p:spPr>
          <a:xfrm>
            <a:off x="822960" y="5120640"/>
            <a:ext cx="483854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A4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AI/ML engine that auto-classifies incoming complaints, detects duplicates and spam, and flags critical issues for immediate attention.</a:t>
            </a:r>
            <a:endParaRPr lang="en-US" sz="1100" dirty="0"/>
          </a:p>
        </p:txBody>
      </p:sp>
      <p:sp>
        <p:nvSpPr>
          <p:cNvPr id="109" name="Shape 14">
            <a:extLst>
              <a:ext uri="{FF2B5EF4-FFF2-40B4-BE49-F238E27FC236}">
                <a16:creationId xmlns:a16="http://schemas.microsoft.com/office/drawing/2014/main" id="{A91359F2-49A5-6D97-6A51-7B4FEBBF0658}"/>
              </a:ext>
            </a:extLst>
          </p:cNvPr>
          <p:cNvSpPr/>
          <p:nvPr/>
        </p:nvSpPr>
        <p:spPr>
          <a:xfrm>
            <a:off x="6255868" y="4160520"/>
            <a:ext cx="538718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4">
                <a:alpha val="12000"/>
              </a:srgbClr>
            </a:outerShdw>
          </a:effectLst>
        </p:spPr>
      </p:sp>
      <p:sp>
        <p:nvSpPr>
          <p:cNvPr id="111" name="Shape 15">
            <a:extLst>
              <a:ext uri="{FF2B5EF4-FFF2-40B4-BE49-F238E27FC236}">
                <a16:creationId xmlns:a16="http://schemas.microsoft.com/office/drawing/2014/main" id="{22236674-C207-7F24-C298-711E679FCAB6}"/>
              </a:ext>
            </a:extLst>
          </p:cNvPr>
          <p:cNvSpPr/>
          <p:nvPr/>
        </p:nvSpPr>
        <p:spPr>
          <a:xfrm>
            <a:off x="6530188" y="443484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0A896"/>
          </a:solidFill>
          <a:ln/>
        </p:spPr>
      </p:sp>
      <p:pic>
        <p:nvPicPr>
          <p:cNvPr id="113" name="Image 3" descr="/home/claude/civicpulse/icon_escalation.png">
            <a:extLst>
              <a:ext uri="{FF2B5EF4-FFF2-40B4-BE49-F238E27FC236}">
                <a16:creationId xmlns:a16="http://schemas.microsoft.com/office/drawing/2014/main" id="{0ED11766-ACF7-06C2-E766-20ABE0958A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8204" y="4562856"/>
            <a:ext cx="310896" cy="310896"/>
          </a:xfrm>
          <a:prstGeom prst="rect">
            <a:avLst/>
          </a:prstGeom>
        </p:spPr>
      </p:pic>
      <p:sp>
        <p:nvSpPr>
          <p:cNvPr id="115" name="Text 16">
            <a:extLst>
              <a:ext uri="{FF2B5EF4-FFF2-40B4-BE49-F238E27FC236}">
                <a16:creationId xmlns:a16="http://schemas.microsoft.com/office/drawing/2014/main" id="{9B481B5F-9E66-B757-5B1D-6B67D67A1D83}"/>
              </a:ext>
            </a:extLst>
          </p:cNvPr>
          <p:cNvSpPr/>
          <p:nvPr/>
        </p:nvSpPr>
        <p:spPr>
          <a:xfrm>
            <a:off x="7243420" y="4416552"/>
            <a:ext cx="415274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Escalation Engine</a:t>
            </a:r>
            <a:endParaRPr lang="en-US" sz="1450" dirty="0"/>
          </a:p>
        </p:txBody>
      </p:sp>
      <p:sp>
        <p:nvSpPr>
          <p:cNvPr id="117" name="Text 17">
            <a:extLst>
              <a:ext uri="{FF2B5EF4-FFF2-40B4-BE49-F238E27FC236}">
                <a16:creationId xmlns:a16="http://schemas.microsoft.com/office/drawing/2014/main" id="{EF6E1178-4F56-E171-5B7C-0B9E265B60C7}"/>
              </a:ext>
            </a:extLst>
          </p:cNvPr>
          <p:cNvSpPr/>
          <p:nvPr/>
        </p:nvSpPr>
        <p:spPr>
          <a:xfrm>
            <a:off x="6530188" y="5120640"/>
            <a:ext cx="483854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A4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Rule-based engine that automatically escalates unresolved or overdue complaints up the chain of authority based on SLA timers.</a:t>
            </a:r>
            <a:endParaRPr lang="en-US" sz="1100" dirty="0"/>
          </a:p>
        </p:txBody>
      </p:sp>
      <p:sp>
        <p:nvSpPr>
          <p:cNvPr id="119" name="Text 18">
            <a:extLst>
              <a:ext uri="{FF2B5EF4-FFF2-40B4-BE49-F238E27FC236}">
                <a16:creationId xmlns:a16="http://schemas.microsoft.com/office/drawing/2014/main" id="{18006A55-9E66-C344-E63B-6D73D8078D5C}"/>
              </a:ext>
            </a:extLst>
          </p:cNvPr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CivicPulse  |  Smart Governance Management Platform</a:t>
            </a:r>
            <a:endParaRPr lang="en-US" sz="900" dirty="0"/>
          </a:p>
        </p:txBody>
      </p:sp>
      <p:sp>
        <p:nvSpPr>
          <p:cNvPr id="121" name="Text 19">
            <a:extLst>
              <a:ext uri="{FF2B5EF4-FFF2-40B4-BE49-F238E27FC236}">
                <a16:creationId xmlns:a16="http://schemas.microsoft.com/office/drawing/2014/main" id="{1DD68027-2B92-00EE-501A-0EB1790FC29C}"/>
              </a:ext>
            </a:extLst>
          </p:cNvPr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DF9C45EF-8D13-EE8E-B6B6-C2DDD56180E5}"/>
              </a:ext>
            </a:extLst>
          </p:cNvPr>
          <p:cNvSpPr/>
          <p:nvPr/>
        </p:nvSpPr>
        <p:spPr>
          <a:xfrm>
            <a:off x="548640" y="41148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Platform Modules</a:t>
            </a:r>
            <a:endParaRPr lang="en-US" sz="26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8DFBAF24-5B9D-A9EF-2014-1AEE6D8FBD88}"/>
              </a:ext>
            </a:extLst>
          </p:cNvPr>
          <p:cNvSpPr/>
          <p:nvPr/>
        </p:nvSpPr>
        <p:spPr>
          <a:xfrm>
            <a:off x="548640" y="89611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Administration, engagement, and accountability — part 2 of 2</a:t>
            </a:r>
            <a:endParaRPr lang="en-US" sz="1250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1B0706F4-F567-3E66-FD7F-1B3CAC01508B}"/>
              </a:ext>
            </a:extLst>
          </p:cNvPr>
          <p:cNvSpPr/>
          <p:nvPr/>
        </p:nvSpPr>
        <p:spPr>
          <a:xfrm>
            <a:off x="548640" y="1508760"/>
            <a:ext cx="538718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4">
                <a:alpha val="12000"/>
              </a:srgbClr>
            </a:outerShdw>
          </a:effectLst>
        </p:spPr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786D38CE-DA18-15A7-4017-FFCCF34DB7D7}"/>
              </a:ext>
            </a:extLst>
          </p:cNvPr>
          <p:cNvSpPr/>
          <p:nvPr/>
        </p:nvSpPr>
        <p:spPr>
          <a:xfrm>
            <a:off x="822960" y="17830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0A896"/>
          </a:solidFill>
          <a:ln/>
        </p:spPr>
      </p:sp>
      <p:pic>
        <p:nvPicPr>
          <p:cNvPr id="11" name="Image 0" descr="/home/claude/civicpulse/icon_dashboard.png">
            <a:extLst>
              <a:ext uri="{FF2B5EF4-FFF2-40B4-BE49-F238E27FC236}">
                <a16:creationId xmlns:a16="http://schemas.microsoft.com/office/drawing/2014/main" id="{905E8503-0D00-E17F-2F84-5922F714D8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1911096"/>
            <a:ext cx="310896" cy="310896"/>
          </a:xfrm>
          <a:prstGeom prst="rect">
            <a:avLst/>
          </a:prstGeom>
        </p:spPr>
      </p:pic>
      <p:sp>
        <p:nvSpPr>
          <p:cNvPr id="13" name="Text 4">
            <a:extLst>
              <a:ext uri="{FF2B5EF4-FFF2-40B4-BE49-F238E27FC236}">
                <a16:creationId xmlns:a16="http://schemas.microsoft.com/office/drawing/2014/main" id="{36866CE6-C7BC-5913-35C5-9C00D0591A76}"/>
              </a:ext>
            </a:extLst>
          </p:cNvPr>
          <p:cNvSpPr/>
          <p:nvPr/>
        </p:nvSpPr>
        <p:spPr>
          <a:xfrm>
            <a:off x="1536192" y="1764792"/>
            <a:ext cx="415274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Dashboard</a:t>
            </a:r>
            <a:endParaRPr lang="en-US" sz="1450" dirty="0"/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FF479211-BEAA-C9F2-B777-E3E635C019E9}"/>
              </a:ext>
            </a:extLst>
          </p:cNvPr>
          <p:cNvSpPr/>
          <p:nvPr/>
        </p:nvSpPr>
        <p:spPr>
          <a:xfrm>
            <a:off x="822960" y="2468880"/>
            <a:ext cx="483854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A4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analytics console for officials to monitor complaint volumes, resolution rates, SLA breaches, and department performance.</a:t>
            </a:r>
            <a:endParaRPr lang="en-US" sz="1100" dirty="0"/>
          </a:p>
        </p:txBody>
      </p:sp>
      <p:sp>
        <p:nvSpPr>
          <p:cNvPr id="17" name="Shape 6">
            <a:extLst>
              <a:ext uri="{FF2B5EF4-FFF2-40B4-BE49-F238E27FC236}">
                <a16:creationId xmlns:a16="http://schemas.microsoft.com/office/drawing/2014/main" id="{130957A2-FA74-2859-B948-BB6C9A8DBBFB}"/>
              </a:ext>
            </a:extLst>
          </p:cNvPr>
          <p:cNvSpPr/>
          <p:nvPr/>
        </p:nvSpPr>
        <p:spPr>
          <a:xfrm>
            <a:off x="6255868" y="1508760"/>
            <a:ext cx="538718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4">
                <a:alpha val="12000"/>
              </a:srgbClr>
            </a:outerShdw>
          </a:effectLst>
        </p:spPr>
      </p:sp>
      <p:sp>
        <p:nvSpPr>
          <p:cNvPr id="19" name="Shape 7">
            <a:extLst>
              <a:ext uri="{FF2B5EF4-FFF2-40B4-BE49-F238E27FC236}">
                <a16:creationId xmlns:a16="http://schemas.microsoft.com/office/drawing/2014/main" id="{D637CB21-423D-DACB-B785-B3ADEA3EC8F2}"/>
              </a:ext>
            </a:extLst>
          </p:cNvPr>
          <p:cNvSpPr/>
          <p:nvPr/>
        </p:nvSpPr>
        <p:spPr>
          <a:xfrm>
            <a:off x="6530188" y="17830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0A896"/>
          </a:solidFill>
          <a:ln/>
        </p:spPr>
      </p:sp>
      <p:pic>
        <p:nvPicPr>
          <p:cNvPr id="21" name="Image 1" descr="/home/claude/civicpulse/icon_notification.png">
            <a:extLst>
              <a:ext uri="{FF2B5EF4-FFF2-40B4-BE49-F238E27FC236}">
                <a16:creationId xmlns:a16="http://schemas.microsoft.com/office/drawing/2014/main" id="{41A6A53D-150D-C663-1599-6646E965D2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8204" y="1911096"/>
            <a:ext cx="310896" cy="310896"/>
          </a:xfrm>
          <a:prstGeom prst="rect">
            <a:avLst/>
          </a:prstGeom>
        </p:spPr>
      </p:pic>
      <p:sp>
        <p:nvSpPr>
          <p:cNvPr id="23" name="Text 8">
            <a:extLst>
              <a:ext uri="{FF2B5EF4-FFF2-40B4-BE49-F238E27FC236}">
                <a16:creationId xmlns:a16="http://schemas.microsoft.com/office/drawing/2014/main" id="{0F7AD819-A43E-7700-1BE3-106D82E0B676}"/>
              </a:ext>
            </a:extLst>
          </p:cNvPr>
          <p:cNvSpPr/>
          <p:nvPr/>
        </p:nvSpPr>
        <p:spPr>
          <a:xfrm>
            <a:off x="7243420" y="1764792"/>
            <a:ext cx="415274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Notification &amp; Feedback</a:t>
            </a:r>
            <a:endParaRPr lang="en-US" sz="1450" dirty="0"/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C2F59F2F-1444-467E-A8F9-71893B60E0AE}"/>
              </a:ext>
            </a:extLst>
          </p:cNvPr>
          <p:cNvSpPr/>
          <p:nvPr/>
        </p:nvSpPr>
        <p:spPr>
          <a:xfrm>
            <a:off x="6530188" y="2468880"/>
            <a:ext cx="483854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A4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Automated SMS, email, and push alerts on status changes, paired with citizen feedback and satisfaction ratings on closure.</a:t>
            </a:r>
            <a:endParaRPr lang="en-US" sz="1100" dirty="0"/>
          </a:p>
        </p:txBody>
      </p:sp>
      <p:sp>
        <p:nvSpPr>
          <p:cNvPr id="27" name="Shape 10">
            <a:extLst>
              <a:ext uri="{FF2B5EF4-FFF2-40B4-BE49-F238E27FC236}">
                <a16:creationId xmlns:a16="http://schemas.microsoft.com/office/drawing/2014/main" id="{A0F31A94-107A-DFAC-02E4-D2B901103333}"/>
              </a:ext>
            </a:extLst>
          </p:cNvPr>
          <p:cNvSpPr/>
          <p:nvPr/>
        </p:nvSpPr>
        <p:spPr>
          <a:xfrm>
            <a:off x="548640" y="4160520"/>
            <a:ext cx="538718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4">
                <a:alpha val="12000"/>
              </a:srgbClr>
            </a:outerShdw>
          </a:effectLst>
        </p:spPr>
      </p:sp>
      <p:sp>
        <p:nvSpPr>
          <p:cNvPr id="29" name="Shape 11">
            <a:extLst>
              <a:ext uri="{FF2B5EF4-FFF2-40B4-BE49-F238E27FC236}">
                <a16:creationId xmlns:a16="http://schemas.microsoft.com/office/drawing/2014/main" id="{4184C389-695F-011A-F055-8B79443F0DE4}"/>
              </a:ext>
            </a:extLst>
          </p:cNvPr>
          <p:cNvSpPr/>
          <p:nvPr/>
        </p:nvSpPr>
        <p:spPr>
          <a:xfrm>
            <a:off x="822960" y="443484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0A896"/>
          </a:solidFill>
          <a:ln/>
        </p:spPr>
      </p:sp>
      <p:pic>
        <p:nvPicPr>
          <p:cNvPr id="31" name="Image 2" descr="/home/claude/civicpulse/icon_priority.png">
            <a:extLst>
              <a:ext uri="{FF2B5EF4-FFF2-40B4-BE49-F238E27FC236}">
                <a16:creationId xmlns:a16="http://schemas.microsoft.com/office/drawing/2014/main" id="{E8A657F6-27AB-47BD-E83E-34642CB9B1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4562856"/>
            <a:ext cx="310896" cy="310896"/>
          </a:xfrm>
          <a:prstGeom prst="rect">
            <a:avLst/>
          </a:prstGeom>
        </p:spPr>
      </p:pic>
      <p:sp>
        <p:nvSpPr>
          <p:cNvPr id="33" name="Text 12">
            <a:extLst>
              <a:ext uri="{FF2B5EF4-FFF2-40B4-BE49-F238E27FC236}">
                <a16:creationId xmlns:a16="http://schemas.microsoft.com/office/drawing/2014/main" id="{072042CC-0C28-4077-5DBC-822CC330D9C7}"/>
              </a:ext>
            </a:extLst>
          </p:cNvPr>
          <p:cNvSpPr/>
          <p:nvPr/>
        </p:nvSpPr>
        <p:spPr>
          <a:xfrm>
            <a:off x="1536192" y="4416552"/>
            <a:ext cx="415274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Priority Management</a:t>
            </a:r>
            <a:endParaRPr lang="en-US" sz="1450" dirty="0"/>
          </a:p>
        </p:txBody>
      </p:sp>
      <p:sp>
        <p:nvSpPr>
          <p:cNvPr id="35" name="Text 13">
            <a:extLst>
              <a:ext uri="{FF2B5EF4-FFF2-40B4-BE49-F238E27FC236}">
                <a16:creationId xmlns:a16="http://schemas.microsoft.com/office/drawing/2014/main" id="{3D2DE993-27DD-0267-CC43-792C684B2D19}"/>
              </a:ext>
            </a:extLst>
          </p:cNvPr>
          <p:cNvSpPr/>
          <p:nvPr/>
        </p:nvSpPr>
        <p:spPr>
          <a:xfrm>
            <a:off x="822960" y="5120640"/>
            <a:ext cx="483854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A4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Dynamically ranks open complaints by severity, public impact, and urgency to optimize the order in which teams respond.</a:t>
            </a:r>
            <a:endParaRPr lang="en-US" sz="1100" dirty="0"/>
          </a:p>
        </p:txBody>
      </p:sp>
      <p:sp>
        <p:nvSpPr>
          <p:cNvPr id="37" name="Shape 14">
            <a:extLst>
              <a:ext uri="{FF2B5EF4-FFF2-40B4-BE49-F238E27FC236}">
                <a16:creationId xmlns:a16="http://schemas.microsoft.com/office/drawing/2014/main" id="{8FACC5BE-EB8C-AFB3-465F-707FA7268EE4}"/>
              </a:ext>
            </a:extLst>
          </p:cNvPr>
          <p:cNvSpPr/>
          <p:nvPr/>
        </p:nvSpPr>
        <p:spPr>
          <a:xfrm>
            <a:off x="6255868" y="4160520"/>
            <a:ext cx="538718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4">
                <a:alpha val="12000"/>
              </a:srgbClr>
            </a:outerShdw>
          </a:effectLst>
        </p:spPr>
      </p:sp>
      <p:sp>
        <p:nvSpPr>
          <p:cNvPr id="39" name="Shape 15">
            <a:extLst>
              <a:ext uri="{FF2B5EF4-FFF2-40B4-BE49-F238E27FC236}">
                <a16:creationId xmlns:a16="http://schemas.microsoft.com/office/drawing/2014/main" id="{2B81B5A0-F884-3F20-1D6B-DEA09B319730}"/>
              </a:ext>
            </a:extLst>
          </p:cNvPr>
          <p:cNvSpPr/>
          <p:nvPr/>
        </p:nvSpPr>
        <p:spPr>
          <a:xfrm>
            <a:off x="6530188" y="443484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0A896"/>
          </a:solidFill>
          <a:ln/>
        </p:spPr>
      </p:sp>
      <p:pic>
        <p:nvPicPr>
          <p:cNvPr id="41" name="Image 3" descr="/home/claude/civicpulse/icon_department.png">
            <a:extLst>
              <a:ext uri="{FF2B5EF4-FFF2-40B4-BE49-F238E27FC236}">
                <a16:creationId xmlns:a16="http://schemas.microsoft.com/office/drawing/2014/main" id="{DA477BD0-95A6-8622-BF9F-4D39AC3AEF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8204" y="4562856"/>
            <a:ext cx="310896" cy="310896"/>
          </a:xfrm>
          <a:prstGeom prst="rect">
            <a:avLst/>
          </a:prstGeom>
        </p:spPr>
      </p:pic>
      <p:sp>
        <p:nvSpPr>
          <p:cNvPr id="43" name="Text 16">
            <a:extLst>
              <a:ext uri="{FF2B5EF4-FFF2-40B4-BE49-F238E27FC236}">
                <a16:creationId xmlns:a16="http://schemas.microsoft.com/office/drawing/2014/main" id="{6E4B7C71-A88B-D061-2ED2-45A1147469FD}"/>
              </a:ext>
            </a:extLst>
          </p:cNvPr>
          <p:cNvSpPr/>
          <p:nvPr/>
        </p:nvSpPr>
        <p:spPr>
          <a:xfrm>
            <a:off x="7243420" y="4416552"/>
            <a:ext cx="415274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Department-wise Management</a:t>
            </a:r>
            <a:endParaRPr lang="en-US" sz="1450" dirty="0"/>
          </a:p>
        </p:txBody>
      </p:sp>
      <p:sp>
        <p:nvSpPr>
          <p:cNvPr id="45" name="Text 17">
            <a:extLst>
              <a:ext uri="{FF2B5EF4-FFF2-40B4-BE49-F238E27FC236}">
                <a16:creationId xmlns:a16="http://schemas.microsoft.com/office/drawing/2014/main" id="{388554A2-7E68-F269-49A3-B4A169DBA7AF}"/>
              </a:ext>
            </a:extLst>
          </p:cNvPr>
          <p:cNvSpPr/>
          <p:nvPr/>
        </p:nvSpPr>
        <p:spPr>
          <a:xfrm>
            <a:off x="6530188" y="5120640"/>
            <a:ext cx="483854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A4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Routes each complaint to the correct department or jurisdiction, keeping ownership, workload, and accountability clearly defined.</a:t>
            </a:r>
            <a:endParaRPr lang="en-US" sz="1100" dirty="0"/>
          </a:p>
        </p:txBody>
      </p:sp>
      <p:sp>
        <p:nvSpPr>
          <p:cNvPr id="47" name="Text 18">
            <a:extLst>
              <a:ext uri="{FF2B5EF4-FFF2-40B4-BE49-F238E27FC236}">
                <a16:creationId xmlns:a16="http://schemas.microsoft.com/office/drawing/2014/main" id="{5F9FFFA5-19C5-9BD5-8818-7325C78D5E68}"/>
              </a:ext>
            </a:extLst>
          </p:cNvPr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CivicPulse  |  Smart Governance Management Platform</a:t>
            </a:r>
            <a:endParaRPr lang="en-US" sz="900" dirty="0"/>
          </a:p>
        </p:txBody>
      </p:sp>
      <p:sp>
        <p:nvSpPr>
          <p:cNvPr id="49" name="Text 19">
            <a:extLst>
              <a:ext uri="{FF2B5EF4-FFF2-40B4-BE49-F238E27FC236}">
                <a16:creationId xmlns:a16="http://schemas.microsoft.com/office/drawing/2014/main" id="{2DA8126F-4970-348B-B1C0-FE5E666E06E7}"/>
              </a:ext>
            </a:extLst>
          </p:cNvPr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2635752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Unique &amp; Future-Ready Features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Additions that push CivicPulse beyond a standard complaint system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8718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830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F2994A"/>
          </a:solidFill>
          <a:ln/>
        </p:spPr>
      </p:sp>
      <p:pic>
        <p:nvPicPr>
          <p:cNvPr id="6" name="Image 0" descr="/home/claude/civicpulse/icon_chatb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1911096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36192" y="1764792"/>
            <a:ext cx="415274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Chatbot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2468880"/>
            <a:ext cx="483854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A4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Conversational virtual assistant available 24/7 to guide citizens, answer FAQs, and file complaints through natural language.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55868" y="1508760"/>
            <a:ext cx="538718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4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0188" y="17830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F2994A"/>
          </a:solidFill>
          <a:ln/>
        </p:spPr>
      </p:sp>
      <p:pic>
        <p:nvPicPr>
          <p:cNvPr id="11" name="Image 1" descr="/home/claude/civicpulse/icon_langu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8204" y="1911096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43420" y="1764792"/>
            <a:ext cx="415274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Multi-language Support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530188" y="2468880"/>
            <a:ext cx="483854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A4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Localized interfaces in regional languages so every citizen, regardless of language, can access services with ease.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4160520"/>
            <a:ext cx="538718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4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443484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F2994A"/>
          </a:solidFill>
          <a:ln/>
        </p:spPr>
      </p:sp>
      <p:pic>
        <p:nvPicPr>
          <p:cNvPr id="16" name="Image 2" descr="/home/claude/civicpulse/icon_voi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" y="4562856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36192" y="4416552"/>
            <a:ext cx="415274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Voice-Enabled Complaint Filing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22960" y="5120640"/>
            <a:ext cx="483854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A4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Voice-to-text complaint registration that improves accessibility for citizens with low literacy or limited typing ability.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55868" y="4160520"/>
            <a:ext cx="5387188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1B2A44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30188" y="443484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F2994A"/>
          </a:solidFill>
          <a:ln/>
        </p:spPr>
      </p:sp>
      <p:pic>
        <p:nvPicPr>
          <p:cNvPr id="21" name="Image 3" descr="/home/claude/civicpulse/icon_analytic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8204" y="4562856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43420" y="4416552"/>
            <a:ext cx="415274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Predictive Analytics &amp; Insights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530188" y="5120640"/>
            <a:ext cx="483854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A4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Forecasts complaint trends and geographic hotspots, enabling departments to act proactively rather than reactively.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CivicPulse  |  Smart Governance Management Platform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847B175-753D-D76B-7681-10667B3A4E8D}"/>
              </a:ext>
            </a:extLst>
          </p:cNvPr>
          <p:cNvSpPr txBox="1"/>
          <p:nvPr/>
        </p:nvSpPr>
        <p:spPr>
          <a:xfrm>
            <a:off x="621792" y="349334"/>
            <a:ext cx="322395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253F"/>
                </a:solidFill>
              </a:defRPr>
            </a:pPr>
            <a:r>
              <a:rPr dirty="0">
                <a:latin typeface="Georgia" panose="02040502050405020303" pitchFamily="18" charset="0"/>
              </a:rPr>
              <a:t>System Workflow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99CF5B-999E-BAFD-DD96-549DEED287BB}"/>
              </a:ext>
            </a:extLst>
          </p:cNvPr>
          <p:cNvSpPr txBox="1"/>
          <p:nvPr/>
        </p:nvSpPr>
        <p:spPr>
          <a:xfrm>
            <a:off x="621792" y="841248"/>
            <a:ext cx="5033750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382"/>
                </a:solidFill>
              </a:defRPr>
            </a:pPr>
            <a:r>
              <a:rPr sz="1250" dirty="0">
                <a:latin typeface="Georgia" panose="02040502050405020303" pitchFamily="18" charset="0"/>
              </a:rPr>
              <a:t>From citizen submission to resolution and continuous improvement.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51AC2E8-DB8D-63CE-58CE-428560F6EE4F}"/>
              </a:ext>
            </a:extLst>
          </p:cNvPr>
          <p:cNvSpPr/>
          <p:nvPr/>
        </p:nvSpPr>
        <p:spPr>
          <a:xfrm>
            <a:off x="1697765" y="1400606"/>
            <a:ext cx="777240" cy="77724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27BBD3-5832-A7B1-A2EE-F8A7B1D7A6A4}"/>
              </a:ext>
            </a:extLst>
          </p:cNvPr>
          <p:cNvSpPr txBox="1"/>
          <p:nvPr/>
        </p:nvSpPr>
        <p:spPr>
          <a:xfrm>
            <a:off x="1686588" y="1601774"/>
            <a:ext cx="777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22C3E5-6A97-CA54-B9C8-9CE85900AFFF}"/>
              </a:ext>
            </a:extLst>
          </p:cNvPr>
          <p:cNvSpPr txBox="1"/>
          <p:nvPr/>
        </p:nvSpPr>
        <p:spPr>
          <a:xfrm>
            <a:off x="1457988" y="2360726"/>
            <a:ext cx="1234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1253F"/>
                </a:solidFill>
              </a:defRPr>
            </a:pPr>
            <a:r>
              <a:t>Submit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64B704-F176-F238-6123-9B63C5084276}"/>
              </a:ext>
            </a:extLst>
          </p:cNvPr>
          <p:cNvSpPr txBox="1"/>
          <p:nvPr/>
        </p:nvSpPr>
        <p:spPr>
          <a:xfrm>
            <a:off x="1388560" y="2712255"/>
            <a:ext cx="13716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263241"/>
                </a:solidFill>
              </a:defRPr>
            </a:pPr>
            <a:r>
              <a:rPr sz="1400" dirty="0"/>
              <a:t>Citizen submits a complaint or service request.</a:t>
            </a:r>
          </a:p>
        </p:txBody>
      </p:sp>
      <p:cxnSp>
        <p:nvCxnSpPr>
          <p:cNvPr id="9" name="Connector 8">
            <a:extLst>
              <a:ext uri="{FF2B5EF4-FFF2-40B4-BE49-F238E27FC236}">
                <a16:creationId xmlns:a16="http://schemas.microsoft.com/office/drawing/2014/main" id="{12C8C254-B432-65CE-1746-0DD26007D864}"/>
              </a:ext>
            </a:extLst>
          </p:cNvPr>
          <p:cNvCxnSpPr>
            <a:cxnSpLocks/>
            <a:stCxn id="6" idx="3"/>
            <a:endCxn id="11" idx="1"/>
          </p:cNvCxnSpPr>
          <p:nvPr/>
        </p:nvCxnSpPr>
        <p:spPr>
          <a:xfrm>
            <a:off x="2463828" y="1761794"/>
            <a:ext cx="1437239" cy="0"/>
          </a:xfrm>
          <a:prstGeom prst="line">
            <a:avLst/>
          </a:prstGeom>
          <a:ln w="25400"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B4858C23-4EA7-0BBA-FA42-4BCA22169307}"/>
              </a:ext>
            </a:extLst>
          </p:cNvPr>
          <p:cNvSpPr/>
          <p:nvPr/>
        </p:nvSpPr>
        <p:spPr>
          <a:xfrm>
            <a:off x="3901067" y="1400606"/>
            <a:ext cx="777240" cy="777240"/>
          </a:xfrm>
          <a:prstGeom prst="ellipse">
            <a:avLst/>
          </a:prstGeom>
          <a:solidFill>
            <a:srgbClr val="439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9A231E-36D1-DB73-B34A-F2D6E543EB1F}"/>
              </a:ext>
            </a:extLst>
          </p:cNvPr>
          <p:cNvSpPr txBox="1"/>
          <p:nvPr/>
        </p:nvSpPr>
        <p:spPr>
          <a:xfrm>
            <a:off x="3901067" y="1601774"/>
            <a:ext cx="777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10A6B4-7620-3190-675E-6C185ECB6971}"/>
              </a:ext>
            </a:extLst>
          </p:cNvPr>
          <p:cNvSpPr txBox="1"/>
          <p:nvPr/>
        </p:nvSpPr>
        <p:spPr>
          <a:xfrm>
            <a:off x="3672467" y="2360726"/>
            <a:ext cx="1234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1253F"/>
                </a:solidFill>
              </a:defRPr>
            </a:pPr>
            <a:r>
              <a:t>Validate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B5CB1A4-41CB-240D-9720-64DE34D971AF}"/>
              </a:ext>
            </a:extLst>
          </p:cNvPr>
          <p:cNvSpPr txBox="1"/>
          <p:nvPr/>
        </p:nvSpPr>
        <p:spPr>
          <a:xfrm>
            <a:off x="3389373" y="2703658"/>
            <a:ext cx="169672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263241"/>
                </a:solidFill>
              </a:defRPr>
            </a:pPr>
            <a:r>
              <a:rPr sz="1400" dirty="0"/>
              <a:t>System checks details and detects potential duplicates.</a:t>
            </a:r>
          </a:p>
        </p:txBody>
      </p:sp>
      <p:cxnSp>
        <p:nvCxnSpPr>
          <p:cNvPr id="14" name="Connector 13">
            <a:extLst>
              <a:ext uri="{FF2B5EF4-FFF2-40B4-BE49-F238E27FC236}">
                <a16:creationId xmlns:a16="http://schemas.microsoft.com/office/drawing/2014/main" id="{AD4A5E68-56EB-E485-A9A1-0682F9EBEC54}"/>
              </a:ext>
            </a:extLst>
          </p:cNvPr>
          <p:cNvCxnSpPr>
            <a:cxnSpLocks/>
            <a:stCxn id="11" idx="3"/>
            <a:endCxn id="93" idx="2"/>
          </p:cNvCxnSpPr>
          <p:nvPr/>
        </p:nvCxnSpPr>
        <p:spPr>
          <a:xfrm>
            <a:off x="4678307" y="1761794"/>
            <a:ext cx="1568513" cy="2950"/>
          </a:xfrm>
          <a:prstGeom prst="line">
            <a:avLst/>
          </a:prstGeom>
          <a:ln w="25400"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68C3E8EB-4D42-485B-50BE-FB99D5D8097E}"/>
              </a:ext>
            </a:extLst>
          </p:cNvPr>
          <p:cNvSpPr/>
          <p:nvPr/>
        </p:nvSpPr>
        <p:spPr>
          <a:xfrm>
            <a:off x="8581581" y="1376124"/>
            <a:ext cx="777240" cy="77724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5C52DE4-D887-ADEB-D9E6-3E246973A3A8}"/>
              </a:ext>
            </a:extLst>
          </p:cNvPr>
          <p:cNvSpPr txBox="1"/>
          <p:nvPr/>
        </p:nvSpPr>
        <p:spPr>
          <a:xfrm>
            <a:off x="8819358" y="1577292"/>
            <a:ext cx="30168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lang="en-IN" dirty="0"/>
              <a:t>4</a:t>
            </a:r>
            <a:endParaRPr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E07038-914B-B726-8F04-783CD64E5F7A}"/>
              </a:ext>
            </a:extLst>
          </p:cNvPr>
          <p:cNvSpPr txBox="1"/>
          <p:nvPr/>
        </p:nvSpPr>
        <p:spPr>
          <a:xfrm>
            <a:off x="8352981" y="2336244"/>
            <a:ext cx="1234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1253F"/>
                </a:solidFill>
              </a:defRPr>
            </a:pPr>
            <a:r>
              <a:t>Assign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64F0493-62CB-EB72-58C9-C391D21C3215}"/>
              </a:ext>
            </a:extLst>
          </p:cNvPr>
          <p:cNvSpPr txBox="1"/>
          <p:nvPr/>
        </p:nvSpPr>
        <p:spPr>
          <a:xfrm>
            <a:off x="8192498" y="2669368"/>
            <a:ext cx="155540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263241"/>
                </a:solidFill>
              </a:defRPr>
            </a:pPr>
            <a:r>
              <a:rPr sz="1400" dirty="0"/>
              <a:t>Request is routed to the appropriate department.</a:t>
            </a:r>
          </a:p>
        </p:txBody>
      </p:sp>
      <p:cxnSp>
        <p:nvCxnSpPr>
          <p:cNvPr id="19" name="Connector 18">
            <a:extLst>
              <a:ext uri="{FF2B5EF4-FFF2-40B4-BE49-F238E27FC236}">
                <a16:creationId xmlns:a16="http://schemas.microsoft.com/office/drawing/2014/main" id="{F9DBAA9B-35DA-3E5D-142C-601A24BDC7CE}"/>
              </a:ext>
            </a:extLst>
          </p:cNvPr>
          <p:cNvCxnSpPr>
            <a:cxnSpLocks/>
            <a:stCxn id="15" idx="6"/>
          </p:cNvCxnSpPr>
          <p:nvPr/>
        </p:nvCxnSpPr>
        <p:spPr>
          <a:xfrm>
            <a:off x="9358821" y="1764744"/>
            <a:ext cx="1786121" cy="8500"/>
          </a:xfrm>
          <a:prstGeom prst="line">
            <a:avLst/>
          </a:prstGeom>
          <a:ln w="25400"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AA68D246-7174-7CE8-CAF9-4029115F539E}"/>
              </a:ext>
            </a:extLst>
          </p:cNvPr>
          <p:cNvSpPr/>
          <p:nvPr/>
        </p:nvSpPr>
        <p:spPr>
          <a:xfrm>
            <a:off x="8782749" y="4065186"/>
            <a:ext cx="777240" cy="777240"/>
          </a:xfrm>
          <a:prstGeom prst="ellipse">
            <a:avLst/>
          </a:prstGeom>
          <a:solidFill>
            <a:srgbClr val="2C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7CDBF09-9BCF-E350-4B07-7042798F21C7}"/>
              </a:ext>
            </a:extLst>
          </p:cNvPr>
          <p:cNvSpPr txBox="1"/>
          <p:nvPr/>
        </p:nvSpPr>
        <p:spPr>
          <a:xfrm>
            <a:off x="9020526" y="4266354"/>
            <a:ext cx="30168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lang="en-IN" dirty="0"/>
              <a:t>5</a:t>
            </a:r>
            <a:endParaRPr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0A81F0-00DE-B658-72B3-88BA03282E8E}"/>
              </a:ext>
            </a:extLst>
          </p:cNvPr>
          <p:cNvSpPr txBox="1"/>
          <p:nvPr/>
        </p:nvSpPr>
        <p:spPr>
          <a:xfrm>
            <a:off x="8554149" y="5025306"/>
            <a:ext cx="1234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1253F"/>
                </a:solidFill>
              </a:defRPr>
            </a:pPr>
            <a:r>
              <a:t>Track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AA98C55-EDA3-1CD9-18C1-C9BBCC1E2D3A}"/>
              </a:ext>
            </a:extLst>
          </p:cNvPr>
          <p:cNvSpPr txBox="1"/>
          <p:nvPr/>
        </p:nvSpPr>
        <p:spPr>
          <a:xfrm>
            <a:off x="8352981" y="5307043"/>
            <a:ext cx="169671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263241"/>
                </a:solidFill>
              </a:defRPr>
            </a:pPr>
            <a:r>
              <a:rPr sz="1400" dirty="0"/>
              <a:t>Status and deadlines are monitored through the workflow.</a:t>
            </a:r>
          </a:p>
        </p:txBody>
      </p:sp>
      <p:cxnSp>
        <p:nvCxnSpPr>
          <p:cNvPr id="24" name="Connector 23">
            <a:extLst>
              <a:ext uri="{FF2B5EF4-FFF2-40B4-BE49-F238E27FC236}">
                <a16:creationId xmlns:a16="http://schemas.microsoft.com/office/drawing/2014/main" id="{132205BB-547A-B6A8-82EC-B4F7AC70A8B2}"/>
              </a:ext>
            </a:extLst>
          </p:cNvPr>
          <p:cNvCxnSpPr>
            <a:cxnSpLocks/>
            <a:stCxn id="30" idx="6"/>
          </p:cNvCxnSpPr>
          <p:nvPr/>
        </p:nvCxnSpPr>
        <p:spPr>
          <a:xfrm>
            <a:off x="4616260" y="4450746"/>
            <a:ext cx="1625482" cy="28391"/>
          </a:xfrm>
          <a:prstGeom prst="line">
            <a:avLst/>
          </a:prstGeom>
          <a:ln w="25400"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D5FEDD9C-1AC1-5E29-63F0-91AD907114E1}"/>
              </a:ext>
            </a:extLst>
          </p:cNvPr>
          <p:cNvSpPr txBox="1"/>
          <p:nvPr/>
        </p:nvSpPr>
        <p:spPr>
          <a:xfrm>
            <a:off x="6479519" y="4291685"/>
            <a:ext cx="30168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lang="en-IN" dirty="0"/>
              <a:t>6</a:t>
            </a:r>
            <a:endParaRPr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2A9639C-6B9D-5BA7-C9FC-98AC10AB9416}"/>
              </a:ext>
            </a:extLst>
          </p:cNvPr>
          <p:cNvSpPr txBox="1"/>
          <p:nvPr/>
        </p:nvSpPr>
        <p:spPr>
          <a:xfrm>
            <a:off x="6013142" y="5050637"/>
            <a:ext cx="1234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1253F"/>
                </a:solidFill>
              </a:defRPr>
            </a:pPr>
            <a:r>
              <a:t>Escalate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88C1AFF-28B6-8934-DC07-060FA45594F6}"/>
              </a:ext>
            </a:extLst>
          </p:cNvPr>
          <p:cNvSpPr txBox="1"/>
          <p:nvPr/>
        </p:nvSpPr>
        <p:spPr>
          <a:xfrm>
            <a:off x="5864009" y="5383762"/>
            <a:ext cx="169671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263241"/>
                </a:solidFill>
              </a:defRPr>
            </a:pPr>
            <a:r>
              <a:rPr sz="1400" dirty="0"/>
              <a:t>Overdue cases move to the next authority automatically.</a:t>
            </a:r>
          </a:p>
        </p:txBody>
      </p:sp>
      <p:cxnSp>
        <p:nvCxnSpPr>
          <p:cNvPr id="29" name="Connector 28">
            <a:extLst>
              <a:ext uri="{FF2B5EF4-FFF2-40B4-BE49-F238E27FC236}">
                <a16:creationId xmlns:a16="http://schemas.microsoft.com/office/drawing/2014/main" id="{792E795D-BBB8-2D9E-CB77-B1658C68E010}"/>
              </a:ext>
            </a:extLst>
          </p:cNvPr>
          <p:cNvCxnSpPr>
            <a:cxnSpLocks/>
            <a:endCxn id="20" idx="2"/>
          </p:cNvCxnSpPr>
          <p:nvPr/>
        </p:nvCxnSpPr>
        <p:spPr>
          <a:xfrm flipV="1">
            <a:off x="7018982" y="4453806"/>
            <a:ext cx="1763767" cy="25331"/>
          </a:xfrm>
          <a:prstGeom prst="line">
            <a:avLst/>
          </a:prstGeom>
          <a:ln w="25400"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1B2376DC-7BC2-B41F-0814-516839CF12E9}"/>
              </a:ext>
            </a:extLst>
          </p:cNvPr>
          <p:cNvSpPr/>
          <p:nvPr/>
        </p:nvSpPr>
        <p:spPr>
          <a:xfrm>
            <a:off x="3839020" y="4062126"/>
            <a:ext cx="777240" cy="77724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9448E9F-38AF-2C02-AA1E-E9B11646F28D}"/>
              </a:ext>
            </a:extLst>
          </p:cNvPr>
          <p:cNvSpPr txBox="1"/>
          <p:nvPr/>
        </p:nvSpPr>
        <p:spPr>
          <a:xfrm>
            <a:off x="4076797" y="4263294"/>
            <a:ext cx="30168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lang="en-IN" dirty="0"/>
              <a:t>7</a:t>
            </a:r>
            <a:endParaRPr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65FBC11-D81A-9355-4B15-3A981CC40CA1}"/>
              </a:ext>
            </a:extLst>
          </p:cNvPr>
          <p:cNvSpPr txBox="1"/>
          <p:nvPr/>
        </p:nvSpPr>
        <p:spPr>
          <a:xfrm>
            <a:off x="3865322" y="5022246"/>
            <a:ext cx="756169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1253F"/>
                </a:solidFill>
              </a:defRPr>
            </a:pPr>
            <a:r>
              <a:rPr dirty="0"/>
              <a:t>Resolve</a:t>
            </a:r>
            <a:r>
              <a:rPr lang="en-IN" dirty="0"/>
              <a:t> </a:t>
            </a:r>
            <a:endParaRPr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232E4D7-BFA4-A337-F8AD-976892D7BAB9}"/>
              </a:ext>
            </a:extLst>
          </p:cNvPr>
          <p:cNvSpPr txBox="1"/>
          <p:nvPr/>
        </p:nvSpPr>
        <p:spPr>
          <a:xfrm>
            <a:off x="3370003" y="5300407"/>
            <a:ext cx="188303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263241"/>
                </a:solidFill>
              </a:defRPr>
            </a:pPr>
            <a:r>
              <a:rPr lang="en-IN" sz="1400" dirty="0"/>
              <a:t>Department resolves and closes the complaint.</a:t>
            </a:r>
            <a:endParaRPr sz="14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99ED459-937D-88A4-2832-5A6C01D8BFD5}"/>
              </a:ext>
            </a:extLst>
          </p:cNvPr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C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972822B-97E6-3EE5-1E17-0F9627552EEE}"/>
              </a:ext>
            </a:extLst>
          </p:cNvPr>
          <p:cNvSpPr txBox="1"/>
          <p:nvPr/>
        </p:nvSpPr>
        <p:spPr>
          <a:xfrm>
            <a:off x="1088136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796"/>
                </a:solidFill>
              </a:defRPr>
            </a:pPr>
            <a:r>
              <a:t>6</a:t>
            </a:r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BF356154-E602-9F0A-B17B-67EB6F931397}"/>
              </a:ext>
            </a:extLst>
          </p:cNvPr>
          <p:cNvSpPr/>
          <p:nvPr/>
        </p:nvSpPr>
        <p:spPr>
          <a:xfrm>
            <a:off x="6246820" y="1376124"/>
            <a:ext cx="777240" cy="777240"/>
          </a:xfrm>
          <a:prstGeom prst="ellipse">
            <a:avLst/>
          </a:prstGeom>
          <a:solidFill>
            <a:srgbClr val="E68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667A84B4-996C-5541-D8AA-C984E36F1BB6}"/>
              </a:ext>
            </a:extLst>
          </p:cNvPr>
          <p:cNvSpPr txBox="1"/>
          <p:nvPr/>
        </p:nvSpPr>
        <p:spPr>
          <a:xfrm>
            <a:off x="6484597" y="1577292"/>
            <a:ext cx="30168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lang="en-IN" dirty="0"/>
              <a:t>3</a:t>
            </a:r>
            <a:endParaRPr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E4A2050E-5292-4F34-7631-0FE4B046AC7A}"/>
              </a:ext>
            </a:extLst>
          </p:cNvPr>
          <p:cNvSpPr txBox="1"/>
          <p:nvPr/>
        </p:nvSpPr>
        <p:spPr>
          <a:xfrm>
            <a:off x="5803385" y="2336244"/>
            <a:ext cx="1664110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1253F"/>
                </a:solidFill>
              </a:defRPr>
            </a:pPr>
            <a:r>
              <a:rPr lang="en-IN" sz="1300" b="1" dirty="0"/>
              <a:t>Priority Management</a:t>
            </a:r>
            <a:endParaRPr dirty="0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DFC3F8E4-2BAC-FC0A-1682-0156742ADBF2}"/>
              </a:ext>
            </a:extLst>
          </p:cNvPr>
          <p:cNvSpPr txBox="1"/>
          <p:nvPr/>
        </p:nvSpPr>
        <p:spPr>
          <a:xfrm>
            <a:off x="5709447" y="2621906"/>
            <a:ext cx="195407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263241"/>
                </a:solidFill>
              </a:defRPr>
            </a:pPr>
            <a:r>
              <a:rPr lang="en-IN" sz="1400" dirty="0"/>
              <a:t>AI prioritizes complaints as High, Low, Medium by urgency and impact.</a:t>
            </a:r>
            <a:endParaRPr sz="1400" dirty="0"/>
          </a:p>
        </p:txBody>
      </p:sp>
      <p:cxnSp>
        <p:nvCxnSpPr>
          <p:cNvPr id="113" name="Connector 13">
            <a:extLst>
              <a:ext uri="{FF2B5EF4-FFF2-40B4-BE49-F238E27FC236}">
                <a16:creationId xmlns:a16="http://schemas.microsoft.com/office/drawing/2014/main" id="{A42951BF-4D7C-2D94-D57B-DF04E11D2804}"/>
              </a:ext>
            </a:extLst>
          </p:cNvPr>
          <p:cNvCxnSpPr>
            <a:cxnSpLocks/>
            <a:stCxn id="93" idx="6"/>
            <a:endCxn id="15" idx="2"/>
          </p:cNvCxnSpPr>
          <p:nvPr/>
        </p:nvCxnSpPr>
        <p:spPr>
          <a:xfrm>
            <a:off x="7024060" y="1764744"/>
            <a:ext cx="1557521" cy="0"/>
          </a:xfrm>
          <a:prstGeom prst="line">
            <a:avLst/>
          </a:prstGeom>
          <a:ln w="25400"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3">
            <a:extLst>
              <a:ext uri="{FF2B5EF4-FFF2-40B4-BE49-F238E27FC236}">
                <a16:creationId xmlns:a16="http://schemas.microsoft.com/office/drawing/2014/main" id="{9E4F14A9-F6EB-6E7F-F809-4D9CF6315155}"/>
              </a:ext>
            </a:extLst>
          </p:cNvPr>
          <p:cNvCxnSpPr>
            <a:cxnSpLocks/>
          </p:cNvCxnSpPr>
          <p:nvPr/>
        </p:nvCxnSpPr>
        <p:spPr>
          <a:xfrm>
            <a:off x="11122588" y="1751028"/>
            <a:ext cx="0" cy="2728109"/>
          </a:xfrm>
          <a:prstGeom prst="line">
            <a:avLst/>
          </a:prstGeom>
          <a:ln w="25400"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">
            <a:extLst>
              <a:ext uri="{FF2B5EF4-FFF2-40B4-BE49-F238E27FC236}">
                <a16:creationId xmlns:a16="http://schemas.microsoft.com/office/drawing/2014/main" id="{AAFC0C70-88AC-C2E3-6A51-7F12F24E65B9}"/>
              </a:ext>
            </a:extLst>
          </p:cNvPr>
          <p:cNvCxnSpPr>
            <a:cxnSpLocks/>
            <a:stCxn id="20" idx="6"/>
          </p:cNvCxnSpPr>
          <p:nvPr/>
        </p:nvCxnSpPr>
        <p:spPr>
          <a:xfrm flipV="1">
            <a:off x="9559989" y="4447960"/>
            <a:ext cx="1562599" cy="5846"/>
          </a:xfrm>
          <a:prstGeom prst="line">
            <a:avLst/>
          </a:prstGeom>
          <a:ln w="25400"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Oval 137">
            <a:extLst>
              <a:ext uri="{FF2B5EF4-FFF2-40B4-BE49-F238E27FC236}">
                <a16:creationId xmlns:a16="http://schemas.microsoft.com/office/drawing/2014/main" id="{DBBD9405-F3AF-0B01-922A-753C14A22AAE}"/>
              </a:ext>
            </a:extLst>
          </p:cNvPr>
          <p:cNvSpPr/>
          <p:nvPr/>
        </p:nvSpPr>
        <p:spPr>
          <a:xfrm>
            <a:off x="1736958" y="4059340"/>
            <a:ext cx="777240" cy="777240"/>
          </a:xfrm>
          <a:prstGeom prst="ellipse">
            <a:avLst/>
          </a:prstGeom>
          <a:solidFill>
            <a:srgbClr val="439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D10D62CF-D64A-7F5A-E33D-C20DC161D841}"/>
              </a:ext>
            </a:extLst>
          </p:cNvPr>
          <p:cNvSpPr txBox="1"/>
          <p:nvPr/>
        </p:nvSpPr>
        <p:spPr>
          <a:xfrm>
            <a:off x="1970832" y="4245332"/>
            <a:ext cx="30168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rPr lang="en-IN" dirty="0"/>
              <a:t>8</a:t>
            </a:r>
            <a:endParaRPr dirty="0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42795B92-40BD-3313-8E6E-F5E60C9AE6DD}"/>
              </a:ext>
            </a:extLst>
          </p:cNvPr>
          <p:cNvSpPr txBox="1"/>
          <p:nvPr/>
        </p:nvSpPr>
        <p:spPr>
          <a:xfrm>
            <a:off x="1699276" y="5004284"/>
            <a:ext cx="876330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11253F"/>
                </a:solidFill>
              </a:defRPr>
            </a:pPr>
            <a:r>
              <a:rPr lang="en-IN" dirty="0"/>
              <a:t> Feedback</a:t>
            </a:r>
            <a:endParaRPr dirty="0"/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7F8FF3DF-F570-1DF1-E4CE-8FEA3E55B08D}"/>
              </a:ext>
            </a:extLst>
          </p:cNvPr>
          <p:cNvSpPr txBox="1"/>
          <p:nvPr/>
        </p:nvSpPr>
        <p:spPr>
          <a:xfrm>
            <a:off x="1350157" y="5300407"/>
            <a:ext cx="162264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>
                <a:solidFill>
                  <a:srgbClr val="263241"/>
                </a:solidFill>
              </a:defRPr>
            </a:pPr>
            <a:r>
              <a:rPr lang="en-IN" sz="1400" dirty="0"/>
              <a:t>Citizen rates the service and shares feedback.</a:t>
            </a:r>
            <a:endParaRPr sz="1400" dirty="0"/>
          </a:p>
        </p:txBody>
      </p:sp>
      <p:cxnSp>
        <p:nvCxnSpPr>
          <p:cNvPr id="155" name="Connector 23">
            <a:extLst>
              <a:ext uri="{FF2B5EF4-FFF2-40B4-BE49-F238E27FC236}">
                <a16:creationId xmlns:a16="http://schemas.microsoft.com/office/drawing/2014/main" id="{A82DA341-8543-600C-1063-86835477BF4B}"/>
              </a:ext>
            </a:extLst>
          </p:cNvPr>
          <p:cNvCxnSpPr>
            <a:cxnSpLocks/>
            <a:stCxn id="138" idx="6"/>
            <a:endCxn id="30" idx="2"/>
          </p:cNvCxnSpPr>
          <p:nvPr/>
        </p:nvCxnSpPr>
        <p:spPr>
          <a:xfrm>
            <a:off x="2514198" y="4447960"/>
            <a:ext cx="1324822" cy="2786"/>
          </a:xfrm>
          <a:prstGeom prst="line">
            <a:avLst/>
          </a:prstGeom>
          <a:ln w="25400"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Oval 162">
            <a:extLst>
              <a:ext uri="{FF2B5EF4-FFF2-40B4-BE49-F238E27FC236}">
                <a16:creationId xmlns:a16="http://schemas.microsoft.com/office/drawing/2014/main" id="{8EA14D11-A81C-88C5-818C-DDB80212B32B}"/>
              </a:ext>
            </a:extLst>
          </p:cNvPr>
          <p:cNvSpPr/>
          <p:nvPr/>
        </p:nvSpPr>
        <p:spPr>
          <a:xfrm>
            <a:off x="6224106" y="4100815"/>
            <a:ext cx="777240" cy="777240"/>
          </a:xfrm>
          <a:prstGeom prst="ellipse">
            <a:avLst/>
          </a:prstGeom>
          <a:solidFill>
            <a:srgbClr val="E68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6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955894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 0">
            <a:extLst>
              <a:ext uri="{FF2B5EF4-FFF2-40B4-BE49-F238E27FC236}">
                <a16:creationId xmlns:a16="http://schemas.microsoft.com/office/drawing/2014/main" id="{2BE0FE1E-86A1-B59A-E013-DF7054CD0F2A}"/>
              </a:ext>
            </a:extLst>
          </p:cNvPr>
          <p:cNvSpPr/>
          <p:nvPr/>
        </p:nvSpPr>
        <p:spPr>
          <a:xfrm>
            <a:off x="548640" y="41148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Java Technology Stack</a:t>
            </a:r>
            <a:endParaRPr lang="en-US" sz="2600" dirty="0"/>
          </a:p>
        </p:txBody>
      </p:sp>
      <p:sp>
        <p:nvSpPr>
          <p:cNvPr id="79" name="Text 1">
            <a:extLst>
              <a:ext uri="{FF2B5EF4-FFF2-40B4-BE49-F238E27FC236}">
                <a16:creationId xmlns:a16="http://schemas.microsoft.com/office/drawing/2014/main" id="{702E771D-D42B-CBB0-377C-515680DADC51}"/>
              </a:ext>
            </a:extLst>
          </p:cNvPr>
          <p:cNvSpPr/>
          <p:nvPr/>
        </p:nvSpPr>
        <p:spPr>
          <a:xfrm>
            <a:off x="548640" y="89611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Layered enterprise architecture powering CivicPulse</a:t>
            </a:r>
            <a:endParaRPr lang="en-US" sz="1250" dirty="0"/>
          </a:p>
        </p:txBody>
      </p:sp>
      <p:sp>
        <p:nvSpPr>
          <p:cNvPr id="81" name="Shape 2">
            <a:extLst>
              <a:ext uri="{FF2B5EF4-FFF2-40B4-BE49-F238E27FC236}">
                <a16:creationId xmlns:a16="http://schemas.microsoft.com/office/drawing/2014/main" id="{E66AA800-D267-3615-A816-29B8A351FD33}"/>
              </a:ext>
            </a:extLst>
          </p:cNvPr>
          <p:cNvSpPr/>
          <p:nvPr/>
        </p:nvSpPr>
        <p:spPr>
          <a:xfrm>
            <a:off x="548640" y="1508760"/>
            <a:ext cx="11094415" cy="896112"/>
          </a:xfrm>
          <a:prstGeom prst="roundRect">
            <a:avLst>
              <a:gd name="adj" fmla="val 8163"/>
            </a:avLst>
          </a:prstGeom>
          <a:solidFill>
            <a:srgbClr val="1E3A5F"/>
          </a:solidFill>
          <a:ln/>
        </p:spPr>
      </p:sp>
      <p:sp>
        <p:nvSpPr>
          <p:cNvPr id="83" name="Shape 3">
            <a:extLst>
              <a:ext uri="{FF2B5EF4-FFF2-40B4-BE49-F238E27FC236}">
                <a16:creationId xmlns:a16="http://schemas.microsoft.com/office/drawing/2014/main" id="{8BBD6A7F-005D-FDF1-B90F-E6934BCC1A5E}"/>
              </a:ext>
            </a:extLst>
          </p:cNvPr>
          <p:cNvSpPr/>
          <p:nvPr/>
        </p:nvSpPr>
        <p:spPr>
          <a:xfrm>
            <a:off x="548640" y="1508760"/>
            <a:ext cx="2286000" cy="896112"/>
          </a:xfrm>
          <a:prstGeom prst="roundRect">
            <a:avLst>
              <a:gd name="adj" fmla="val 8163"/>
            </a:avLst>
          </a:prstGeom>
          <a:solidFill>
            <a:srgbClr val="00A896"/>
          </a:solidFill>
          <a:ln/>
        </p:spPr>
      </p:sp>
      <p:sp>
        <p:nvSpPr>
          <p:cNvPr id="85" name="Text 4">
            <a:extLst>
              <a:ext uri="{FF2B5EF4-FFF2-40B4-BE49-F238E27FC236}">
                <a16:creationId xmlns:a16="http://schemas.microsoft.com/office/drawing/2014/main" id="{981BBD58-812F-B55B-8465-04121B0B3E01}"/>
              </a:ext>
            </a:extLst>
          </p:cNvPr>
          <p:cNvSpPr/>
          <p:nvPr/>
        </p:nvSpPr>
        <p:spPr>
          <a:xfrm>
            <a:off x="731520" y="1508760"/>
            <a:ext cx="19202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 Layer</a:t>
            </a:r>
            <a:endParaRPr lang="en-US" sz="1250" dirty="0"/>
          </a:p>
        </p:txBody>
      </p:sp>
      <p:pic>
        <p:nvPicPr>
          <p:cNvPr id="87" name="Image 0" descr="/home/claude/civicpulse/icon_react.png">
            <a:extLst>
              <a:ext uri="{FF2B5EF4-FFF2-40B4-BE49-F238E27FC236}">
                <a16:creationId xmlns:a16="http://schemas.microsoft.com/office/drawing/2014/main" id="{EA42390E-BA08-0026-DC78-09511B2D0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0" y="1801368"/>
            <a:ext cx="310896" cy="310896"/>
          </a:xfrm>
          <a:prstGeom prst="rect">
            <a:avLst/>
          </a:prstGeom>
        </p:spPr>
      </p:pic>
      <p:sp>
        <p:nvSpPr>
          <p:cNvPr id="89" name="Text 5">
            <a:extLst>
              <a:ext uri="{FF2B5EF4-FFF2-40B4-BE49-F238E27FC236}">
                <a16:creationId xmlns:a16="http://schemas.microsoft.com/office/drawing/2014/main" id="{1C7CA564-E89C-2BA3-CFE0-5705CB16E8A0}"/>
              </a:ext>
            </a:extLst>
          </p:cNvPr>
          <p:cNvSpPr/>
          <p:nvPr/>
        </p:nvSpPr>
        <p:spPr>
          <a:xfrm>
            <a:off x="3465576" y="1508760"/>
            <a:ext cx="371840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9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React.js / Angular</a:t>
            </a:r>
            <a:endParaRPr lang="en-US" sz="1150" dirty="0"/>
          </a:p>
        </p:txBody>
      </p:sp>
      <p:pic>
        <p:nvPicPr>
          <p:cNvPr id="91" name="Image 1" descr="/home/claude/civicpulse/icon_language.png">
            <a:extLst>
              <a:ext uri="{FF2B5EF4-FFF2-40B4-BE49-F238E27FC236}">
                <a16:creationId xmlns:a16="http://schemas.microsoft.com/office/drawing/2014/main" id="{6192B0DF-08A2-E8D2-E2B4-FE16E648BE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8848" y="1801368"/>
            <a:ext cx="310896" cy="310896"/>
          </a:xfrm>
          <a:prstGeom prst="rect">
            <a:avLst/>
          </a:prstGeom>
        </p:spPr>
      </p:pic>
      <p:sp>
        <p:nvSpPr>
          <p:cNvPr id="93" name="Text 6">
            <a:extLst>
              <a:ext uri="{FF2B5EF4-FFF2-40B4-BE49-F238E27FC236}">
                <a16:creationId xmlns:a16="http://schemas.microsoft.com/office/drawing/2014/main" id="{0346E999-FD95-5FF2-E5E8-D45063C26B8C}"/>
              </a:ext>
            </a:extLst>
          </p:cNvPr>
          <p:cNvSpPr/>
          <p:nvPr/>
        </p:nvSpPr>
        <p:spPr>
          <a:xfrm>
            <a:off x="7641184" y="1508760"/>
            <a:ext cx="371840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9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Multi-language UI</a:t>
            </a:r>
            <a:endParaRPr lang="en-US" sz="1150" dirty="0"/>
          </a:p>
        </p:txBody>
      </p:sp>
      <p:sp>
        <p:nvSpPr>
          <p:cNvPr id="95" name="Shape 7">
            <a:extLst>
              <a:ext uri="{FF2B5EF4-FFF2-40B4-BE49-F238E27FC236}">
                <a16:creationId xmlns:a16="http://schemas.microsoft.com/office/drawing/2014/main" id="{0A33039D-418A-660E-CD65-C6A1633E2CFA}"/>
              </a:ext>
            </a:extLst>
          </p:cNvPr>
          <p:cNvSpPr/>
          <p:nvPr/>
        </p:nvSpPr>
        <p:spPr>
          <a:xfrm>
            <a:off x="548640" y="2478024"/>
            <a:ext cx="11094415" cy="896112"/>
          </a:xfrm>
          <a:prstGeom prst="roundRect">
            <a:avLst>
              <a:gd name="adj" fmla="val 8163"/>
            </a:avLst>
          </a:prstGeom>
          <a:solidFill>
            <a:srgbClr val="1E3A5F"/>
          </a:solidFill>
          <a:ln/>
        </p:spPr>
      </p:sp>
      <p:sp>
        <p:nvSpPr>
          <p:cNvPr id="97" name="Shape 8">
            <a:extLst>
              <a:ext uri="{FF2B5EF4-FFF2-40B4-BE49-F238E27FC236}">
                <a16:creationId xmlns:a16="http://schemas.microsoft.com/office/drawing/2014/main" id="{EB50977C-9AAF-7D17-B95F-A08D5E952BDA}"/>
              </a:ext>
            </a:extLst>
          </p:cNvPr>
          <p:cNvSpPr/>
          <p:nvPr/>
        </p:nvSpPr>
        <p:spPr>
          <a:xfrm>
            <a:off x="548640" y="2478024"/>
            <a:ext cx="2286000" cy="896112"/>
          </a:xfrm>
          <a:prstGeom prst="roundRect">
            <a:avLst>
              <a:gd name="adj" fmla="val 8163"/>
            </a:avLst>
          </a:prstGeom>
          <a:solidFill>
            <a:srgbClr val="00A896"/>
          </a:solidFill>
          <a:ln/>
        </p:spPr>
      </p:sp>
      <p:sp>
        <p:nvSpPr>
          <p:cNvPr id="99" name="Text 9">
            <a:extLst>
              <a:ext uri="{FF2B5EF4-FFF2-40B4-BE49-F238E27FC236}">
                <a16:creationId xmlns:a16="http://schemas.microsoft.com/office/drawing/2014/main" id="{65E06564-76D3-0391-286F-BE44D7585A82}"/>
              </a:ext>
            </a:extLst>
          </p:cNvPr>
          <p:cNvSpPr/>
          <p:nvPr/>
        </p:nvSpPr>
        <p:spPr>
          <a:xfrm>
            <a:off x="731520" y="2478024"/>
            <a:ext cx="19202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 Layer</a:t>
            </a:r>
            <a:endParaRPr lang="en-US" sz="1250" dirty="0"/>
          </a:p>
        </p:txBody>
      </p:sp>
      <p:pic>
        <p:nvPicPr>
          <p:cNvPr id="101" name="Image 2" descr="/home/claude/civicpulse/icon_java.png">
            <a:extLst>
              <a:ext uri="{FF2B5EF4-FFF2-40B4-BE49-F238E27FC236}">
                <a16:creationId xmlns:a16="http://schemas.microsoft.com/office/drawing/2014/main" id="{11085F3E-EBB5-D081-B24E-545424D448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3240" y="2770632"/>
            <a:ext cx="310896" cy="310896"/>
          </a:xfrm>
          <a:prstGeom prst="rect">
            <a:avLst/>
          </a:prstGeom>
        </p:spPr>
      </p:pic>
      <p:sp>
        <p:nvSpPr>
          <p:cNvPr id="103" name="Text 10">
            <a:extLst>
              <a:ext uri="{FF2B5EF4-FFF2-40B4-BE49-F238E27FC236}">
                <a16:creationId xmlns:a16="http://schemas.microsoft.com/office/drawing/2014/main" id="{1A05B7DB-9813-E0CB-7B06-B3EFDF78BE1A}"/>
              </a:ext>
            </a:extLst>
          </p:cNvPr>
          <p:cNvSpPr/>
          <p:nvPr/>
        </p:nvSpPr>
        <p:spPr>
          <a:xfrm>
            <a:off x="3465576" y="2478024"/>
            <a:ext cx="371840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9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Spring Boot / Spring MVC</a:t>
            </a:r>
            <a:endParaRPr lang="en-US" sz="1150" dirty="0"/>
          </a:p>
        </p:txBody>
      </p:sp>
      <p:pic>
        <p:nvPicPr>
          <p:cNvPr id="105" name="Image 3" descr="/home/claude/civicpulse/icon_integration.png">
            <a:extLst>
              <a:ext uri="{FF2B5EF4-FFF2-40B4-BE49-F238E27FC236}">
                <a16:creationId xmlns:a16="http://schemas.microsoft.com/office/drawing/2014/main" id="{4C97F97C-DAC4-715D-D6AB-237EE2995C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8848" y="2770632"/>
            <a:ext cx="310896" cy="310896"/>
          </a:xfrm>
          <a:prstGeom prst="rect">
            <a:avLst/>
          </a:prstGeom>
        </p:spPr>
      </p:pic>
      <p:sp>
        <p:nvSpPr>
          <p:cNvPr id="107" name="Text 11">
            <a:extLst>
              <a:ext uri="{FF2B5EF4-FFF2-40B4-BE49-F238E27FC236}">
                <a16:creationId xmlns:a16="http://schemas.microsoft.com/office/drawing/2014/main" id="{D1F40216-D494-C85E-ADBA-003E5F03F92F}"/>
              </a:ext>
            </a:extLst>
          </p:cNvPr>
          <p:cNvSpPr/>
          <p:nvPr/>
        </p:nvSpPr>
        <p:spPr>
          <a:xfrm>
            <a:off x="7641184" y="2478024"/>
            <a:ext cx="371840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9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 APIs + Swagger/OpenAPI</a:t>
            </a:r>
            <a:endParaRPr lang="en-US" sz="1150" dirty="0"/>
          </a:p>
        </p:txBody>
      </p:sp>
      <p:sp>
        <p:nvSpPr>
          <p:cNvPr id="109" name="Shape 12">
            <a:extLst>
              <a:ext uri="{FF2B5EF4-FFF2-40B4-BE49-F238E27FC236}">
                <a16:creationId xmlns:a16="http://schemas.microsoft.com/office/drawing/2014/main" id="{09FA5099-87A8-818E-3892-2B82D54B0F41}"/>
              </a:ext>
            </a:extLst>
          </p:cNvPr>
          <p:cNvSpPr/>
          <p:nvPr/>
        </p:nvSpPr>
        <p:spPr>
          <a:xfrm>
            <a:off x="548640" y="3447288"/>
            <a:ext cx="11094415" cy="896112"/>
          </a:xfrm>
          <a:prstGeom prst="roundRect">
            <a:avLst>
              <a:gd name="adj" fmla="val 8163"/>
            </a:avLst>
          </a:prstGeom>
          <a:solidFill>
            <a:srgbClr val="1E3A5F"/>
          </a:solidFill>
          <a:ln/>
        </p:spPr>
      </p:sp>
      <p:sp>
        <p:nvSpPr>
          <p:cNvPr id="111" name="Shape 13">
            <a:extLst>
              <a:ext uri="{FF2B5EF4-FFF2-40B4-BE49-F238E27FC236}">
                <a16:creationId xmlns:a16="http://schemas.microsoft.com/office/drawing/2014/main" id="{44678D81-AB95-083A-7F4C-9586C5C45310}"/>
              </a:ext>
            </a:extLst>
          </p:cNvPr>
          <p:cNvSpPr/>
          <p:nvPr/>
        </p:nvSpPr>
        <p:spPr>
          <a:xfrm>
            <a:off x="548640" y="3447288"/>
            <a:ext cx="2286000" cy="896112"/>
          </a:xfrm>
          <a:prstGeom prst="roundRect">
            <a:avLst>
              <a:gd name="adj" fmla="val 8163"/>
            </a:avLst>
          </a:prstGeom>
          <a:solidFill>
            <a:srgbClr val="00A896"/>
          </a:solidFill>
          <a:ln/>
        </p:spPr>
      </p:sp>
      <p:sp>
        <p:nvSpPr>
          <p:cNvPr id="113" name="Text 14">
            <a:extLst>
              <a:ext uri="{FF2B5EF4-FFF2-40B4-BE49-F238E27FC236}">
                <a16:creationId xmlns:a16="http://schemas.microsoft.com/office/drawing/2014/main" id="{315BEC55-822E-C161-58CB-127BD071E10A}"/>
              </a:ext>
            </a:extLst>
          </p:cNvPr>
          <p:cNvSpPr/>
          <p:nvPr/>
        </p:nvSpPr>
        <p:spPr>
          <a:xfrm>
            <a:off x="731520" y="3447288"/>
            <a:ext cx="19202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Layer</a:t>
            </a:r>
            <a:endParaRPr lang="en-US" sz="1250" dirty="0"/>
          </a:p>
        </p:txBody>
      </p:sp>
      <p:pic>
        <p:nvPicPr>
          <p:cNvPr id="115" name="Image 4" descr="/home/claude/civicpulse/icon_security.png">
            <a:extLst>
              <a:ext uri="{FF2B5EF4-FFF2-40B4-BE49-F238E27FC236}">
                <a16:creationId xmlns:a16="http://schemas.microsoft.com/office/drawing/2014/main" id="{066F94E7-0FA3-2955-5B4B-784D85C195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63240" y="3739896"/>
            <a:ext cx="310896" cy="310896"/>
          </a:xfrm>
          <a:prstGeom prst="rect">
            <a:avLst/>
          </a:prstGeom>
        </p:spPr>
      </p:pic>
      <p:sp>
        <p:nvSpPr>
          <p:cNvPr id="117" name="Text 15">
            <a:extLst>
              <a:ext uri="{FF2B5EF4-FFF2-40B4-BE49-F238E27FC236}">
                <a16:creationId xmlns:a16="http://schemas.microsoft.com/office/drawing/2014/main" id="{97D70AB2-4351-F96F-7C19-BF83B86DC66B}"/>
              </a:ext>
            </a:extLst>
          </p:cNvPr>
          <p:cNvSpPr/>
          <p:nvPr/>
        </p:nvSpPr>
        <p:spPr>
          <a:xfrm>
            <a:off x="3465576" y="3447288"/>
            <a:ext cx="371840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9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Spring Security + JWT / OAuth2</a:t>
            </a:r>
            <a:endParaRPr lang="en-US" sz="1150" dirty="0"/>
          </a:p>
        </p:txBody>
      </p:sp>
      <p:pic>
        <p:nvPicPr>
          <p:cNvPr id="119" name="Image 5" descr="/home/claude/civicpulse/icon_microservices.png">
            <a:extLst>
              <a:ext uri="{FF2B5EF4-FFF2-40B4-BE49-F238E27FC236}">
                <a16:creationId xmlns:a16="http://schemas.microsoft.com/office/drawing/2014/main" id="{42D05673-BB63-11FD-8681-247251F97FA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8848" y="3739896"/>
            <a:ext cx="310896" cy="310896"/>
          </a:xfrm>
          <a:prstGeom prst="rect">
            <a:avLst/>
          </a:prstGeom>
        </p:spPr>
      </p:pic>
      <p:sp>
        <p:nvSpPr>
          <p:cNvPr id="121" name="Text 16">
            <a:extLst>
              <a:ext uri="{FF2B5EF4-FFF2-40B4-BE49-F238E27FC236}">
                <a16:creationId xmlns:a16="http://schemas.microsoft.com/office/drawing/2014/main" id="{50AA72CC-FC21-0CCB-845C-2B42DD880E91}"/>
              </a:ext>
            </a:extLst>
          </p:cNvPr>
          <p:cNvSpPr/>
          <p:nvPr/>
        </p:nvSpPr>
        <p:spPr>
          <a:xfrm>
            <a:off x="7641184" y="3447288"/>
            <a:ext cx="371840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9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Role-based Access Control</a:t>
            </a:r>
            <a:endParaRPr lang="en-US" sz="1150" dirty="0"/>
          </a:p>
        </p:txBody>
      </p:sp>
      <p:sp>
        <p:nvSpPr>
          <p:cNvPr id="123" name="Shape 17">
            <a:extLst>
              <a:ext uri="{FF2B5EF4-FFF2-40B4-BE49-F238E27FC236}">
                <a16:creationId xmlns:a16="http://schemas.microsoft.com/office/drawing/2014/main" id="{4F8632E9-26F7-C5EA-A344-47539400465C}"/>
              </a:ext>
            </a:extLst>
          </p:cNvPr>
          <p:cNvSpPr/>
          <p:nvPr/>
        </p:nvSpPr>
        <p:spPr>
          <a:xfrm>
            <a:off x="548640" y="4416552"/>
            <a:ext cx="11094415" cy="896112"/>
          </a:xfrm>
          <a:prstGeom prst="roundRect">
            <a:avLst>
              <a:gd name="adj" fmla="val 8163"/>
            </a:avLst>
          </a:prstGeom>
          <a:solidFill>
            <a:srgbClr val="1E3A5F"/>
          </a:solidFill>
          <a:ln/>
        </p:spPr>
      </p:sp>
      <p:sp>
        <p:nvSpPr>
          <p:cNvPr id="125" name="Shape 18">
            <a:extLst>
              <a:ext uri="{FF2B5EF4-FFF2-40B4-BE49-F238E27FC236}">
                <a16:creationId xmlns:a16="http://schemas.microsoft.com/office/drawing/2014/main" id="{09D4E751-FA83-0C29-067B-E4B855542349}"/>
              </a:ext>
            </a:extLst>
          </p:cNvPr>
          <p:cNvSpPr/>
          <p:nvPr/>
        </p:nvSpPr>
        <p:spPr>
          <a:xfrm>
            <a:off x="548640" y="4416552"/>
            <a:ext cx="2286000" cy="896112"/>
          </a:xfrm>
          <a:prstGeom prst="roundRect">
            <a:avLst>
              <a:gd name="adj" fmla="val 8163"/>
            </a:avLst>
          </a:prstGeom>
          <a:solidFill>
            <a:srgbClr val="00A896"/>
          </a:solidFill>
          <a:ln/>
        </p:spPr>
      </p:sp>
      <p:sp>
        <p:nvSpPr>
          <p:cNvPr id="127" name="Text 19">
            <a:extLst>
              <a:ext uri="{FF2B5EF4-FFF2-40B4-BE49-F238E27FC236}">
                <a16:creationId xmlns:a16="http://schemas.microsoft.com/office/drawing/2014/main" id="{DEBEFA6A-2424-4214-D795-BFB820939278}"/>
              </a:ext>
            </a:extLst>
          </p:cNvPr>
          <p:cNvSpPr/>
          <p:nvPr/>
        </p:nvSpPr>
        <p:spPr>
          <a:xfrm>
            <a:off x="731520" y="4416552"/>
            <a:ext cx="19202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&amp; Messaging Layer</a:t>
            </a:r>
            <a:endParaRPr lang="en-US" sz="1250" dirty="0"/>
          </a:p>
        </p:txBody>
      </p:sp>
      <p:pic>
        <p:nvPicPr>
          <p:cNvPr id="129" name="Image 6" descr="/home/claude/civicpulse/icon_database.png">
            <a:extLst>
              <a:ext uri="{FF2B5EF4-FFF2-40B4-BE49-F238E27FC236}">
                <a16:creationId xmlns:a16="http://schemas.microsoft.com/office/drawing/2014/main" id="{CBECB1E9-2628-2EF3-D19A-409E7608104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63240" y="4709160"/>
            <a:ext cx="310896" cy="310896"/>
          </a:xfrm>
          <a:prstGeom prst="rect">
            <a:avLst/>
          </a:prstGeom>
        </p:spPr>
      </p:pic>
      <p:sp>
        <p:nvSpPr>
          <p:cNvPr id="131" name="Text 20">
            <a:extLst>
              <a:ext uri="{FF2B5EF4-FFF2-40B4-BE49-F238E27FC236}">
                <a16:creationId xmlns:a16="http://schemas.microsoft.com/office/drawing/2014/main" id="{69BF3361-DD53-587A-905B-3562F72F9872}"/>
              </a:ext>
            </a:extLst>
          </p:cNvPr>
          <p:cNvSpPr/>
          <p:nvPr/>
        </p:nvSpPr>
        <p:spPr>
          <a:xfrm>
            <a:off x="3465576" y="4416552"/>
            <a:ext cx="371840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9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Hibernate/JPA → MySQL / PostgreSQL, Redis</a:t>
            </a:r>
            <a:endParaRPr lang="en-US" sz="1150" dirty="0"/>
          </a:p>
        </p:txBody>
      </p:sp>
      <p:pic>
        <p:nvPicPr>
          <p:cNvPr id="133" name="Image 7" descr="/home/claude/civicpulse/icon_server.png">
            <a:extLst>
              <a:ext uri="{FF2B5EF4-FFF2-40B4-BE49-F238E27FC236}">
                <a16:creationId xmlns:a16="http://schemas.microsoft.com/office/drawing/2014/main" id="{C0C82834-F367-7210-57CF-07AF061160D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38848" y="4709160"/>
            <a:ext cx="310896" cy="310896"/>
          </a:xfrm>
          <a:prstGeom prst="rect">
            <a:avLst/>
          </a:prstGeom>
        </p:spPr>
      </p:pic>
      <p:sp>
        <p:nvSpPr>
          <p:cNvPr id="135" name="Text 21">
            <a:extLst>
              <a:ext uri="{FF2B5EF4-FFF2-40B4-BE49-F238E27FC236}">
                <a16:creationId xmlns:a16="http://schemas.microsoft.com/office/drawing/2014/main" id="{61953A61-4D5A-F599-4EEB-37B2D646AA70}"/>
              </a:ext>
            </a:extLst>
          </p:cNvPr>
          <p:cNvSpPr/>
          <p:nvPr/>
        </p:nvSpPr>
        <p:spPr>
          <a:xfrm>
            <a:off x="7641184" y="4416552"/>
            <a:ext cx="3718408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9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Apache Kafka / RabbitMQ</a:t>
            </a:r>
            <a:endParaRPr lang="en-US" sz="1150" dirty="0"/>
          </a:p>
        </p:txBody>
      </p:sp>
      <p:sp>
        <p:nvSpPr>
          <p:cNvPr id="137" name="Shape 22">
            <a:extLst>
              <a:ext uri="{FF2B5EF4-FFF2-40B4-BE49-F238E27FC236}">
                <a16:creationId xmlns:a16="http://schemas.microsoft.com/office/drawing/2014/main" id="{4FFB74CB-1BE4-9C5D-E99B-4DC9BE3802FC}"/>
              </a:ext>
            </a:extLst>
          </p:cNvPr>
          <p:cNvSpPr/>
          <p:nvPr/>
        </p:nvSpPr>
        <p:spPr>
          <a:xfrm>
            <a:off x="548640" y="5385816"/>
            <a:ext cx="11094415" cy="896112"/>
          </a:xfrm>
          <a:prstGeom prst="roundRect">
            <a:avLst>
              <a:gd name="adj" fmla="val 8163"/>
            </a:avLst>
          </a:prstGeom>
          <a:solidFill>
            <a:srgbClr val="1E3A5F"/>
          </a:solidFill>
          <a:ln/>
        </p:spPr>
      </p:sp>
      <p:sp>
        <p:nvSpPr>
          <p:cNvPr id="139" name="Shape 23">
            <a:extLst>
              <a:ext uri="{FF2B5EF4-FFF2-40B4-BE49-F238E27FC236}">
                <a16:creationId xmlns:a16="http://schemas.microsoft.com/office/drawing/2014/main" id="{8E9E6B1D-A4F3-9B2C-B7DD-EF0F2A66F1F8}"/>
              </a:ext>
            </a:extLst>
          </p:cNvPr>
          <p:cNvSpPr/>
          <p:nvPr/>
        </p:nvSpPr>
        <p:spPr>
          <a:xfrm>
            <a:off x="548640" y="5385816"/>
            <a:ext cx="2286000" cy="896112"/>
          </a:xfrm>
          <a:prstGeom prst="roundRect">
            <a:avLst>
              <a:gd name="adj" fmla="val 8163"/>
            </a:avLst>
          </a:prstGeom>
          <a:solidFill>
            <a:srgbClr val="00A896"/>
          </a:solidFill>
          <a:ln/>
        </p:spPr>
      </p:sp>
      <p:sp>
        <p:nvSpPr>
          <p:cNvPr id="141" name="Text 24">
            <a:extLst>
              <a:ext uri="{FF2B5EF4-FFF2-40B4-BE49-F238E27FC236}">
                <a16:creationId xmlns:a16="http://schemas.microsoft.com/office/drawing/2014/main" id="{221843F7-4E87-1CE4-C455-46C90A6B08DE}"/>
              </a:ext>
            </a:extLst>
          </p:cNvPr>
          <p:cNvSpPr/>
          <p:nvPr/>
        </p:nvSpPr>
        <p:spPr>
          <a:xfrm>
            <a:off x="731520" y="5385816"/>
            <a:ext cx="19202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 Layer</a:t>
            </a:r>
            <a:endParaRPr lang="en-US" sz="1250" dirty="0"/>
          </a:p>
        </p:txBody>
      </p:sp>
      <p:pic>
        <p:nvPicPr>
          <p:cNvPr id="143" name="Image 8" descr="/home/claude/civicpulse/icon_cloud.png">
            <a:extLst>
              <a:ext uri="{FF2B5EF4-FFF2-40B4-BE49-F238E27FC236}">
                <a16:creationId xmlns:a16="http://schemas.microsoft.com/office/drawing/2014/main" id="{29A68D2D-1746-0866-3C53-5DD54B591D3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063240" y="5678424"/>
            <a:ext cx="310896" cy="310896"/>
          </a:xfrm>
          <a:prstGeom prst="rect">
            <a:avLst/>
          </a:prstGeom>
        </p:spPr>
      </p:pic>
      <p:sp>
        <p:nvSpPr>
          <p:cNvPr id="145" name="Text 25">
            <a:extLst>
              <a:ext uri="{FF2B5EF4-FFF2-40B4-BE49-F238E27FC236}">
                <a16:creationId xmlns:a16="http://schemas.microsoft.com/office/drawing/2014/main" id="{91F3E22C-C580-6D4C-26B5-EBE64B6F2EED}"/>
              </a:ext>
            </a:extLst>
          </p:cNvPr>
          <p:cNvSpPr/>
          <p:nvPr/>
        </p:nvSpPr>
        <p:spPr>
          <a:xfrm>
            <a:off x="3465576" y="5385816"/>
            <a:ext cx="7894015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9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Docker, Kubernetes, Jenkins CI/CD, Cloud (AWS/Azure)</a:t>
            </a:r>
            <a:endParaRPr lang="en-US" sz="1150" dirty="0"/>
          </a:p>
        </p:txBody>
      </p:sp>
      <p:sp>
        <p:nvSpPr>
          <p:cNvPr id="147" name="Text 26">
            <a:extLst>
              <a:ext uri="{FF2B5EF4-FFF2-40B4-BE49-F238E27FC236}">
                <a16:creationId xmlns:a16="http://schemas.microsoft.com/office/drawing/2014/main" id="{FC51F46A-A5CF-FB00-E1D0-1AFC2C115847}"/>
              </a:ext>
            </a:extLst>
          </p:cNvPr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CivicPulse  |  Smart Governance Management Platform</a:t>
            </a:r>
            <a:endParaRPr lang="en-US" sz="900" dirty="0"/>
          </a:p>
        </p:txBody>
      </p:sp>
      <p:sp>
        <p:nvSpPr>
          <p:cNvPr id="149" name="Text 27">
            <a:extLst>
              <a:ext uri="{FF2B5EF4-FFF2-40B4-BE49-F238E27FC236}">
                <a16:creationId xmlns:a16="http://schemas.microsoft.com/office/drawing/2014/main" id="{55713E1A-4341-65E5-2C50-6CA6A15C42BB}"/>
              </a:ext>
            </a:extLst>
          </p:cNvPr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9106203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Entity-Relationship Diagram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Conceptual data model underlying the CivicPulse schema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355457" y="1053768"/>
            <a:ext cx="2286000" cy="17534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7D0DD"/>
            </a:solidFill>
            <a:prstDash val="solid"/>
          </a:ln>
          <a:effectLst>
            <a:outerShdw blurRad="76200" dist="25400" dir="5400000" algn="bl" rotWithShape="0">
              <a:srgbClr val="1B2A44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5" name="Shape 3"/>
          <p:cNvSpPr/>
          <p:nvPr/>
        </p:nvSpPr>
        <p:spPr>
          <a:xfrm>
            <a:off x="355457" y="1070319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16233F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6" name="Shape 4"/>
          <p:cNvSpPr/>
          <p:nvPr/>
        </p:nvSpPr>
        <p:spPr>
          <a:xfrm>
            <a:off x="354929" y="1288673"/>
            <a:ext cx="2286000" cy="73152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7" name="Text 5"/>
          <p:cNvSpPr/>
          <p:nvPr/>
        </p:nvSpPr>
        <p:spPr>
          <a:xfrm>
            <a:off x="301177" y="10469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CITIZEN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42799" y="1355044"/>
            <a:ext cx="2029968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70" b="1" dirty="0">
                <a:solidFill>
                  <a:srgbClr val="017E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citizen_id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name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email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phone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address</a:t>
            </a:r>
            <a:endParaRPr lang="en-US" sz="870" dirty="0"/>
          </a:p>
        </p:txBody>
      </p:sp>
      <p:sp>
        <p:nvSpPr>
          <p:cNvPr id="9" name="Shape 7"/>
          <p:cNvSpPr/>
          <p:nvPr/>
        </p:nvSpPr>
        <p:spPr>
          <a:xfrm>
            <a:off x="4937760" y="914400"/>
            <a:ext cx="2286000" cy="1161288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C7D0DD"/>
            </a:solidFill>
            <a:prstDash val="solid"/>
          </a:ln>
          <a:effectLst>
            <a:outerShdw blurRad="76200" dist="25400" dir="5400000" algn="bl" rotWithShape="0">
              <a:srgbClr val="1B2A44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37760" y="914400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16233F"/>
          </a:solidFill>
          <a:ln/>
        </p:spPr>
      </p:sp>
      <p:sp>
        <p:nvSpPr>
          <p:cNvPr id="11" name="Shape 9"/>
          <p:cNvSpPr/>
          <p:nvPr/>
        </p:nvSpPr>
        <p:spPr>
          <a:xfrm>
            <a:off x="4937760" y="1115568"/>
            <a:ext cx="2286000" cy="73152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914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CATEGORY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65776" y="1216152"/>
            <a:ext cx="2029968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70" b="1" dirty="0">
                <a:solidFill>
                  <a:srgbClr val="017E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category_id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category_name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description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9475706" y="758952"/>
            <a:ext cx="2286000" cy="137160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C7D0DD"/>
            </a:solidFill>
            <a:prstDash val="solid"/>
          </a:ln>
          <a:effectLst>
            <a:outerShdw blurRad="76200" dist="25400" dir="5400000" algn="bl" rotWithShape="0">
              <a:srgbClr val="1B2A44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491472" y="754222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16233F"/>
          </a:solidFill>
          <a:ln/>
        </p:spPr>
      </p:sp>
      <p:sp>
        <p:nvSpPr>
          <p:cNvPr id="16" name="Shape 14"/>
          <p:cNvSpPr/>
          <p:nvPr/>
        </p:nvSpPr>
        <p:spPr>
          <a:xfrm>
            <a:off x="9488318" y="972102"/>
            <a:ext cx="2286000" cy="73152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17" name="Text 15"/>
          <p:cNvSpPr/>
          <p:nvPr/>
        </p:nvSpPr>
        <p:spPr>
          <a:xfrm>
            <a:off x="9448495" y="76336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DEPARTMENT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37776" y="1034218"/>
            <a:ext cx="2029968" cy="11694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70" b="1" dirty="0">
                <a:solidFill>
                  <a:srgbClr val="017E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department_id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name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jurisdiction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contact_email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251460" y="2942160"/>
            <a:ext cx="22860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7D0DD"/>
            </a:solidFill>
            <a:prstDash val="solid"/>
          </a:ln>
          <a:effectLst>
            <a:outerShdw blurRad="76200" dist="25400" dir="5400000" algn="bl" rotWithShape="0">
              <a:srgbClr val="1B2A44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67462" y="2958085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16233F"/>
          </a:solidFill>
          <a:ln/>
        </p:spPr>
      </p:sp>
      <p:sp>
        <p:nvSpPr>
          <p:cNvPr id="21" name="Shape 19"/>
          <p:cNvSpPr/>
          <p:nvPr/>
        </p:nvSpPr>
        <p:spPr>
          <a:xfrm>
            <a:off x="267462" y="3076325"/>
            <a:ext cx="2286000" cy="73152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22" name="Text 20"/>
          <p:cNvSpPr/>
          <p:nvPr/>
        </p:nvSpPr>
        <p:spPr>
          <a:xfrm>
            <a:off x="237744" y="2955797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NOTIFICATION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79476" y="3255539"/>
            <a:ext cx="2029968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70" b="1" dirty="0">
                <a:solidFill>
                  <a:srgbClr val="017E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notification_id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i="1" dirty="0">
                <a:solidFill>
                  <a:srgbClr val="9462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complaint_id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message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channel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sent_at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4754880" y="2606040"/>
            <a:ext cx="2651760" cy="2959188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C7D0DD"/>
            </a:solidFill>
            <a:prstDash val="solid"/>
          </a:ln>
          <a:effectLst>
            <a:outerShdw blurRad="76200" dist="25400" dir="5400000" algn="bl" rotWithShape="0">
              <a:srgbClr val="1B2A44">
                <a:alpha val="10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25" name="Shape 23"/>
          <p:cNvSpPr/>
          <p:nvPr/>
        </p:nvSpPr>
        <p:spPr>
          <a:xfrm>
            <a:off x="4754880" y="2606040"/>
            <a:ext cx="2651760" cy="274320"/>
          </a:xfrm>
          <a:prstGeom prst="roundRect">
            <a:avLst>
              <a:gd name="adj" fmla="val 20000"/>
            </a:avLst>
          </a:prstGeom>
          <a:solidFill>
            <a:srgbClr val="017E71"/>
          </a:solidFill>
          <a:ln/>
        </p:spPr>
      </p:sp>
      <p:sp>
        <p:nvSpPr>
          <p:cNvPr id="26" name="Shape 24"/>
          <p:cNvSpPr/>
          <p:nvPr/>
        </p:nvSpPr>
        <p:spPr>
          <a:xfrm>
            <a:off x="4754880" y="2807208"/>
            <a:ext cx="2651760" cy="73152"/>
          </a:xfrm>
          <a:prstGeom prst="rect">
            <a:avLst/>
          </a:prstGeom>
          <a:solidFill>
            <a:srgbClr val="017E71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26060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COMPLAINT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882896" y="2907792"/>
            <a:ext cx="2395728" cy="2532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b="1" dirty="0">
                <a:solidFill>
                  <a:srgbClr val="017E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complaint_id
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9462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citizen_id
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9462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category_id
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9462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department_id
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description
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status
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location
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created_at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601200" y="2788920"/>
            <a:ext cx="2286000" cy="176479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7D0DD"/>
            </a:solidFill>
            <a:prstDash val="solid"/>
          </a:ln>
          <a:effectLst>
            <a:outerShdw blurRad="76200" dist="25400" dir="5400000" algn="bl" rotWithShape="0">
              <a:srgbClr val="1B2A44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601200" y="2788920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16233F"/>
          </a:solidFill>
          <a:ln/>
        </p:spPr>
      </p:sp>
      <p:sp>
        <p:nvSpPr>
          <p:cNvPr id="31" name="Shape 29"/>
          <p:cNvSpPr/>
          <p:nvPr/>
        </p:nvSpPr>
        <p:spPr>
          <a:xfrm>
            <a:off x="9601200" y="2990088"/>
            <a:ext cx="2286000" cy="73152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32" name="Text 30"/>
          <p:cNvSpPr/>
          <p:nvPr/>
        </p:nvSpPr>
        <p:spPr>
          <a:xfrm>
            <a:off x="9601200" y="2788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729216" y="3090672"/>
            <a:ext cx="2029968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70" b="1" dirty="0">
                <a:solidFill>
                  <a:srgbClr val="017E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admin_id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i="1" dirty="0">
                <a:solidFill>
                  <a:srgbClr val="9462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department_id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name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role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email</a:t>
            </a:r>
            <a:endParaRPr lang="en-US" sz="870" dirty="0"/>
          </a:p>
        </p:txBody>
      </p:sp>
      <p:sp>
        <p:nvSpPr>
          <p:cNvPr id="34" name="Shape 32"/>
          <p:cNvSpPr/>
          <p:nvPr/>
        </p:nvSpPr>
        <p:spPr>
          <a:xfrm>
            <a:off x="1828800" y="4937759"/>
            <a:ext cx="2286000" cy="1470923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C7D0DD"/>
            </a:solidFill>
            <a:prstDash val="solid"/>
          </a:ln>
          <a:effectLst>
            <a:outerShdw blurRad="76200" dist="25400" dir="5400000" algn="bl" rotWithShape="0">
              <a:srgbClr val="1B2A44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828800" y="4937760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16233F"/>
          </a:solidFill>
          <a:ln/>
        </p:spPr>
      </p:sp>
      <p:sp>
        <p:nvSpPr>
          <p:cNvPr id="36" name="Shape 34"/>
          <p:cNvSpPr/>
          <p:nvPr/>
        </p:nvSpPr>
        <p:spPr>
          <a:xfrm>
            <a:off x="1828800" y="5138928"/>
            <a:ext cx="2286000" cy="73152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37" name="Text 35"/>
          <p:cNvSpPr/>
          <p:nvPr/>
        </p:nvSpPr>
        <p:spPr>
          <a:xfrm>
            <a:off x="1828800" y="4937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FEEDBACK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956816" y="5239512"/>
            <a:ext cx="2029968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70" b="1" dirty="0">
                <a:solidFill>
                  <a:srgbClr val="017E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feedback_id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i="1" dirty="0">
                <a:solidFill>
                  <a:srgbClr val="9462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complaint_id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rating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comments</a:t>
            </a:r>
            <a:endParaRPr lang="en-US" sz="870" dirty="0"/>
          </a:p>
        </p:txBody>
      </p:sp>
      <p:sp>
        <p:nvSpPr>
          <p:cNvPr id="39" name="Shape 37"/>
          <p:cNvSpPr/>
          <p:nvPr/>
        </p:nvSpPr>
        <p:spPr>
          <a:xfrm>
            <a:off x="8046720" y="4937760"/>
            <a:ext cx="2286000" cy="181051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7D0DD"/>
            </a:solidFill>
            <a:prstDash val="solid"/>
          </a:ln>
          <a:effectLst>
            <a:outerShdw blurRad="76200" dist="25400" dir="5400000" algn="bl" rotWithShape="0">
              <a:srgbClr val="1B2A44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046720" y="4937760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16233F"/>
          </a:solidFill>
          <a:ln/>
        </p:spPr>
      </p:sp>
      <p:sp>
        <p:nvSpPr>
          <p:cNvPr id="41" name="Shape 39"/>
          <p:cNvSpPr/>
          <p:nvPr/>
        </p:nvSpPr>
        <p:spPr>
          <a:xfrm>
            <a:off x="8046720" y="5138928"/>
            <a:ext cx="2286000" cy="73152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42" name="Text 40"/>
          <p:cNvSpPr/>
          <p:nvPr/>
        </p:nvSpPr>
        <p:spPr>
          <a:xfrm>
            <a:off x="8046720" y="49377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ESCALATION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174736" y="5239512"/>
            <a:ext cx="2029968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870" b="1" dirty="0">
                <a:solidFill>
                  <a:srgbClr val="017E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  escalation_id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i="1" dirty="0">
                <a:solidFill>
                  <a:srgbClr val="9462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complaint_id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i="1" dirty="0">
                <a:solidFill>
                  <a:srgbClr val="9462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FK  admin_id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level
</a:t>
            </a:r>
            <a:endParaRPr lang="en-US" sz="87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870" dirty="0">
                <a:solidFill>
                  <a:srgbClr val="3A4A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  escalated_at</a:t>
            </a:r>
            <a:endParaRPr lang="en-US" sz="870" dirty="0"/>
          </a:p>
        </p:txBody>
      </p:sp>
      <p:sp>
        <p:nvSpPr>
          <p:cNvPr id="44" name="Shape 42"/>
          <p:cNvSpPr/>
          <p:nvPr/>
        </p:nvSpPr>
        <p:spPr>
          <a:xfrm>
            <a:off x="2651760" y="2479286"/>
            <a:ext cx="2560320" cy="126754"/>
          </a:xfrm>
          <a:prstGeom prst="line">
            <a:avLst/>
          </a:prstGeom>
          <a:noFill/>
          <a:ln w="15875">
            <a:solidFill>
              <a:srgbClr val="9AA7B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906421" y="2188886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1527048" y="2331720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937760" y="2423160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4937760" y="2423160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17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 flipV="1">
            <a:off x="6080760" y="2075688"/>
            <a:ext cx="8923" cy="530352"/>
          </a:xfrm>
          <a:prstGeom prst="line">
            <a:avLst/>
          </a:prstGeom>
          <a:noFill/>
          <a:ln w="15875">
            <a:solidFill>
              <a:srgbClr val="9AA7B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806440" y="1883664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6062472" y="2057400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17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5806440" y="2423160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5806440" y="2423160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17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 flipV="1">
            <a:off x="7370064" y="1783080"/>
            <a:ext cx="2078430" cy="822960"/>
          </a:xfrm>
          <a:prstGeom prst="line">
            <a:avLst/>
          </a:prstGeom>
          <a:noFill/>
          <a:ln w="15875">
            <a:solidFill>
              <a:srgbClr val="9AA7B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551642" y="2765272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56" name="Text 54"/>
          <p:cNvSpPr/>
          <p:nvPr/>
        </p:nvSpPr>
        <p:spPr>
          <a:xfrm>
            <a:off x="11191307" y="2139696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17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6967728" y="2423160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58" name="Text 56"/>
          <p:cNvSpPr/>
          <p:nvPr/>
        </p:nvSpPr>
        <p:spPr>
          <a:xfrm>
            <a:off x="6967728" y="2423160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17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2560320" y="3474720"/>
            <a:ext cx="2194560" cy="118872"/>
          </a:xfrm>
          <a:prstGeom prst="line">
            <a:avLst/>
          </a:prstGeom>
          <a:noFill/>
          <a:ln w="15875">
            <a:solidFill>
              <a:srgbClr val="9AA7BD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624328" y="3649717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61" name="Text 59"/>
          <p:cNvSpPr/>
          <p:nvPr/>
        </p:nvSpPr>
        <p:spPr>
          <a:xfrm>
            <a:off x="2578608" y="3474720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17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3803904" y="4143651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63" name="Text 61"/>
          <p:cNvSpPr/>
          <p:nvPr/>
        </p:nvSpPr>
        <p:spPr>
          <a:xfrm>
            <a:off x="4489704" y="3268822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17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 flipH="1">
            <a:off x="11089148" y="2130552"/>
            <a:ext cx="31215" cy="644652"/>
          </a:xfrm>
          <a:prstGeom prst="line">
            <a:avLst/>
          </a:prstGeom>
          <a:noFill/>
          <a:ln w="15875">
            <a:solidFill>
              <a:srgbClr val="9AA7BD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0671048" y="2130552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66" name="Text 64"/>
          <p:cNvSpPr/>
          <p:nvPr/>
        </p:nvSpPr>
        <p:spPr>
          <a:xfrm>
            <a:off x="2640929" y="2221992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17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10469880" y="2606040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68" name="Text 66"/>
          <p:cNvSpPr/>
          <p:nvPr/>
        </p:nvSpPr>
        <p:spPr>
          <a:xfrm>
            <a:off x="10779514" y="2598472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17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 flipV="1">
            <a:off x="2971800" y="4764024"/>
            <a:ext cx="1764792" cy="173736"/>
          </a:xfrm>
          <a:prstGeom prst="line">
            <a:avLst/>
          </a:prstGeom>
          <a:noFill/>
          <a:ln w="15875">
            <a:solidFill>
              <a:srgbClr val="9AA7BD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029200" y="4581144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71" name="Text 69"/>
          <p:cNvSpPr/>
          <p:nvPr/>
        </p:nvSpPr>
        <p:spPr>
          <a:xfrm>
            <a:off x="4517136" y="4533217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17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2990088" y="4754880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73" name="Text 71"/>
          <p:cNvSpPr/>
          <p:nvPr/>
        </p:nvSpPr>
        <p:spPr>
          <a:xfrm>
            <a:off x="2990088" y="4754880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17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7406640" y="4416552"/>
            <a:ext cx="1508760" cy="521208"/>
          </a:xfrm>
          <a:prstGeom prst="line">
            <a:avLst/>
          </a:prstGeom>
          <a:noFill/>
          <a:ln w="15875">
            <a:solidFill>
              <a:srgbClr val="9AA7BD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466076" y="4174236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76" name="Text 74"/>
          <p:cNvSpPr/>
          <p:nvPr/>
        </p:nvSpPr>
        <p:spPr>
          <a:xfrm>
            <a:off x="7402068" y="4114800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17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8915400" y="4754880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78" name="Text 76"/>
          <p:cNvSpPr/>
          <p:nvPr/>
        </p:nvSpPr>
        <p:spPr>
          <a:xfrm>
            <a:off x="8915400" y="4754880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17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 flipV="1">
            <a:off x="10351007" y="4553712"/>
            <a:ext cx="926287" cy="886968"/>
          </a:xfrm>
          <a:prstGeom prst="line">
            <a:avLst/>
          </a:prstGeom>
          <a:noFill/>
          <a:ln w="15875">
            <a:solidFill>
              <a:srgbClr val="9AA7BD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469880" y="4160520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81" name="Text 79"/>
          <p:cNvSpPr/>
          <p:nvPr/>
        </p:nvSpPr>
        <p:spPr>
          <a:xfrm>
            <a:off x="11210544" y="4523758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17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10351008" y="5440680"/>
            <a:ext cx="256032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sp>
        <p:nvSpPr>
          <p:cNvPr id="83" name="Text 81"/>
          <p:cNvSpPr/>
          <p:nvPr/>
        </p:nvSpPr>
        <p:spPr>
          <a:xfrm>
            <a:off x="10351008" y="5440680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17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</a:t>
            </a:r>
            <a:endParaRPr lang="en-US" sz="800" dirty="0"/>
          </a:p>
        </p:txBody>
      </p:sp>
      <p:sp>
        <p:nvSpPr>
          <p:cNvPr id="84" name="Shape 82"/>
          <p:cNvSpPr/>
          <p:nvPr/>
        </p:nvSpPr>
        <p:spPr>
          <a:xfrm>
            <a:off x="548640" y="6656832"/>
            <a:ext cx="146304" cy="109728"/>
          </a:xfrm>
          <a:prstGeom prst="rect">
            <a:avLst/>
          </a:prstGeom>
          <a:solidFill>
            <a:srgbClr val="017E71"/>
          </a:solidFill>
          <a:ln/>
        </p:spPr>
      </p:sp>
      <p:sp>
        <p:nvSpPr>
          <p:cNvPr id="85" name="Text 83"/>
          <p:cNvSpPr/>
          <p:nvPr/>
        </p:nvSpPr>
        <p:spPr>
          <a:xfrm>
            <a:off x="731520" y="654710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PK Primary Key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2286000" y="6656832"/>
            <a:ext cx="146304" cy="109728"/>
          </a:xfrm>
          <a:prstGeom prst="rect">
            <a:avLst/>
          </a:prstGeom>
          <a:solidFill>
            <a:srgbClr val="946200"/>
          </a:solidFill>
          <a:ln/>
        </p:spPr>
      </p:sp>
      <p:sp>
        <p:nvSpPr>
          <p:cNvPr id="87" name="Text 85"/>
          <p:cNvSpPr/>
          <p:nvPr/>
        </p:nvSpPr>
        <p:spPr>
          <a:xfrm>
            <a:off x="2468880" y="654710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FK Foreign Key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3931920" y="654710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/ M  — one-to-one or one-to-many cardinality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900" dirty="0"/>
          </a:p>
        </p:txBody>
      </p:sp>
      <p:sp>
        <p:nvSpPr>
          <p:cNvPr id="111" name="Text 64">
            <a:extLst>
              <a:ext uri="{FF2B5EF4-FFF2-40B4-BE49-F238E27FC236}">
                <a16:creationId xmlns:a16="http://schemas.microsoft.com/office/drawing/2014/main" id="{0C41B955-EAED-5D68-64B6-6A90BAE87BD0}"/>
              </a:ext>
            </a:extLst>
          </p:cNvPr>
          <p:cNvSpPr/>
          <p:nvPr/>
        </p:nvSpPr>
        <p:spPr>
          <a:xfrm>
            <a:off x="9198768" y="1591056"/>
            <a:ext cx="2560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17E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Box 86">
            <a:extLst>
              <a:ext uri="{FF2B5EF4-FFF2-40B4-BE49-F238E27FC236}">
                <a16:creationId xmlns:a16="http://schemas.microsoft.com/office/drawing/2014/main" id="{E900403B-8D9A-5F0A-0B96-A9FCE4A4B6BB}"/>
              </a:ext>
            </a:extLst>
          </p:cNvPr>
          <p:cNvSpPr txBox="1"/>
          <p:nvPr/>
        </p:nvSpPr>
        <p:spPr>
          <a:xfrm>
            <a:off x="621792" y="361188"/>
            <a:ext cx="3055645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1253F"/>
                </a:solidFill>
              </a:defRPr>
            </a:pPr>
            <a:r>
              <a:rPr dirty="0">
                <a:latin typeface="Georgia" panose="02040502050405020303" pitchFamily="18" charset="0"/>
              </a:rPr>
              <a:t>Expected Impact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92CBDAF-0BF0-1932-C8BC-64ABDDB2E7EA}"/>
              </a:ext>
            </a:extLst>
          </p:cNvPr>
          <p:cNvSpPr txBox="1"/>
          <p:nvPr/>
        </p:nvSpPr>
        <p:spPr>
          <a:xfrm>
            <a:off x="621792" y="841248"/>
            <a:ext cx="6173485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7382"/>
                </a:solidFill>
              </a:defRPr>
            </a:pPr>
            <a:r>
              <a:rPr sz="1250" dirty="0">
                <a:latin typeface="Georgia" panose="02040502050405020303" pitchFamily="18" charset="0"/>
              </a:rPr>
              <a:t>The platform creates value for citizens, government teams and the wider community.</a:t>
            </a:r>
          </a:p>
        </p:txBody>
      </p:sp>
      <p:sp>
        <p:nvSpPr>
          <p:cNvPr id="91" name="Rounded Rectangle 4">
            <a:extLst>
              <a:ext uri="{FF2B5EF4-FFF2-40B4-BE49-F238E27FC236}">
                <a16:creationId xmlns:a16="http://schemas.microsoft.com/office/drawing/2014/main" id="{EC9E23BF-4455-1E75-50E0-972937B404AD}"/>
              </a:ext>
            </a:extLst>
          </p:cNvPr>
          <p:cNvSpPr/>
          <p:nvPr/>
        </p:nvSpPr>
        <p:spPr>
          <a:xfrm>
            <a:off x="731520" y="1417320"/>
            <a:ext cx="50749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BD306D8A-4A6C-5C41-A427-60AD330D80F9}"/>
              </a:ext>
            </a:extLst>
          </p:cNvPr>
          <p:cNvSpPr txBox="1"/>
          <p:nvPr/>
        </p:nvSpPr>
        <p:spPr>
          <a:xfrm>
            <a:off x="1828851" y="1842015"/>
            <a:ext cx="262347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rPr lang="en-IN" sz="1600" b="1" dirty="0"/>
              <a:t> Faster Complaint Resolution</a:t>
            </a:r>
            <a:endParaRPr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C30417B-ACD9-30A6-4F93-E41DCD8AB6C8}"/>
              </a:ext>
            </a:extLst>
          </p:cNvPr>
          <p:cNvSpPr txBox="1"/>
          <p:nvPr/>
        </p:nvSpPr>
        <p:spPr>
          <a:xfrm>
            <a:off x="1051560" y="2156981"/>
            <a:ext cx="4389120" cy="584775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263241"/>
                </a:solidFill>
              </a:defRPr>
            </a:pPr>
            <a:r>
              <a:rPr lang="en-IN" sz="1600" dirty="0"/>
              <a:t>Reduce response and resolution time through AI-based prioritization and automated workflows.</a:t>
            </a:r>
            <a:endParaRPr sz="1600" dirty="0"/>
          </a:p>
        </p:txBody>
      </p:sp>
      <p:sp>
        <p:nvSpPr>
          <p:cNvPr id="99" name="Rounded Rectangle 8">
            <a:extLst>
              <a:ext uri="{FF2B5EF4-FFF2-40B4-BE49-F238E27FC236}">
                <a16:creationId xmlns:a16="http://schemas.microsoft.com/office/drawing/2014/main" id="{85C36FB5-1D92-1E8A-E275-9E5F5B669A56}"/>
              </a:ext>
            </a:extLst>
          </p:cNvPr>
          <p:cNvSpPr/>
          <p:nvPr/>
        </p:nvSpPr>
        <p:spPr>
          <a:xfrm>
            <a:off x="6263640" y="1417320"/>
            <a:ext cx="50749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6E3242F-D2E8-872C-85C0-5F5D61D51AE0}"/>
              </a:ext>
            </a:extLst>
          </p:cNvPr>
          <p:cNvSpPr txBox="1"/>
          <p:nvPr/>
        </p:nvSpPr>
        <p:spPr>
          <a:xfrm>
            <a:off x="7398757" y="1517565"/>
            <a:ext cx="2186945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rPr lang="en-IN" sz="1600" b="1" dirty="0"/>
              <a:t>Improved Transparency</a:t>
            </a:r>
            <a:endParaRPr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9061B73-9C36-E200-8CBF-5F6C5154C423}"/>
              </a:ext>
            </a:extLst>
          </p:cNvPr>
          <p:cNvSpPr txBox="1"/>
          <p:nvPr/>
        </p:nvSpPr>
        <p:spPr>
          <a:xfrm>
            <a:off x="6583679" y="2130552"/>
            <a:ext cx="4389120" cy="584775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263241"/>
                </a:solidFill>
              </a:defRPr>
            </a:pPr>
            <a:r>
              <a:rPr lang="en-IN" sz="1600" dirty="0"/>
              <a:t>Citizens can track complaint status in real time, increasing trust in governance.</a:t>
            </a:r>
            <a:endParaRPr sz="1600" dirty="0"/>
          </a:p>
        </p:txBody>
      </p:sp>
      <p:sp>
        <p:nvSpPr>
          <p:cNvPr id="107" name="Rounded Rectangle 12">
            <a:extLst>
              <a:ext uri="{FF2B5EF4-FFF2-40B4-BE49-F238E27FC236}">
                <a16:creationId xmlns:a16="http://schemas.microsoft.com/office/drawing/2014/main" id="{F6D3D2E5-5847-EE83-ACC1-94E37ADC962E}"/>
              </a:ext>
            </a:extLst>
          </p:cNvPr>
          <p:cNvSpPr/>
          <p:nvPr/>
        </p:nvSpPr>
        <p:spPr>
          <a:xfrm>
            <a:off x="731520" y="3657600"/>
            <a:ext cx="50749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C1D28480-7D95-46F2-4C10-B243D0CACC13}"/>
              </a:ext>
            </a:extLst>
          </p:cNvPr>
          <p:cNvSpPr txBox="1"/>
          <p:nvPr/>
        </p:nvSpPr>
        <p:spPr>
          <a:xfrm>
            <a:off x="1051560" y="4370832"/>
            <a:ext cx="4389120" cy="584775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263241"/>
                </a:solidFill>
              </a:defRPr>
            </a:pPr>
            <a:r>
              <a:rPr lang="en-IN" sz="1600" dirty="0"/>
              <a:t>Analytics and dashboards help administrators monitor performance and identify trends.</a:t>
            </a:r>
            <a:endParaRPr sz="1600" dirty="0"/>
          </a:p>
        </p:txBody>
      </p:sp>
      <p:sp>
        <p:nvSpPr>
          <p:cNvPr id="115" name="Rounded Rectangle 16">
            <a:extLst>
              <a:ext uri="{FF2B5EF4-FFF2-40B4-BE49-F238E27FC236}">
                <a16:creationId xmlns:a16="http://schemas.microsoft.com/office/drawing/2014/main" id="{FC11CC3F-A512-E729-EC09-8A92EFFAB694}"/>
              </a:ext>
            </a:extLst>
          </p:cNvPr>
          <p:cNvSpPr/>
          <p:nvPr/>
        </p:nvSpPr>
        <p:spPr>
          <a:xfrm>
            <a:off x="6263640" y="3657600"/>
            <a:ext cx="50749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445C8CFA-597A-E6E2-C1CD-1705E4DBAC6A}"/>
              </a:ext>
            </a:extLst>
          </p:cNvPr>
          <p:cNvSpPr txBox="1"/>
          <p:nvPr/>
        </p:nvSpPr>
        <p:spPr>
          <a:xfrm>
            <a:off x="6583679" y="4370832"/>
            <a:ext cx="4389120" cy="584775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263241"/>
                </a:solidFill>
              </a:defRPr>
            </a:pPr>
            <a:r>
              <a:rPr lang="en-IN" sz="1600" dirty="0"/>
              <a:t>Timely updates, quick resolutions, and feedback collection improve the overall citizen experience.</a:t>
            </a:r>
            <a:endParaRPr sz="1600" dirty="0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D0C31C7B-E2D2-46E8-0D87-1F104AAF75E2}"/>
              </a:ext>
            </a:extLst>
          </p:cNvPr>
          <p:cNvSpPr/>
          <p:nvPr/>
        </p:nvSpPr>
        <p:spPr>
          <a:xfrm>
            <a:off x="594360" y="6510528"/>
            <a:ext cx="10972800" cy="9144"/>
          </a:xfrm>
          <a:prstGeom prst="rect">
            <a:avLst/>
          </a:prstGeom>
          <a:solidFill>
            <a:srgbClr val="DC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3BB35CD3-BE0B-666B-E14C-5592847E5782}"/>
              </a:ext>
            </a:extLst>
          </p:cNvPr>
          <p:cNvSpPr txBox="1"/>
          <p:nvPr/>
        </p:nvSpPr>
        <p:spPr>
          <a:xfrm>
            <a:off x="10881360" y="6547104"/>
            <a:ext cx="6400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788796"/>
                </a:solidFill>
              </a:defRPr>
            </a:pPr>
            <a:r>
              <a:t>8</a:t>
            </a:r>
          </a:p>
        </p:txBody>
      </p:sp>
      <p:sp>
        <p:nvSpPr>
          <p:cNvPr id="127" name="Shape 23">
            <a:extLst>
              <a:ext uri="{FF2B5EF4-FFF2-40B4-BE49-F238E27FC236}">
                <a16:creationId xmlns:a16="http://schemas.microsoft.com/office/drawing/2014/main" id="{88D5CA2C-BF38-6C67-6FFE-AF424A07991A}"/>
              </a:ext>
            </a:extLst>
          </p:cNvPr>
          <p:cNvSpPr/>
          <p:nvPr/>
        </p:nvSpPr>
        <p:spPr>
          <a:xfrm>
            <a:off x="731520" y="1451134"/>
            <a:ext cx="5074920" cy="495535"/>
          </a:xfrm>
          <a:prstGeom prst="roundRect">
            <a:avLst>
              <a:gd name="adj" fmla="val 20000"/>
            </a:avLst>
          </a:prstGeom>
          <a:solidFill>
            <a:srgbClr val="017E71"/>
          </a:solidFill>
          <a:ln/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               Faster Complaint Resolution</a:t>
            </a:r>
          </a:p>
        </p:txBody>
      </p:sp>
      <p:sp>
        <p:nvSpPr>
          <p:cNvPr id="129" name="Shape 23">
            <a:extLst>
              <a:ext uri="{FF2B5EF4-FFF2-40B4-BE49-F238E27FC236}">
                <a16:creationId xmlns:a16="http://schemas.microsoft.com/office/drawing/2014/main" id="{F0A5016C-4127-BEA5-19EE-B373FAF9195E}"/>
              </a:ext>
            </a:extLst>
          </p:cNvPr>
          <p:cNvSpPr/>
          <p:nvPr/>
        </p:nvSpPr>
        <p:spPr>
          <a:xfrm>
            <a:off x="6263640" y="3676429"/>
            <a:ext cx="5074920" cy="495535"/>
          </a:xfrm>
          <a:prstGeom prst="roundRect">
            <a:avLst>
              <a:gd name="adj" fmla="val 20000"/>
            </a:avLst>
          </a:prstGeom>
          <a:solidFill>
            <a:srgbClr val="017E71"/>
          </a:solidFill>
          <a:ln/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             Enhanced Citizen Satisfaction</a:t>
            </a:r>
          </a:p>
        </p:txBody>
      </p:sp>
      <p:sp>
        <p:nvSpPr>
          <p:cNvPr id="131" name="Shape 8">
            <a:extLst>
              <a:ext uri="{FF2B5EF4-FFF2-40B4-BE49-F238E27FC236}">
                <a16:creationId xmlns:a16="http://schemas.microsoft.com/office/drawing/2014/main" id="{81211BD5-0B68-D09E-214D-B15F93BBD394}"/>
              </a:ext>
            </a:extLst>
          </p:cNvPr>
          <p:cNvSpPr/>
          <p:nvPr/>
        </p:nvSpPr>
        <p:spPr>
          <a:xfrm>
            <a:off x="731521" y="3695596"/>
            <a:ext cx="5074919" cy="514363"/>
          </a:xfrm>
          <a:prstGeom prst="roundRect">
            <a:avLst>
              <a:gd name="adj" fmla="val 20000"/>
            </a:avLst>
          </a:prstGeom>
          <a:solidFill>
            <a:srgbClr val="16233F"/>
          </a:solidFill>
          <a:ln/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               Better Decision-Making</a:t>
            </a:r>
          </a:p>
        </p:txBody>
      </p:sp>
      <p:sp>
        <p:nvSpPr>
          <p:cNvPr id="133" name="Shape 8">
            <a:extLst>
              <a:ext uri="{FF2B5EF4-FFF2-40B4-BE49-F238E27FC236}">
                <a16:creationId xmlns:a16="http://schemas.microsoft.com/office/drawing/2014/main" id="{DE627146-3813-1A58-72C0-6B0631349774}"/>
              </a:ext>
            </a:extLst>
          </p:cNvPr>
          <p:cNvSpPr/>
          <p:nvPr/>
        </p:nvSpPr>
        <p:spPr>
          <a:xfrm>
            <a:off x="6263641" y="1441719"/>
            <a:ext cx="5074919" cy="514363"/>
          </a:xfrm>
          <a:prstGeom prst="roundRect">
            <a:avLst>
              <a:gd name="adj" fmla="val 20000"/>
            </a:avLst>
          </a:prstGeom>
          <a:solidFill>
            <a:srgbClr val="16233F"/>
          </a:solidFill>
          <a:ln/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                         Improved Transparency</a:t>
            </a:r>
          </a:p>
        </p:txBody>
      </p:sp>
    </p:spTree>
    <p:extLst>
      <p:ext uri="{BB962C8B-B14F-4D97-AF65-F5344CB8AC3E}">
        <p14:creationId xmlns:p14="http://schemas.microsoft.com/office/powerpoint/2010/main" val="35639224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F5F7FA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46888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623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333756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CivicPulse — building responsive, transparent, and intelligent governance,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complaint at a time.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4206240"/>
            <a:ext cx="914400" cy="0"/>
          </a:xfrm>
          <a:prstGeom prst="line">
            <a:avLst/>
          </a:prstGeom>
          <a:noFill/>
          <a:ln w="381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CivicPulse  |  Smart Governance Management Platform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900" dirty="0"/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660A79A1-3D61-0B52-E3B3-6DC03DE466C1}"/>
              </a:ext>
            </a:extLst>
          </p:cNvPr>
          <p:cNvSpPr/>
          <p:nvPr/>
        </p:nvSpPr>
        <p:spPr>
          <a:xfrm>
            <a:off x="-640080" y="4480560"/>
            <a:ext cx="2377440" cy="2377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Shape 0">
            <a:extLst>
              <a:ext uri="{FF2B5EF4-FFF2-40B4-BE49-F238E27FC236}">
                <a16:creationId xmlns:a16="http://schemas.microsoft.com/office/drawing/2014/main" id="{5D0BB082-EB35-F041-626D-B9B43D7265CC}"/>
              </a:ext>
            </a:extLst>
          </p:cNvPr>
          <p:cNvSpPr/>
          <p:nvPr/>
        </p:nvSpPr>
        <p:spPr>
          <a:xfrm>
            <a:off x="8662627" y="-851331"/>
            <a:ext cx="4754880" cy="8497601"/>
          </a:xfrm>
          <a:prstGeom prst="ellipse">
            <a:avLst/>
          </a:prstGeom>
          <a:solidFill>
            <a:srgbClr val="1E3A5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1214</TotalTime>
  <Words>1395</Words>
  <Application>Microsoft Office PowerPoint</Application>
  <PresentationFormat>Widescreen</PresentationFormat>
  <Paragraphs>273</Paragraphs>
  <Slides>14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Sanjana Nitnavare</cp:lastModifiedBy>
  <cp:revision>5</cp:revision>
  <dcterms:created xsi:type="dcterms:W3CDTF">2026-07-29T08:48:42Z</dcterms:created>
  <dcterms:modified xsi:type="dcterms:W3CDTF">2026-07-30T14:03:11Z</dcterms:modified>
</cp:coreProperties>
</file>