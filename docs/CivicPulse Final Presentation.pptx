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1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6.png"/><Relationship Id="rId18" Type="http://schemas.openxmlformats.org/officeDocument/2006/relationships/image" Target="../media/image-10-7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0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10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10.png"/><Relationship Id="rId26" Type="http://schemas.openxmlformats.org/officeDocument/2006/relationships/image" Target="../media/image-10-10.png"/><Relationship Id="rId27" Type="http://schemas.openxmlformats.org/officeDocument/2006/relationships/image" Target="../media/image-10-10.png"/><Relationship Id="rId28" Type="http://schemas.openxmlformats.org/officeDocument/2006/relationships/image" Target="../media/image-10-10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057F6E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Governance Platform for Administrative Operations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Citizen Service Assistance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digital governance platform connecting citizens, administrators, and department officers through complaint management, automated priority scoring, department mapping, dashboards, notifications, and feedback.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914400" cy="0"/>
          </a:xfrm>
          <a:prstGeom prst="line">
            <a:avLst/>
          </a:prstGeom>
          <a:noFill/>
          <a:ln w="31750">
            <a:solidFill>
              <a:srgbClr val="0EA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  —  Riya, Shamiha, Sanjana, Shubhdeep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5989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spc="150" kern="0" dirty="0">
                <a:solidFill>
                  <a:srgbClr val="0E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
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Ragul S
</a:t>
            </a:r>
            <a:endParaRPr lang="en-US" sz="1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Mentor — CivicPulse Smart Governance Management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CivicPulse brings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822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21408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21408" y="3822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/ AI Capabilities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94176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94176" y="3822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66944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66944" y="3822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Enterprise 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343400" cy="4709160"/>
          </a:xfrm>
          <a:prstGeom prst="roundRect">
            <a:avLst>
              <a:gd name="adj" fmla="val 1684"/>
            </a:avLst>
          </a:prstGeom>
          <a:solidFill>
            <a:srgbClr val="E7F6F1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DECK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2203704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17" name="Text 15"/>
          <p:cNvSpPr/>
          <p:nvPr/>
        </p:nvSpPr>
        <p:spPr>
          <a:xfrm>
            <a:off x="7936992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80960" y="2715768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19" name="Text 17"/>
          <p:cNvSpPr/>
          <p:nvPr/>
        </p:nvSpPr>
        <p:spPr>
          <a:xfrm>
            <a:off x="7936992" y="2587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3227832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21" name="Text 19"/>
          <p:cNvSpPr/>
          <p:nvPr/>
        </p:nvSpPr>
        <p:spPr>
          <a:xfrm>
            <a:off x="7936992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3739896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&amp; data model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4251960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25" name="Text 23"/>
          <p:cNvSpPr/>
          <p:nvPr/>
        </p:nvSpPr>
        <p:spPr>
          <a:xfrm>
            <a:off x="7936992" y="4123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project impact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platform is needed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is a full-stack governance platform that connects citizens, administrators, and department officers through a centralized complaint-management workflow — covering registration, automated priority scoring, department assignment, status tracking, dashboards, notifications, reporting, and citizen feedback.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icons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753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Complaint Reporting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issues arrive through scattered, disconnected channels with no central record.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26060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eye_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45" y="27534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Status Visibility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66744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little insight into where a complaint stands after it's filed.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6060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17" y="27534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Department Assignment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28816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complaints to the right department relies on manual, error-prone handling.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6060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icons/barchart_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289" y="275344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Administrative Insights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90888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lack consolidated data to monitor performance and spot patterns.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F6F1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68680" y="536752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complaint-management platform  •  Limited visibility into complaint status  •  Limited department-level monitoring and accountability. CivicPulse closes these gaps with automated priority classification and department-wise monitoring.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CivicPulse is designed to achieve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aims to give every stakeholder — citizen, official, and administrator — a faster, more transparent way to raise, manage, and resolve civic issues, replacing manual paperwork with a connected digital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7" name="Image 0" descr="icons/simpl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753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Reporting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citizens a clear, guided path to raise civic issues.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" name="Image 1" descr="icons/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45" y="27534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Tracking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66744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every stakeholder follow a complaint from filing to closure.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7" name="Image 2" descr="icons/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17" y="27534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Up Resolution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28816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prioritize issues automatically to cut response time.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22" name="Image 3" descr="icons/transparenc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289" y="275344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Transparency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90888" y="38587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status, priority, and progress at every stage.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68680" y="536752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complaints end-to-end  •  Officials resolve issues faster  •  Admins see system-wide analytics — built for municipalities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citizen report to resolution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moves through a structured, auditable journey — from the moment a citizen raises an issue to the moment it is resolved and rated — keeping ownership and timelines clear at every step.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58568" y="24871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icons/file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9327" y="261792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246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Registers Issue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90672" y="3063240"/>
            <a:ext cx="256032" cy="502920"/>
          </a:xfrm>
          <a:prstGeom prst="chevron">
            <a:avLst/>
          </a:prstGeom>
          <a:solidFill>
            <a:srgbClr val="0EA894"/>
          </a:solidFill>
          <a:ln/>
        </p:spPr>
      </p:sp>
      <p:sp>
        <p:nvSpPr>
          <p:cNvPr id="11" name="Shape 8"/>
          <p:cNvSpPr/>
          <p:nvPr/>
        </p:nvSpPr>
        <p:spPr>
          <a:xfrm>
            <a:off x="3364992" y="23317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074920" y="24871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679" y="261792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246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Auto-Routed to Department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907024" y="3063240"/>
            <a:ext cx="256032" cy="502920"/>
          </a:xfrm>
          <a:prstGeom prst="chevron">
            <a:avLst/>
          </a:prstGeom>
          <a:solidFill>
            <a:srgbClr val="0EA894"/>
          </a:solidFill>
          <a:ln/>
        </p:spPr>
      </p:sp>
      <p:sp>
        <p:nvSpPr>
          <p:cNvPr id="17" name="Shape 13"/>
          <p:cNvSpPr/>
          <p:nvPr/>
        </p:nvSpPr>
        <p:spPr>
          <a:xfrm>
            <a:off x="6181344" y="23317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18" name="Text 14"/>
          <p:cNvSpPr/>
          <p:nvPr/>
        </p:nvSpPr>
        <p:spPr>
          <a:xfrm>
            <a:off x="6382512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7891272" y="24871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icons/che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031" y="2617927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3246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Resolves &amp; Updates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723376" y="3063240"/>
            <a:ext cx="256032" cy="502920"/>
          </a:xfrm>
          <a:prstGeom prst="chevron">
            <a:avLst/>
          </a:prstGeom>
          <a:solidFill>
            <a:srgbClr val="0EA894"/>
          </a:solidFill>
          <a:ln/>
        </p:spPr>
      </p:sp>
      <p:sp>
        <p:nvSpPr>
          <p:cNvPr id="23" name="Shape 18"/>
          <p:cNvSpPr/>
          <p:nvPr/>
        </p:nvSpPr>
        <p:spPr>
          <a:xfrm>
            <a:off x="8997696" y="23317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24" name="Text 19"/>
          <p:cNvSpPr/>
          <p:nvPr/>
        </p:nvSpPr>
        <p:spPr>
          <a:xfrm>
            <a:off x="9198864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10707624" y="24871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83" y="2617927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98864" y="3246120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Tracks &amp; Rates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ACCOUNTABILITY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6868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trigger escalation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38912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in real time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909560" y="5303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closes the loop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6868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no complaint is ever lost or left unowned between departments.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issue counts, right on the home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on the home page shows how many issues have been registered, resolved, and are still pending or in progress — giving instant visibility into platform activity for citizens and officials alike, no login required.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aggregates status counts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renders live stat cards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0EA894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automatically as issues change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high-impact addition that makes the platform's activity visible at a glance — a team highlight of the citizen module.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60020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7F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31520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160020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60120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56616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7F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3886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356616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3886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6012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services and complaint-management foundations (1 of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58568"/>
            <a:ext cx="640080" cy="64008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6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Portal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where citizens register complaints, track complaint status, view notifications, manage their profile, and submit feedback.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267919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5352" y="1965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25856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clipboard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4249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8352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Management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30175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 to create, view, update, assign, filter, track, and resolve complaints throughout their lifecycle.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88352" y="267919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3434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636008"/>
            <a:ext cx="640080" cy="64008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8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480242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Priority Scoring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394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evaluates complaint category, critical/high/medium keywords, and repeated reports to calculate a priority score.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691640" y="505663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45352" y="43434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6360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480242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8352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Officer Module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37960" y="5394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that automatically escalates unresolved or overdue complaints up the chain of authority based on SLA timers.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388352" y="505663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Administration, notifications, and department operations (2 of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58568"/>
            <a:ext cx="640080" cy="64008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6" name="Image 0" descr="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dashboard for monitoring complaints, statuses, priorities, department activity, reports, and overall platform performance.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267919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5352" y="1965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25856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4249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8352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&amp; Feedback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30175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notifications keep citizens informed about complaint updates; feedback supports 1–5 ratings, comments, history, and analysis.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88352" y="267919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3434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636008"/>
            <a:ext cx="640080" cy="64008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8" name="Image 2" descr="icons/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480242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Analysis &amp; Distribution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" y="5394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High, Medium, and Low priority complaints using calculated priority scores, priority reasons, and department-wise distribution.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691640" y="505663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45352" y="43434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63600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480242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8352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Management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37960" y="5394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complaint categories to standardized departments and provides department-wise complaint monitoring and workload visibility.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388352" y="5056632"/>
            <a:ext cx="32004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registration to resolution and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78608" y="199339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1122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23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registers a complaint through the web portal.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64992" y="182880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11" name="Text 8"/>
          <p:cNvSpPr/>
          <p:nvPr/>
        </p:nvSpPr>
        <p:spPr>
          <a:xfrm>
            <a:off x="3547872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94960" y="199339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icons/shield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11226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423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47872" y="278892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details and stores the complaint in the database.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81344" y="182880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17" name="Text 13"/>
          <p:cNvSpPr/>
          <p:nvPr/>
        </p:nvSpPr>
        <p:spPr>
          <a:xfrm>
            <a:off x="6364224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211312" y="199339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211226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2423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Scoring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64224" y="278892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classifies complaints as High, Medium, or Low.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97696" y="182880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23" name="Text 18"/>
          <p:cNvSpPr/>
          <p:nvPr/>
        </p:nvSpPr>
        <p:spPr>
          <a:xfrm>
            <a:off x="9180576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11027664" y="199339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3" descr="icons/git_mer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536" y="211226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0576" y="242316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180576" y="278892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category is mapped to the standardized department.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9776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2578608" y="4142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4" descr="icons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426110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1520" y="457200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31520" y="493776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and officials track status through their dashboards.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364992" y="39776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35" name="Text 28"/>
          <p:cNvSpPr/>
          <p:nvPr/>
        </p:nvSpPr>
        <p:spPr>
          <a:xfrm>
            <a:off x="3547872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5394960" y="4142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7" name="Image 5" descr="icons/bell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4261104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547872" y="457200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3547872" y="493776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receive in-platform notifications on status updates.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181344" y="39776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7F6F1"/>
          </a:solidFill>
          <a:ln/>
        </p:spPr>
      </p:sp>
      <p:sp>
        <p:nvSpPr>
          <p:cNvPr id="41" name="Text 33"/>
          <p:cNvSpPr/>
          <p:nvPr/>
        </p:nvSpPr>
        <p:spPr>
          <a:xfrm>
            <a:off x="6364224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>
            <a:off x="8211312" y="4142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3" name="Image 6" descr="icons/to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4261104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364224" y="457200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350" dirty="0"/>
          </a:p>
        </p:txBody>
      </p:sp>
      <p:sp>
        <p:nvSpPr>
          <p:cNvPr id="45" name="Text 36"/>
          <p:cNvSpPr/>
          <p:nvPr/>
        </p:nvSpPr>
        <p:spPr>
          <a:xfrm>
            <a:off x="6364224" y="493776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officers update status and resolve the complaint.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997696" y="3977640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/>
        </p:spPr>
      </p:sp>
      <p:sp>
        <p:nvSpPr>
          <p:cNvPr id="47" name="Text 38"/>
          <p:cNvSpPr/>
          <p:nvPr/>
        </p:nvSpPr>
        <p:spPr>
          <a:xfrm>
            <a:off x="9180576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Shape 39"/>
          <p:cNvSpPr/>
          <p:nvPr/>
        </p:nvSpPr>
        <p:spPr>
          <a:xfrm>
            <a:off x="11027664" y="4142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9" name="Image 7" descr="icons/thumbs_u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6536" y="4261104"/>
            <a:ext cx="219456" cy="21945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180576" y="457200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350" dirty="0"/>
          </a:p>
        </p:txBody>
      </p:sp>
      <p:sp>
        <p:nvSpPr>
          <p:cNvPr id="51" name="Text 41"/>
          <p:cNvSpPr/>
          <p:nvPr/>
        </p:nvSpPr>
        <p:spPr>
          <a:xfrm>
            <a:off x="9180576" y="493776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a 1–5 rating and comments after resolution.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enterprise architecture powering CivicPulse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5960" cy="932688"/>
          </a:xfrm>
          <a:prstGeom prst="roundRect">
            <a:avLst>
              <a:gd name="adj" fmla="val 5882"/>
            </a:avLst>
          </a:prstGeom>
          <a:solidFill>
            <a:srgbClr val="057F6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55064"/>
            <a:ext cx="457200" cy="457200"/>
          </a:xfrm>
          <a:prstGeom prst="ellipse">
            <a:avLst/>
          </a:prstGeom>
          <a:solidFill>
            <a:srgbClr val="0EA894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7393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545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61872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(Presentation Layer)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261872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Experience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651760" y="1417320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2779776" y="1536192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364" y="1621780"/>
            <a:ext cx="158008" cy="158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9776" y="1901952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779776" y="2112264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library for building interfaces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011930" y="1417320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16" name="Shape 12"/>
          <p:cNvSpPr/>
          <p:nvPr/>
        </p:nvSpPr>
        <p:spPr>
          <a:xfrm>
            <a:off x="4139946" y="1536192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7" name="Image 2" descr="icons/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34" y="1621780"/>
            <a:ext cx="158008" cy="158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39946" y="1901952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139946" y="2112264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development and build tool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5372100" y="1417320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21" name="Shape 16"/>
          <p:cNvSpPr/>
          <p:nvPr/>
        </p:nvSpPr>
        <p:spPr>
          <a:xfrm>
            <a:off x="5500116" y="1536192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22" name="Image 3" descr="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704" y="1621780"/>
            <a:ext cx="158008" cy="1580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0116" y="1901952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500116" y="2112264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and navigation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6732270" y="1417320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26" name="Shape 20"/>
          <p:cNvSpPr/>
          <p:nvPr/>
        </p:nvSpPr>
        <p:spPr>
          <a:xfrm>
            <a:off x="6860286" y="1536192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27" name="Image 4" descr="icons/simplif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874" y="1621780"/>
            <a:ext cx="158008" cy="1580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60286" y="1901952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860286" y="2112264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icon library for clean UI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548640" y="2441448"/>
            <a:ext cx="1965960" cy="932688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31" name="Shape 24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2" name="Image 5" descr="icon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2798064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61872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261872" y="2807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Layer)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1261872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APIs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2651760" y="2441448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37" name="Shape 29"/>
          <p:cNvSpPr/>
          <p:nvPr/>
        </p:nvSpPr>
        <p:spPr>
          <a:xfrm>
            <a:off x="2779776" y="256032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8" name="Image 6" descr="icons/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5364" y="2645908"/>
            <a:ext cx="158008" cy="1580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2779776" y="2926080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3.5.5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2779776" y="3136392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 and application framework</a:t>
            </a:r>
            <a:endParaRPr lang="en-US" sz="700" dirty="0"/>
          </a:p>
        </p:txBody>
      </p:sp>
      <p:sp>
        <p:nvSpPr>
          <p:cNvPr id="41" name="Shape 32"/>
          <p:cNvSpPr/>
          <p:nvPr/>
        </p:nvSpPr>
        <p:spPr>
          <a:xfrm>
            <a:off x="4011930" y="2441448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42" name="Shape 33"/>
          <p:cNvSpPr/>
          <p:nvPr/>
        </p:nvSpPr>
        <p:spPr>
          <a:xfrm>
            <a:off x="4139946" y="256032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3" name="Image 7" descr="icons/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5534" y="2645908"/>
            <a:ext cx="158008" cy="1580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139946" y="2926080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139946" y="3136392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(LTS)</a:t>
            </a:r>
            <a:endParaRPr lang="en-US" sz="700" dirty="0"/>
          </a:p>
        </p:txBody>
      </p:sp>
      <p:sp>
        <p:nvSpPr>
          <p:cNvPr id="46" name="Shape 36"/>
          <p:cNvSpPr/>
          <p:nvPr/>
        </p:nvSpPr>
        <p:spPr>
          <a:xfrm>
            <a:off x="5372100" y="2441448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47" name="Shape 37"/>
          <p:cNvSpPr/>
          <p:nvPr/>
        </p:nvSpPr>
        <p:spPr>
          <a:xfrm>
            <a:off x="5500116" y="256032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8" name="Image 8" descr="icons/s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5704" y="2645908"/>
            <a:ext cx="158008" cy="15800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500116" y="2926080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5500116" y="3136392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 and services to frontend</a:t>
            </a:r>
            <a:endParaRPr lang="en-US" sz="700" dirty="0"/>
          </a:p>
        </p:txBody>
      </p:sp>
      <p:sp>
        <p:nvSpPr>
          <p:cNvPr id="51" name="Shape 40"/>
          <p:cNvSpPr/>
          <p:nvPr/>
        </p:nvSpPr>
        <p:spPr>
          <a:xfrm>
            <a:off x="6732270" y="2441448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52" name="Shape 41"/>
          <p:cNvSpPr/>
          <p:nvPr/>
        </p:nvSpPr>
        <p:spPr>
          <a:xfrm>
            <a:off x="6860286" y="256032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3" name="Image 9" descr="icons/check_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5874" y="2645908"/>
            <a:ext cx="158008" cy="15800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60286" y="2926080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6860286" y="3136392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error handling</a:t>
            </a:r>
            <a:endParaRPr lang="en-US" sz="700" dirty="0"/>
          </a:p>
        </p:txBody>
      </p:sp>
      <p:sp>
        <p:nvSpPr>
          <p:cNvPr id="56" name="Shape 44"/>
          <p:cNvSpPr/>
          <p:nvPr/>
        </p:nvSpPr>
        <p:spPr>
          <a:xfrm>
            <a:off x="548640" y="3465576"/>
            <a:ext cx="1965960" cy="932688"/>
          </a:xfrm>
          <a:prstGeom prst="roundRect">
            <a:avLst>
              <a:gd name="adj" fmla="val 5882"/>
            </a:avLst>
          </a:prstGeom>
          <a:solidFill>
            <a:srgbClr val="057F6E"/>
          </a:solidFill>
          <a:ln/>
        </p:spPr>
      </p:sp>
      <p:sp>
        <p:nvSpPr>
          <p:cNvPr id="57" name="Shape 45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0EA894"/>
          </a:solidFill>
          <a:ln/>
        </p:spPr>
      </p:sp>
      <p:pic>
        <p:nvPicPr>
          <p:cNvPr id="58" name="Image 10" descr="icons/shield_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" y="3822192"/>
            <a:ext cx="219456" cy="219456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261872" y="3593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Layer</a:t>
            </a:r>
            <a:endParaRPr lang="en-US" sz="1200" dirty="0"/>
          </a:p>
        </p:txBody>
      </p:sp>
      <p:sp>
        <p:nvSpPr>
          <p:cNvPr id="60" name="Text 47"/>
          <p:cNvSpPr/>
          <p:nvPr/>
        </p:nvSpPr>
        <p:spPr>
          <a:xfrm>
            <a:off x="1261872" y="4105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750" dirty="0"/>
          </a:p>
        </p:txBody>
      </p:sp>
      <p:sp>
        <p:nvSpPr>
          <p:cNvPr id="61" name="Shape 48"/>
          <p:cNvSpPr/>
          <p:nvPr/>
        </p:nvSpPr>
        <p:spPr>
          <a:xfrm>
            <a:off x="2651760" y="3465576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62" name="Shape 49"/>
          <p:cNvSpPr/>
          <p:nvPr/>
        </p:nvSpPr>
        <p:spPr>
          <a:xfrm>
            <a:off x="2779776" y="3584448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63" name="Image 11" descr="icons/shield_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5364" y="3670036"/>
            <a:ext cx="158008" cy="15800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2779776" y="3950208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50" dirty="0"/>
          </a:p>
        </p:txBody>
      </p:sp>
      <p:sp>
        <p:nvSpPr>
          <p:cNvPr id="65" name="Text 51"/>
          <p:cNvSpPr/>
          <p:nvPr/>
        </p:nvSpPr>
        <p:spPr>
          <a:xfrm>
            <a:off x="2779776" y="4160520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application with authentication</a:t>
            </a:r>
            <a:endParaRPr lang="en-US" sz="700" dirty="0"/>
          </a:p>
        </p:txBody>
      </p:sp>
      <p:sp>
        <p:nvSpPr>
          <p:cNvPr id="66" name="Shape 52"/>
          <p:cNvSpPr/>
          <p:nvPr/>
        </p:nvSpPr>
        <p:spPr>
          <a:xfrm>
            <a:off x="4011930" y="3465576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67" name="Shape 53"/>
          <p:cNvSpPr/>
          <p:nvPr/>
        </p:nvSpPr>
        <p:spPr>
          <a:xfrm>
            <a:off x="4139946" y="3584448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68" name="Image 12" descr="icons/ke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5534" y="3670036"/>
            <a:ext cx="158008" cy="158008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4139946" y="3950208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70" name="Text 55"/>
          <p:cNvSpPr/>
          <p:nvPr/>
        </p:nvSpPr>
        <p:spPr>
          <a:xfrm>
            <a:off x="4139946" y="4160520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</a:t>
            </a:r>
            <a:endParaRPr lang="en-US" sz="700" dirty="0"/>
          </a:p>
        </p:txBody>
      </p:sp>
      <p:sp>
        <p:nvSpPr>
          <p:cNvPr id="71" name="Shape 56"/>
          <p:cNvSpPr/>
          <p:nvPr/>
        </p:nvSpPr>
        <p:spPr>
          <a:xfrm>
            <a:off x="5372100" y="3465576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72" name="Shape 57"/>
          <p:cNvSpPr/>
          <p:nvPr/>
        </p:nvSpPr>
        <p:spPr>
          <a:xfrm>
            <a:off x="5500116" y="3584448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73" name="Image 13" descr="icons/l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5704" y="3670036"/>
            <a:ext cx="158008" cy="15800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5500116" y="3950208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75" name="Text 59"/>
          <p:cNvSpPr/>
          <p:nvPr/>
        </p:nvSpPr>
        <p:spPr>
          <a:xfrm>
            <a:off x="5500116" y="4160520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and security</a:t>
            </a:r>
            <a:endParaRPr lang="en-US" sz="700" dirty="0"/>
          </a:p>
        </p:txBody>
      </p:sp>
      <p:sp>
        <p:nvSpPr>
          <p:cNvPr id="76" name="Shape 60"/>
          <p:cNvSpPr/>
          <p:nvPr/>
        </p:nvSpPr>
        <p:spPr>
          <a:xfrm>
            <a:off x="6732270" y="3465576"/>
            <a:ext cx="130530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77" name="Shape 61"/>
          <p:cNvSpPr/>
          <p:nvPr/>
        </p:nvSpPr>
        <p:spPr>
          <a:xfrm>
            <a:off x="6860286" y="3584448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78" name="Image 14" descr="icons/user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5874" y="3670036"/>
            <a:ext cx="158008" cy="158008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6860286" y="3950208"/>
            <a:ext cx="1049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80" name="Text 63"/>
          <p:cNvSpPr/>
          <p:nvPr/>
        </p:nvSpPr>
        <p:spPr>
          <a:xfrm>
            <a:off x="6860286" y="4160520"/>
            <a:ext cx="1049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access for Citizen, Admin, Officer</a:t>
            </a:r>
            <a:endParaRPr lang="en-US" sz="700" dirty="0"/>
          </a:p>
        </p:txBody>
      </p:sp>
      <p:sp>
        <p:nvSpPr>
          <p:cNvPr id="81" name="Shape 64"/>
          <p:cNvSpPr/>
          <p:nvPr/>
        </p:nvSpPr>
        <p:spPr>
          <a:xfrm>
            <a:off x="548640" y="4489704"/>
            <a:ext cx="1965960" cy="932688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82" name="Shape 65"/>
          <p:cNvSpPr/>
          <p:nvPr/>
        </p:nvSpPr>
        <p:spPr>
          <a:xfrm>
            <a:off x="713232" y="4727448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83" name="Image 15" descr="icons/databas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" y="4846320"/>
            <a:ext cx="219456" cy="219456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1261872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85" name="Text 67"/>
          <p:cNvSpPr/>
          <p:nvPr/>
        </p:nvSpPr>
        <p:spPr>
          <a:xfrm>
            <a:off x="1261872" y="5129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750" dirty="0"/>
          </a:p>
        </p:txBody>
      </p:sp>
      <p:sp>
        <p:nvSpPr>
          <p:cNvPr id="86" name="Shape 68"/>
          <p:cNvSpPr/>
          <p:nvPr/>
        </p:nvSpPr>
        <p:spPr>
          <a:xfrm>
            <a:off x="2651760" y="4489704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87" name="Shape 69"/>
          <p:cNvSpPr/>
          <p:nvPr/>
        </p:nvSpPr>
        <p:spPr>
          <a:xfrm>
            <a:off x="2779776" y="46085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8" name="Image 16" descr="icons/databas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65364" y="4694164"/>
            <a:ext cx="158008" cy="158008"/>
          </a:xfrm>
          <a:prstGeom prst="rect">
            <a:avLst/>
          </a:prstGeom>
        </p:spPr>
      </p:pic>
      <p:sp>
        <p:nvSpPr>
          <p:cNvPr id="89" name="Text 70"/>
          <p:cNvSpPr/>
          <p:nvPr/>
        </p:nvSpPr>
        <p:spPr>
          <a:xfrm>
            <a:off x="2779776" y="4974336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90" name="Text 71"/>
          <p:cNvSpPr/>
          <p:nvPr/>
        </p:nvSpPr>
        <p:spPr>
          <a:xfrm>
            <a:off x="2779776" y="5184648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for data storage</a:t>
            </a:r>
            <a:endParaRPr lang="en-US" sz="700" dirty="0"/>
          </a:p>
        </p:txBody>
      </p:sp>
      <p:sp>
        <p:nvSpPr>
          <p:cNvPr id="91" name="Shape 72"/>
          <p:cNvSpPr/>
          <p:nvPr/>
        </p:nvSpPr>
        <p:spPr>
          <a:xfrm>
            <a:off x="4465320" y="4489704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92" name="Shape 73"/>
          <p:cNvSpPr/>
          <p:nvPr/>
        </p:nvSpPr>
        <p:spPr>
          <a:xfrm>
            <a:off x="4593336" y="46085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3" name="Image 17" descr="icons/layer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8924" y="4694164"/>
            <a:ext cx="158008" cy="158008"/>
          </a:xfrm>
          <a:prstGeom prst="rect">
            <a:avLst/>
          </a:prstGeom>
        </p:spPr>
      </p:pic>
      <p:sp>
        <p:nvSpPr>
          <p:cNvPr id="94" name="Text 74"/>
          <p:cNvSpPr/>
          <p:nvPr/>
        </p:nvSpPr>
        <p:spPr>
          <a:xfrm>
            <a:off x="4593336" y="4974336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950" dirty="0"/>
          </a:p>
        </p:txBody>
      </p:sp>
      <p:sp>
        <p:nvSpPr>
          <p:cNvPr id="95" name="Text 75"/>
          <p:cNvSpPr/>
          <p:nvPr/>
        </p:nvSpPr>
        <p:spPr>
          <a:xfrm>
            <a:off x="4593336" y="5184648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operations and repositories</a:t>
            </a:r>
            <a:endParaRPr lang="en-US" sz="700" dirty="0"/>
          </a:p>
        </p:txBody>
      </p:sp>
      <p:sp>
        <p:nvSpPr>
          <p:cNvPr id="96" name="Shape 76"/>
          <p:cNvSpPr/>
          <p:nvPr/>
        </p:nvSpPr>
        <p:spPr>
          <a:xfrm>
            <a:off x="6278880" y="4489704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AF1FB"/>
          </a:solidFill>
          <a:ln/>
        </p:spPr>
      </p:sp>
      <p:sp>
        <p:nvSpPr>
          <p:cNvPr id="97" name="Shape 77"/>
          <p:cNvSpPr/>
          <p:nvPr/>
        </p:nvSpPr>
        <p:spPr>
          <a:xfrm>
            <a:off x="6406896" y="46085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8" name="Image 18" descr="icons/lin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92484" y="4694164"/>
            <a:ext cx="158008" cy="158008"/>
          </a:xfrm>
          <a:prstGeom prst="rect">
            <a:avLst/>
          </a:prstGeom>
        </p:spPr>
      </p:pic>
      <p:sp>
        <p:nvSpPr>
          <p:cNvPr id="99" name="Text 78"/>
          <p:cNvSpPr/>
          <p:nvPr/>
        </p:nvSpPr>
        <p:spPr>
          <a:xfrm>
            <a:off x="6406896" y="4974336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950" dirty="0"/>
          </a:p>
        </p:txBody>
      </p:sp>
      <p:sp>
        <p:nvSpPr>
          <p:cNvPr id="100" name="Text 79"/>
          <p:cNvSpPr/>
          <p:nvPr/>
        </p:nvSpPr>
        <p:spPr>
          <a:xfrm>
            <a:off x="6406896" y="5184648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mapping (ORM)</a:t>
            </a:r>
            <a:endParaRPr lang="en-US" sz="700" dirty="0"/>
          </a:p>
        </p:txBody>
      </p:sp>
      <p:sp>
        <p:nvSpPr>
          <p:cNvPr id="101" name="Shape 80"/>
          <p:cNvSpPr/>
          <p:nvPr/>
        </p:nvSpPr>
        <p:spPr>
          <a:xfrm>
            <a:off x="548640" y="5513832"/>
            <a:ext cx="1965960" cy="932688"/>
          </a:xfrm>
          <a:prstGeom prst="roundRect">
            <a:avLst>
              <a:gd name="adj" fmla="val 5882"/>
            </a:avLst>
          </a:prstGeom>
          <a:solidFill>
            <a:srgbClr val="057F6E"/>
          </a:solidFill>
          <a:ln/>
        </p:spPr>
      </p:sp>
      <p:sp>
        <p:nvSpPr>
          <p:cNvPr id="102" name="Shape 81"/>
          <p:cNvSpPr/>
          <p:nvPr/>
        </p:nvSpPr>
        <p:spPr>
          <a:xfrm>
            <a:off x="713232" y="5751576"/>
            <a:ext cx="457200" cy="457200"/>
          </a:xfrm>
          <a:prstGeom prst="ellipse">
            <a:avLst/>
          </a:prstGeom>
          <a:solidFill>
            <a:srgbClr val="0EA894"/>
          </a:solidFill>
          <a:ln/>
        </p:spPr>
      </p:sp>
      <p:pic>
        <p:nvPicPr>
          <p:cNvPr id="103" name="Image 19" descr="icons/wrench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2104" y="5870448"/>
            <a:ext cx="219456" cy="219456"/>
          </a:xfrm>
          <a:prstGeom prst="rect">
            <a:avLst/>
          </a:prstGeom>
        </p:spPr>
      </p:pic>
      <p:sp>
        <p:nvSpPr>
          <p:cNvPr id="104" name="Text 82"/>
          <p:cNvSpPr/>
          <p:nvPr/>
        </p:nvSpPr>
        <p:spPr>
          <a:xfrm>
            <a:off x="1261872" y="5641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Testing</a:t>
            </a:r>
            <a:endParaRPr lang="en-US" sz="1200" dirty="0"/>
          </a:p>
        </p:txBody>
      </p:sp>
      <p:sp>
        <p:nvSpPr>
          <p:cNvPr id="105" name="Text 83"/>
          <p:cNvSpPr/>
          <p:nvPr/>
        </p:nvSpPr>
        <p:spPr>
          <a:xfrm>
            <a:off x="1261872" y="6153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Quality</a:t>
            </a:r>
            <a:endParaRPr lang="en-US" sz="750" dirty="0"/>
          </a:p>
        </p:txBody>
      </p:sp>
      <p:sp>
        <p:nvSpPr>
          <p:cNvPr id="106" name="Shape 84"/>
          <p:cNvSpPr/>
          <p:nvPr/>
        </p:nvSpPr>
        <p:spPr>
          <a:xfrm>
            <a:off x="2651760" y="5513832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107" name="Shape 85"/>
          <p:cNvSpPr/>
          <p:nvPr/>
        </p:nvSpPr>
        <p:spPr>
          <a:xfrm>
            <a:off x="2779776" y="5632704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08" name="Image 20" descr="icons/wrench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65364" y="5718292"/>
            <a:ext cx="158008" cy="158008"/>
          </a:xfrm>
          <a:prstGeom prst="rect">
            <a:avLst/>
          </a:prstGeom>
        </p:spPr>
      </p:pic>
      <p:sp>
        <p:nvSpPr>
          <p:cNvPr id="109" name="Text 86"/>
          <p:cNvSpPr/>
          <p:nvPr/>
        </p:nvSpPr>
        <p:spPr>
          <a:xfrm>
            <a:off x="2779776" y="5998464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50" dirty="0"/>
          </a:p>
        </p:txBody>
      </p:sp>
      <p:sp>
        <p:nvSpPr>
          <p:cNvPr id="110" name="Text 87"/>
          <p:cNvSpPr/>
          <p:nvPr/>
        </p:nvSpPr>
        <p:spPr>
          <a:xfrm>
            <a:off x="2779776" y="6208776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dependency management</a:t>
            </a:r>
            <a:endParaRPr lang="en-US" sz="700" dirty="0"/>
          </a:p>
        </p:txBody>
      </p:sp>
      <p:sp>
        <p:nvSpPr>
          <p:cNvPr id="111" name="Shape 88"/>
          <p:cNvSpPr/>
          <p:nvPr/>
        </p:nvSpPr>
        <p:spPr>
          <a:xfrm>
            <a:off x="4465320" y="5513832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112" name="Shape 89"/>
          <p:cNvSpPr/>
          <p:nvPr/>
        </p:nvSpPr>
        <p:spPr>
          <a:xfrm>
            <a:off x="4593336" y="5632704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13" name="Image 21" descr="icons/testtub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78924" y="5718292"/>
            <a:ext cx="158008" cy="158008"/>
          </a:xfrm>
          <a:prstGeom prst="rect">
            <a:avLst/>
          </a:prstGeom>
        </p:spPr>
      </p:pic>
      <p:sp>
        <p:nvSpPr>
          <p:cNvPr id="114" name="Text 90"/>
          <p:cNvSpPr/>
          <p:nvPr/>
        </p:nvSpPr>
        <p:spPr>
          <a:xfrm>
            <a:off x="4593336" y="5998464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endParaRPr lang="en-US" sz="950" dirty="0"/>
          </a:p>
        </p:txBody>
      </p:sp>
      <p:sp>
        <p:nvSpPr>
          <p:cNvPr id="115" name="Text 91"/>
          <p:cNvSpPr/>
          <p:nvPr/>
        </p:nvSpPr>
        <p:spPr>
          <a:xfrm>
            <a:off x="4593336" y="6208776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testing</a:t>
            </a:r>
            <a:endParaRPr lang="en-US" sz="700" dirty="0"/>
          </a:p>
        </p:txBody>
      </p:sp>
      <p:sp>
        <p:nvSpPr>
          <p:cNvPr id="116" name="Shape 92"/>
          <p:cNvSpPr/>
          <p:nvPr/>
        </p:nvSpPr>
        <p:spPr>
          <a:xfrm>
            <a:off x="6278880" y="5513832"/>
            <a:ext cx="1758696" cy="932688"/>
          </a:xfrm>
          <a:prstGeom prst="roundRect">
            <a:avLst>
              <a:gd name="adj" fmla="val 4902"/>
            </a:avLst>
          </a:prstGeom>
          <a:solidFill>
            <a:srgbClr val="E7F6F1"/>
          </a:solidFill>
          <a:ln/>
        </p:spPr>
      </p:sp>
      <p:sp>
        <p:nvSpPr>
          <p:cNvPr id="117" name="Shape 93"/>
          <p:cNvSpPr/>
          <p:nvPr/>
        </p:nvSpPr>
        <p:spPr>
          <a:xfrm>
            <a:off x="6406896" y="5632704"/>
            <a:ext cx="329184" cy="329184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18" name="Image 22" descr="icons/check_circl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2484" y="5718292"/>
            <a:ext cx="158008" cy="158008"/>
          </a:xfrm>
          <a:prstGeom prst="rect">
            <a:avLst/>
          </a:prstGeom>
        </p:spPr>
      </p:pic>
      <p:sp>
        <p:nvSpPr>
          <p:cNvPr id="119" name="Text 94"/>
          <p:cNvSpPr/>
          <p:nvPr/>
        </p:nvSpPr>
        <p:spPr>
          <a:xfrm>
            <a:off x="6406896" y="5998464"/>
            <a:ext cx="150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</a:t>
            </a:r>
            <a:endParaRPr lang="en-US" sz="950" dirty="0"/>
          </a:p>
        </p:txBody>
      </p:sp>
      <p:sp>
        <p:nvSpPr>
          <p:cNvPr id="120" name="Text 95"/>
          <p:cNvSpPr/>
          <p:nvPr/>
        </p:nvSpPr>
        <p:spPr>
          <a:xfrm>
            <a:off x="6406896" y="6208776"/>
            <a:ext cx="1502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support for Spring Boot</a:t>
            </a:r>
            <a:endParaRPr lang="en-US" sz="700" dirty="0"/>
          </a:p>
        </p:txBody>
      </p:sp>
      <p:sp>
        <p:nvSpPr>
          <p:cNvPr id="121" name="Shape 96"/>
          <p:cNvSpPr/>
          <p:nvPr/>
        </p:nvSpPr>
        <p:spPr>
          <a:xfrm>
            <a:off x="8549640" y="1417320"/>
            <a:ext cx="3182112" cy="5029200"/>
          </a:xfrm>
          <a:prstGeom prst="roundRect">
            <a:avLst>
              <a:gd name="adj" fmla="val 2299"/>
            </a:avLst>
          </a:prstGeom>
          <a:solidFill>
            <a:srgbClr val="EAF1FB"/>
          </a:solidFill>
          <a:ln/>
        </p:spPr>
      </p:sp>
      <p:sp>
        <p:nvSpPr>
          <p:cNvPr id="122" name="Shape 97"/>
          <p:cNvSpPr/>
          <p:nvPr/>
        </p:nvSpPr>
        <p:spPr>
          <a:xfrm>
            <a:off x="8750808" y="1600200"/>
            <a:ext cx="365760" cy="36576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3" name="Image 23" descr="icons/lightbul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45906" y="1695298"/>
            <a:ext cx="175565" cy="175565"/>
          </a:xfrm>
          <a:prstGeom prst="rect">
            <a:avLst/>
          </a:prstGeom>
        </p:spPr>
      </p:pic>
      <p:sp>
        <p:nvSpPr>
          <p:cNvPr id="124" name="Text 98"/>
          <p:cNvSpPr/>
          <p:nvPr/>
        </p:nvSpPr>
        <p:spPr>
          <a:xfrm>
            <a:off x="9235440" y="163677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Stack?</a:t>
            </a:r>
            <a:endParaRPr lang="en-US" sz="1300" dirty="0"/>
          </a:p>
        </p:txBody>
      </p:sp>
      <p:sp>
        <p:nvSpPr>
          <p:cNvPr id="125" name="Shape 99"/>
          <p:cNvSpPr/>
          <p:nvPr/>
        </p:nvSpPr>
        <p:spPr>
          <a:xfrm>
            <a:off x="8750808" y="2194560"/>
            <a:ext cx="274320" cy="27432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6" name="Image 24" descr="icons/check_circl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22131" y="2265883"/>
            <a:ext cx="131674" cy="131674"/>
          </a:xfrm>
          <a:prstGeom prst="rect">
            <a:avLst/>
          </a:prstGeom>
        </p:spPr>
      </p:pic>
      <p:sp>
        <p:nvSpPr>
          <p:cNvPr id="127" name="Text 100"/>
          <p:cNvSpPr/>
          <p:nvPr/>
        </p:nvSpPr>
        <p:spPr>
          <a:xfrm>
            <a:off x="9153144" y="2167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and widely used technologies</a:t>
            </a:r>
            <a:endParaRPr lang="en-US" sz="950" dirty="0"/>
          </a:p>
        </p:txBody>
      </p:sp>
      <p:sp>
        <p:nvSpPr>
          <p:cNvPr id="128" name="Shape 101"/>
          <p:cNvSpPr/>
          <p:nvPr/>
        </p:nvSpPr>
        <p:spPr>
          <a:xfrm>
            <a:off x="8750808" y="2816352"/>
            <a:ext cx="274320" cy="27432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9" name="Image 25" descr="icons/check_circl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2131" y="2887675"/>
            <a:ext cx="131674" cy="131674"/>
          </a:xfrm>
          <a:prstGeom prst="rect">
            <a:avLst/>
          </a:prstGeom>
        </p:spPr>
      </p:pic>
      <p:sp>
        <p:nvSpPr>
          <p:cNvPr id="130" name="Text 102"/>
          <p:cNvSpPr/>
          <p:nvPr/>
        </p:nvSpPr>
        <p:spPr>
          <a:xfrm>
            <a:off x="9153144" y="27889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maintainable architecture</a:t>
            </a:r>
            <a:endParaRPr lang="en-US" sz="950" dirty="0"/>
          </a:p>
        </p:txBody>
      </p:sp>
      <p:sp>
        <p:nvSpPr>
          <p:cNvPr id="131" name="Shape 103"/>
          <p:cNvSpPr/>
          <p:nvPr/>
        </p:nvSpPr>
        <p:spPr>
          <a:xfrm>
            <a:off x="8750808" y="3438144"/>
            <a:ext cx="274320" cy="27432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32" name="Image 26" descr="icons/check_circl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22131" y="3509467"/>
            <a:ext cx="131674" cy="131674"/>
          </a:xfrm>
          <a:prstGeom prst="rect">
            <a:avLst/>
          </a:prstGeom>
        </p:spPr>
      </p:pic>
      <p:sp>
        <p:nvSpPr>
          <p:cNvPr id="133" name="Text 104"/>
          <p:cNvSpPr/>
          <p:nvPr/>
        </p:nvSpPr>
        <p:spPr>
          <a:xfrm>
            <a:off x="9153144" y="341071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role-based access</a:t>
            </a:r>
            <a:endParaRPr lang="en-US" sz="950" dirty="0"/>
          </a:p>
        </p:txBody>
      </p:sp>
      <p:sp>
        <p:nvSpPr>
          <p:cNvPr id="134" name="Shape 105"/>
          <p:cNvSpPr/>
          <p:nvPr/>
        </p:nvSpPr>
        <p:spPr>
          <a:xfrm>
            <a:off x="8750808" y="4059936"/>
            <a:ext cx="274320" cy="274320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35" name="Image 27" descr="icons/check_circl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22131" y="4131259"/>
            <a:ext cx="131674" cy="131674"/>
          </a:xfrm>
          <a:prstGeom prst="rect">
            <a:avLst/>
          </a:prstGeom>
        </p:spPr>
      </p:pic>
      <p:sp>
        <p:nvSpPr>
          <p:cNvPr id="136" name="Text 106"/>
          <p:cNvSpPr/>
          <p:nvPr/>
        </p:nvSpPr>
        <p:spPr>
          <a:xfrm>
            <a:off x="9153144" y="403250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development and testing</a:t>
            </a:r>
            <a:endParaRPr lang="en-US" sz="950" dirty="0"/>
          </a:p>
        </p:txBody>
      </p:sp>
      <p:sp>
        <p:nvSpPr>
          <p:cNvPr id="137" name="Shape 107"/>
          <p:cNvSpPr/>
          <p:nvPr/>
        </p:nvSpPr>
        <p:spPr>
          <a:xfrm>
            <a:off x="8750808" y="4727448"/>
            <a:ext cx="2724912" cy="0"/>
          </a:xfrm>
          <a:prstGeom prst="line">
            <a:avLst/>
          </a:prstGeom>
          <a:noFill/>
          <a:ln w="12700">
            <a:solidFill>
              <a:srgbClr val="C7D6E5"/>
            </a:solidFill>
            <a:prstDash val="solid"/>
          </a:ln>
        </p:spPr>
      </p:sp>
      <p:sp>
        <p:nvSpPr>
          <p:cNvPr id="138" name="Text 108"/>
          <p:cNvSpPr/>
          <p:nvPr/>
        </p:nvSpPr>
        <p:spPr>
          <a:xfrm>
            <a:off x="8750808" y="486460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05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“Empowering better governance through technology”</a:t>
            </a:r>
            <a:endParaRPr lang="en-US" sz="1050" dirty="0"/>
          </a:p>
        </p:txBody>
      </p:sp>
      <p:sp>
        <p:nvSpPr>
          <p:cNvPr id="139" name="Text 10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140" name="Text 1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 behind the CivicPulse schema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Primary Key      FK  Foreign Key      1 — 1  One to One      1 — M  One to Many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73736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81328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19072"/>
            <a:ext cx="1737360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481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856232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425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32688" y="1819656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6656" y="2007108"/>
            <a:ext cx="14173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username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" y="2194560"/>
            <a:ext cx="14173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password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2382012"/>
            <a:ext cx="14173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23160" y="1481328"/>
            <a:ext cx="1920240" cy="1527048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481328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057F6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3160" y="1719072"/>
            <a:ext cx="1920240" cy="91440"/>
          </a:xfrm>
          <a:prstGeom prst="rect">
            <a:avLst/>
          </a:prstGeom>
          <a:solidFill>
            <a:srgbClr val="057F6E"/>
          </a:solidFill>
          <a:ln/>
        </p:spPr>
      </p:sp>
      <p:sp>
        <p:nvSpPr>
          <p:cNvPr id="18" name="Text 16"/>
          <p:cNvSpPr/>
          <p:nvPr/>
        </p:nvSpPr>
        <p:spPr>
          <a:xfrm>
            <a:off x="2551176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32888" y="1856232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20" name="Text 18"/>
          <p:cNvSpPr/>
          <p:nvPr/>
        </p:nvSpPr>
        <p:spPr>
          <a:xfrm>
            <a:off x="2532888" y="18425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898648" y="1819656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citizen_id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32888" y="2043684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23" name="Text 21"/>
          <p:cNvSpPr/>
          <p:nvPr/>
        </p:nvSpPr>
        <p:spPr>
          <a:xfrm>
            <a:off x="2532888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898648" y="2007108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42616" y="219456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name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42616" y="238201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email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42616" y="256946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phone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42616" y="275691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address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1481328"/>
            <a:ext cx="1828800" cy="964692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481328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7720" y="1719072"/>
            <a:ext cx="1828800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745736" y="1481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1856232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34" name="Text 32"/>
          <p:cNvSpPr/>
          <p:nvPr/>
        </p:nvSpPr>
        <p:spPr>
          <a:xfrm>
            <a:off x="4727448" y="18425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093208" y="1819656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37176" y="2007108"/>
            <a:ext cx="1508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category_name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7176" y="2194560"/>
            <a:ext cx="15087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description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006840" y="1481328"/>
            <a:ext cx="2606040" cy="1339596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06840" y="1481328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06840" y="1719072"/>
            <a:ext cx="2606040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9134856" y="1481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16568" y="1856232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43" name="Text 41"/>
          <p:cNvSpPr/>
          <p:nvPr/>
        </p:nvSpPr>
        <p:spPr>
          <a:xfrm>
            <a:off x="9116568" y="18425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482328" y="1819656"/>
            <a:ext cx="2057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notification_id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16568" y="2043684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46" name="Text 44"/>
          <p:cNvSpPr/>
          <p:nvPr/>
        </p:nvSpPr>
        <p:spPr>
          <a:xfrm>
            <a:off x="9116568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9482328" y="2007108"/>
            <a:ext cx="2057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citizen_id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226296" y="2194560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message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226296" y="2382012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is_read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226296" y="2569464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created_at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2926080"/>
            <a:ext cx="1874520" cy="1527048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" y="292608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57F6E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3163824"/>
            <a:ext cx="1874520" cy="91440"/>
          </a:xfrm>
          <a:prstGeom prst="rect">
            <a:avLst/>
          </a:prstGeom>
          <a:solidFill>
            <a:srgbClr val="057F6E"/>
          </a:solidFill>
          <a:ln/>
        </p:spPr>
      </p:sp>
      <p:sp>
        <p:nvSpPr>
          <p:cNvPr id="54" name="Text 52"/>
          <p:cNvSpPr/>
          <p:nvPr/>
        </p:nvSpPr>
        <p:spPr>
          <a:xfrm>
            <a:off x="585216" y="2926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OFFICER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" y="3300984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" y="32872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932688" y="3264408"/>
            <a:ext cx="13258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officer_id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" y="3488436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59" name="Text 57"/>
          <p:cNvSpPr/>
          <p:nvPr/>
        </p:nvSpPr>
        <p:spPr>
          <a:xfrm>
            <a:off x="566928" y="347472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932688" y="3451860"/>
            <a:ext cx="13258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6928" y="3675888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" y="366217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932688" y="3639312"/>
            <a:ext cx="13258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6656" y="3826764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name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76656" y="4014216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email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76656" y="4201668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role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17720" y="2697480"/>
            <a:ext cx="2286000" cy="3026664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17720" y="269748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057F6E"/>
          </a:solidFill>
          <a:ln/>
        </p:spPr>
      </p:sp>
      <p:sp>
        <p:nvSpPr>
          <p:cNvPr id="69" name="Shape 67"/>
          <p:cNvSpPr/>
          <p:nvPr/>
        </p:nvSpPr>
        <p:spPr>
          <a:xfrm>
            <a:off x="4617720" y="2935224"/>
            <a:ext cx="2286000" cy="91440"/>
          </a:xfrm>
          <a:prstGeom prst="rect">
            <a:avLst/>
          </a:prstGeom>
          <a:solidFill>
            <a:srgbClr val="057F6E"/>
          </a:solidFill>
          <a:ln/>
        </p:spPr>
      </p:sp>
      <p:sp>
        <p:nvSpPr>
          <p:cNvPr id="70" name="Text 68"/>
          <p:cNvSpPr/>
          <p:nvPr/>
        </p:nvSpPr>
        <p:spPr>
          <a:xfrm>
            <a:off x="4745736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727448" y="3072384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72" name="Text 70"/>
          <p:cNvSpPr/>
          <p:nvPr/>
        </p:nvSpPr>
        <p:spPr>
          <a:xfrm>
            <a:off x="4727448" y="30586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093208" y="3035808"/>
            <a:ext cx="1737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complaint_id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27448" y="3259836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75" name="Text 73"/>
          <p:cNvSpPr/>
          <p:nvPr/>
        </p:nvSpPr>
        <p:spPr>
          <a:xfrm>
            <a:off x="4727448" y="324612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093208" y="3223260"/>
            <a:ext cx="1737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citizen_id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27448" y="3447288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78" name="Text 76"/>
          <p:cNvSpPr/>
          <p:nvPr/>
        </p:nvSpPr>
        <p:spPr>
          <a:xfrm>
            <a:off x="4727448" y="343357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093208" y="3410712"/>
            <a:ext cx="1737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27448" y="3634740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81" name="Text 79"/>
          <p:cNvSpPr/>
          <p:nvPr/>
        </p:nvSpPr>
        <p:spPr>
          <a:xfrm>
            <a:off x="4727448" y="362102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093208" y="3598164"/>
            <a:ext cx="1737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837176" y="3785616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title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837176" y="3973068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description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837176" y="4160520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location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837176" y="4347972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priority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837176" y="4535424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priority_score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837176" y="4722876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severity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837176" y="4910328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affected_people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837176" y="5097780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is_public_location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837176" y="5285232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status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837176" y="5472684"/>
            <a:ext cx="19659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created_at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006840" y="3063240"/>
            <a:ext cx="2606040" cy="1527048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006840" y="3063240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057F6E"/>
          </a:solidFill>
          <a:ln/>
        </p:spPr>
      </p:sp>
      <p:sp>
        <p:nvSpPr>
          <p:cNvPr id="95" name="Shape 93"/>
          <p:cNvSpPr/>
          <p:nvPr/>
        </p:nvSpPr>
        <p:spPr>
          <a:xfrm>
            <a:off x="9006840" y="3300984"/>
            <a:ext cx="2606040" cy="91440"/>
          </a:xfrm>
          <a:prstGeom prst="rect">
            <a:avLst/>
          </a:prstGeom>
          <a:solidFill>
            <a:srgbClr val="057F6E"/>
          </a:solidFill>
          <a:ln/>
        </p:spPr>
      </p:sp>
      <p:sp>
        <p:nvSpPr>
          <p:cNvPr id="96" name="Text 94"/>
          <p:cNvSpPr/>
          <p:nvPr/>
        </p:nvSpPr>
        <p:spPr>
          <a:xfrm>
            <a:off x="9134856" y="30632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9116568" y="3438144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98" name="Text 96"/>
          <p:cNvSpPr/>
          <p:nvPr/>
        </p:nvSpPr>
        <p:spPr>
          <a:xfrm>
            <a:off x="9116568" y="342442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9482328" y="3401568"/>
            <a:ext cx="2057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feedback_id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9116568" y="3625596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101" name="Text 99"/>
          <p:cNvSpPr/>
          <p:nvPr/>
        </p:nvSpPr>
        <p:spPr>
          <a:xfrm>
            <a:off x="9116568" y="361188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9482328" y="3589020"/>
            <a:ext cx="2057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complaint_id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116568" y="3813048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C77B22"/>
          </a:solidFill>
          <a:ln/>
        </p:spPr>
      </p:sp>
      <p:sp>
        <p:nvSpPr>
          <p:cNvPr id="104" name="Text 102"/>
          <p:cNvSpPr/>
          <p:nvPr/>
        </p:nvSpPr>
        <p:spPr>
          <a:xfrm>
            <a:off x="9116568" y="379933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9482328" y="3776472"/>
            <a:ext cx="2057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citizen_id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9226296" y="3963924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rating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9226296" y="4151376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comment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226296" y="4338828"/>
            <a:ext cx="2286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created_at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423160" y="3364992"/>
            <a:ext cx="19202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2423160" y="336499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423160" y="3602736"/>
            <a:ext cx="1920240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2" name="Text 110"/>
          <p:cNvSpPr/>
          <p:nvPr/>
        </p:nvSpPr>
        <p:spPr>
          <a:xfrm>
            <a:off x="2551176" y="33649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2532888" y="3739896"/>
            <a:ext cx="310896" cy="146304"/>
          </a:xfrm>
          <a:prstGeom prst="roundRect">
            <a:avLst>
              <a:gd name="adj" fmla="val 12500"/>
            </a:avLst>
          </a:prstGeom>
          <a:solidFill>
            <a:srgbClr val="057F6E"/>
          </a:solidFill>
          <a:ln/>
        </p:spPr>
      </p:sp>
      <p:sp>
        <p:nvSpPr>
          <p:cNvPr id="114" name="Text 112"/>
          <p:cNvSpPr/>
          <p:nvPr/>
        </p:nvSpPr>
        <p:spPr>
          <a:xfrm>
            <a:off x="2532888" y="372618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2898648" y="3703320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2642616" y="389077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code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2642616" y="407822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name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2642616" y="426567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description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2194560" y="1884578"/>
            <a:ext cx="228600" cy="131216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162556" y="1858747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2162556" y="185874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1—1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325880" y="2633472"/>
            <a:ext cx="68580" cy="292608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79576" y="2688336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1179576" y="26883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1—1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331720" y="3460547"/>
            <a:ext cx="91440" cy="307696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231136" y="3522955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5"/>
          <p:cNvSpPr/>
          <p:nvPr/>
        </p:nvSpPr>
        <p:spPr>
          <a:xfrm>
            <a:off x="2231136" y="3522955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M—1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343400" y="2550262"/>
            <a:ext cx="274320" cy="1206551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361688" y="3062097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8"/>
          <p:cNvSpPr/>
          <p:nvPr/>
        </p:nvSpPr>
        <p:spPr>
          <a:xfrm>
            <a:off x="4361688" y="3062097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1—M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5532120" y="2446020"/>
            <a:ext cx="228600" cy="25146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85816" y="2480310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1"/>
          <p:cNvSpPr/>
          <p:nvPr/>
        </p:nvSpPr>
        <p:spPr>
          <a:xfrm>
            <a:off x="5385816" y="248031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1—M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343400" y="3768242"/>
            <a:ext cx="274320" cy="1047902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334256" y="4200754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34"/>
          <p:cNvSpPr/>
          <p:nvPr/>
        </p:nvSpPr>
        <p:spPr>
          <a:xfrm>
            <a:off x="4334256" y="420075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1—M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 flipV="1">
            <a:off x="6903720" y="1950187"/>
            <a:ext cx="2103120" cy="1806626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808976" y="2762060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7"/>
          <p:cNvSpPr/>
          <p:nvPr/>
        </p:nvSpPr>
        <p:spPr>
          <a:xfrm>
            <a:off x="7808976" y="27620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1—M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 flipV="1">
            <a:off x="6903720" y="3597707"/>
            <a:ext cx="2103120" cy="2041398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08976" y="4526966"/>
            <a:ext cx="292608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40"/>
          <p:cNvSpPr/>
          <p:nvPr/>
        </p:nvSpPr>
        <p:spPr>
          <a:xfrm>
            <a:off x="7808976" y="452696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1—M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548640" y="626364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connectors show primary → foreign-key relationships between core CivicPulse entities.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 delivered by the implemented platform</a:t>
            </a:r>
            <a:endParaRPr lang="en-US" sz="3200" dirty="0"/>
          </a:p>
        </p:txBody>
      </p:sp>
      <p:pic>
        <p:nvPicPr>
          <p:cNvPr id="4" name="Image 0" descr="/home/claude/unpacked/ppt/media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10634472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CivicPulse goes from 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current implementation, these enhancements would extend CivicPulse's reach, accessibility, and predictive power for municipalities and public-service departments.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7" name="Image 0" descr="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753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858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to guide citizens, answer FAQs, and assist with complaint registration using natural language.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2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45" y="27534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66744" y="3858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interface to make civic services accessible to citizens across different regional languages.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7" name="Image 2" descr="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17" y="27534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Voice-Enabled Filing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28816" y="3858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 complaint registration to improve accessibility for citizens with limited typing ability.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606040"/>
            <a:ext cx="566928" cy="566928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22" name="Image 3" descr="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289" y="275344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90888" y="3858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 forecast complaint trends, identify hotspots, and support proactive administrative decisions.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7F6F1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120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5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enhancement builds on CivicPulse's existing complaint-management core, extending it toward a smarter, more accessible governance experience.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responsive, transparent governance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brings citizens, department officers, and administrators onto one connected platform — turning fragmented, manual complaint handling into a transparent, trackable, and accountable digital workflow, from registration to resolution and feedback.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38912" cy="438912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8" name="Image 0" descr="icons/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2903037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8072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modules covering the full citizen-to-resolution journey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410712"/>
            <a:ext cx="438912" cy="438912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1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3524829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429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priority scoring and department-wise accountability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32504"/>
            <a:ext cx="438912" cy="438912"/>
          </a:xfrm>
          <a:prstGeom prst="ellipse">
            <a:avLst/>
          </a:prstGeom>
          <a:solidFill>
            <a:srgbClr val="057F6E"/>
          </a:solidFill>
          <a:ln/>
        </p:spPr>
      </p:sp>
      <p:pic>
        <p:nvPicPr>
          <p:cNvPr id="14" name="Image 2" descr="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4146621"/>
            <a:ext cx="210678" cy="2106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050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roadmap — AI chatbot, multilingual access, predictive insights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48640" y="5303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4864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 — Riya, Shamiha, Sanjana, Shubhdeep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360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Ragul S — Infosys Mentor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2026-09-23T10:56:52Z</dcterms:created>
  <dcterms:modified xsi:type="dcterms:W3CDTF">2026-09-23T10:56:52Z</dcterms:modified>
</cp:coreProperties>
</file>