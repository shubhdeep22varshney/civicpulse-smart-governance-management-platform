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GOVERNANCE • DIGITAL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Governance Management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system connecting citizens, departments, and administrators through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complaint management and responsive service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Java Enterprise Stack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CivicPulse brings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is an end-to-end smart governance platform that streamlines how citizens raise civic issues and how administrations respond to them. It combines a citizen-facing portal, AI-assisted complaint intelligence, automated escalation, and department-level accountability into one connected system — built for scale on a modern Java enterprise stack.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/ AI Capabilities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Enterprise Stack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this deck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 (8)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municipalities, urban local bodies,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Citizen-facing and intelligence-driven foundations — part 1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civicpulse/icon_citiz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Portal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web portal where citizens register, raise complaints, track resolution status, and access civic services from any device.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civicpulse/icon_complai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Management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system to log, categorize, assign, and monitor every citizen complaint through a structured, auditable lifecycle.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civicpulse/icon_smart_dete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Complaint Detection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 engine that auto-classifies incoming complaints, detects duplicates and spam, and flags critical issues for immediate attention.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21" name="Image 3" descr="/home/claude/civicpulse/icon_escal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Engine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engine that automatically escalates unresolved or overdue complaints up the chain of authority based on SLA timers.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Administration, engagement, and accountability — part 2 of 2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6" name="Image 0" descr="/home/claude/civicpulse/ico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analytics console for officials to monitor complaint volumes, resolution rates, SLA breaches, and department performance.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1" name="Image 1" descr="/home/claude/civicpulse/icon_notific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&amp; Feedback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SMS, email, and push alerts on status changes, paired with citizen feedback and satisfaction ratings on closure.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6" name="Image 2" descr="/home/claude/civicpulse/icon_prior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Priority Management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Dynamically ranks open complaints by severity, public impact, and urgency to optimize the order in which teams respond.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21" name="Image 3" descr="/home/claude/civicpulse/icon_depart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Department-wise Management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 each complaint to the correct department or jurisdiction, keeping ownership, workload, and accountability clearly defined.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Additions that push CivicPulse beyond a standard complaint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6" name="Image 0" descr="/home/claude/civicpulse/icon_chat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virtual assistant available 24/7 to guide citizens, answer FAQs, and file complaints through natural language.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1" name="Image 1" descr="/home/claude/civicpulse/icon_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Localized interfaces in regional languages so every citizen, regardless of language, can access services with ease.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6" name="Image 2" descr="/home/claude/civicpulse/icon_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Voice-Enabled Complaint Filing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Voice-to-text complaint registration that improves accessibility for citizens with low literacy or limited typing ability.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21" name="Image 3" descr="/home/claude/civicpulse/icon_analytic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 &amp; Insights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complaint trends and geographic hotspots, enabling departments to act proactively rather than reactively.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B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Layered enterprise architecture powering CivicPulse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250" dirty="0"/>
          </a:p>
        </p:txBody>
      </p:sp>
      <p:pic>
        <p:nvPicPr>
          <p:cNvPr id="7" name="Image 0" descr="/home/claude/civicpulse/icon_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80136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65576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 / Angular</a:t>
            </a:r>
            <a:endParaRPr lang="en-US" sz="1150" dirty="0"/>
          </a:p>
        </p:txBody>
      </p:sp>
      <p:pic>
        <p:nvPicPr>
          <p:cNvPr id="9" name="Image 1" descr="/home/claude/civicpulse/icon_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848" y="18013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41184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UI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7802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2" name="Shape 8"/>
          <p:cNvSpPr/>
          <p:nvPr/>
        </p:nvSpPr>
        <p:spPr>
          <a:xfrm>
            <a:off x="548640" y="2478024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2478024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250" dirty="0"/>
          </a:p>
        </p:txBody>
      </p:sp>
      <p:pic>
        <p:nvPicPr>
          <p:cNvPr id="14" name="Image 2" descr="/home/claude/civicpulse/icon_jav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277063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65576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/ Spring MVC</a:t>
            </a:r>
            <a:endParaRPr lang="en-US" sz="1150" dirty="0"/>
          </a:p>
        </p:txBody>
      </p:sp>
      <p:pic>
        <p:nvPicPr>
          <p:cNvPr id="16" name="Image 3" descr="/home/claude/civicpulse/icon_integr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8848" y="2770632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641184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APIs + Swagger/OpenAPI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344728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9" name="Shape 13"/>
          <p:cNvSpPr/>
          <p:nvPr/>
        </p:nvSpPr>
        <p:spPr>
          <a:xfrm>
            <a:off x="548640" y="3447288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344728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Layer</a:t>
            </a:r>
            <a:endParaRPr lang="en-US" sz="1250" dirty="0"/>
          </a:p>
        </p:txBody>
      </p:sp>
      <p:pic>
        <p:nvPicPr>
          <p:cNvPr id="21" name="Image 4" descr="/home/claude/civicpulse/icon_secur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3240" y="373989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465576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Security + JWT / OAuth2</a:t>
            </a:r>
            <a:endParaRPr lang="en-US" sz="1150" dirty="0"/>
          </a:p>
        </p:txBody>
      </p:sp>
      <p:pic>
        <p:nvPicPr>
          <p:cNvPr id="23" name="Image 5" descr="/home/claude/civicpulse/icon_microservic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8848" y="3739896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641184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548640" y="441655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26" name="Shape 18"/>
          <p:cNvSpPr/>
          <p:nvPr/>
        </p:nvSpPr>
        <p:spPr>
          <a:xfrm>
            <a:off x="548640" y="4416552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27" name="Text 19"/>
          <p:cNvSpPr/>
          <p:nvPr/>
        </p:nvSpPr>
        <p:spPr>
          <a:xfrm>
            <a:off x="731520" y="441655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Messaging Layer</a:t>
            </a:r>
            <a:endParaRPr lang="en-US" sz="1250" dirty="0"/>
          </a:p>
        </p:txBody>
      </p:sp>
      <p:pic>
        <p:nvPicPr>
          <p:cNvPr id="28" name="Image 6" descr="/home/claude/civicpulse/icon_databas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240" y="4709160"/>
            <a:ext cx="310896" cy="31089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465576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Hibernate/JPA → MySQL / PostgreSQL, Redis</a:t>
            </a:r>
            <a:endParaRPr lang="en-US" sz="1150" dirty="0"/>
          </a:p>
        </p:txBody>
      </p:sp>
      <p:pic>
        <p:nvPicPr>
          <p:cNvPr id="30" name="Image 7" descr="/home/claude/civicpulse/icon_serv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848" y="4709160"/>
            <a:ext cx="310896" cy="31089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41184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Kafka / RabbitMQ</a:t>
            </a:r>
            <a:endParaRPr lang="en-US" sz="1150" dirty="0"/>
          </a:p>
        </p:txBody>
      </p:sp>
      <p:sp>
        <p:nvSpPr>
          <p:cNvPr id="32" name="Shape 22"/>
          <p:cNvSpPr/>
          <p:nvPr/>
        </p:nvSpPr>
        <p:spPr>
          <a:xfrm>
            <a:off x="548640" y="538581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33" name="Shape 23"/>
          <p:cNvSpPr/>
          <p:nvPr/>
        </p:nvSpPr>
        <p:spPr>
          <a:xfrm>
            <a:off x="548640" y="5385816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34" name="Text 24"/>
          <p:cNvSpPr/>
          <p:nvPr/>
        </p:nvSpPr>
        <p:spPr>
          <a:xfrm>
            <a:off x="731520" y="5385816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Layer</a:t>
            </a:r>
            <a:endParaRPr lang="en-US" sz="1250" dirty="0"/>
          </a:p>
        </p:txBody>
      </p:sp>
      <p:pic>
        <p:nvPicPr>
          <p:cNvPr id="35" name="Image 8" descr="/home/claude/civicpulse/icon_clou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3240" y="5678424"/>
            <a:ext cx="310896" cy="310896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465576" y="5385816"/>
            <a:ext cx="78940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Docker, Kubernetes, Jenkins CI/CD, Cloud (AWS/Azure)</a:t>
            </a:r>
            <a:endParaRPr lang="en-US" sz="1150" dirty="0"/>
          </a:p>
        </p:txBody>
      </p:sp>
      <p:sp>
        <p:nvSpPr>
          <p:cNvPr id="37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38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data model underlying the CivicPulse schema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6128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" y="1261872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citizen_id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phone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address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228600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1440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11556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65776" y="121615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category_id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category_name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509760" y="960120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0" y="9601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9509760" y="116128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950976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37776" y="1261872"/>
            <a:ext cx="20299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department_id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jurisdiction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contact_email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74320" y="27889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7889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99008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3090672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notification_id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message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channel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sent_at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265176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6060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807208"/>
            <a:ext cx="2651760" cy="73152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82896" y="2907792"/>
            <a:ext cx="23957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complaint_id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citizen_id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category_id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status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location
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0" y="278892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0" y="27889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299008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9216" y="3090672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admin_id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role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828800" y="4937760"/>
            <a:ext cx="22860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56816" y="5239512"/>
            <a:ext cx="20299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feedback_id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rating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comments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046720" y="4937760"/>
            <a:ext cx="22860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sx="100000" sy="100000" kx="0" ky="0" algn="bl" rotWithShape="0" blurRad="76200" dist="25400" dir="5400000">
              <a:srgbClr val="1B2A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74736" y="5239512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escalation_id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admin_id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level
</a:t>
            </a:r>
            <a:endParaRPr lang="en-US" sz="87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escalated_at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1508760" y="2331720"/>
            <a:ext cx="3703320" cy="274320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527048" y="23317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527048" y="2331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6080760" y="1883664"/>
            <a:ext cx="9144" cy="72237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188366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806440" y="188366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0644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80644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 flipV="1">
            <a:off x="6949440" y="2130552"/>
            <a:ext cx="3703320" cy="47548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78440" y="213055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0378440" y="21305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67728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967728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0" y="3474720"/>
            <a:ext cx="2194560" cy="11887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78608" y="34747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2578608" y="3474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480560" y="341071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4480560" y="341071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652760" y="2130552"/>
            <a:ext cx="91440" cy="65836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71048" y="213055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10671048" y="213055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0469880" y="260604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10469880" y="260604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 flipV="1">
            <a:off x="2971800" y="4581144"/>
            <a:ext cx="2331720" cy="35661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45811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5029200" y="458114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990088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2990088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858000" y="4581144"/>
            <a:ext cx="2331720" cy="35661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76288" y="45811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6876288" y="4581144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915400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8915400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 flipV="1">
            <a:off x="10332720" y="4160520"/>
            <a:ext cx="411480" cy="1463040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69880" y="41605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10469880" y="41605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0351008" y="54406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10351008" y="54406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48640" y="6656832"/>
            <a:ext cx="146304" cy="109728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85" name="Text 83"/>
          <p:cNvSpPr/>
          <p:nvPr/>
        </p:nvSpPr>
        <p:spPr>
          <a:xfrm>
            <a:off x="731520" y="6547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Primary Key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0" y="6656832"/>
            <a:ext cx="146304" cy="109728"/>
          </a:xfrm>
          <a:prstGeom prst="rect">
            <a:avLst/>
          </a:prstGeom>
          <a:solidFill>
            <a:srgbClr val="946200"/>
          </a:solidFill>
          <a:ln/>
        </p:spPr>
      </p:sp>
      <p:sp>
        <p:nvSpPr>
          <p:cNvPr id="87" name="Text 85"/>
          <p:cNvSpPr/>
          <p:nvPr/>
        </p:nvSpPr>
        <p:spPr>
          <a:xfrm>
            <a:off x="2468880" y="6547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Foreign Key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931920" y="6547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M  — one-to-one or one-to-many cardinality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— building responsive, transparent, and intelligent governance,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complaint at a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2026-07-29T08:48:42Z</dcterms:created>
  <dcterms:modified xsi:type="dcterms:W3CDTF">2026-07-29T08:48:42Z</dcterms:modified>
</cp:coreProperties>
</file>